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86" r:id="rId3"/>
    <p:sldId id="261" r:id="rId4"/>
    <p:sldId id="287" r:id="rId5"/>
    <p:sldId id="28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>
        <p:scale>
          <a:sx n="50" d="100"/>
          <a:sy n="50" d="100"/>
        </p:scale>
        <p:origin x="115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04C579-94F8-4057-A496-EA4CBDBB0F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84468-CC1C-4E2C-9FC4-8F4FF489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506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832B8-0ACA-1922-B8A0-FD75CC740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7F44DA-0A5A-E551-27A0-F5A2B8154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506B0-EA43-769D-F3A9-8AE8D552A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A495-46EC-4AC2-8341-AB19DFA69C9E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F9065-F0A2-E342-8B33-C5E579D0B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ADC87-3690-EE70-903F-69D6E0C6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368B-18B9-453B-9948-894F3B90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26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0DEC0-2118-E769-A2D5-A601E66DF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28A9B-D694-DF3E-9640-C61F5B2C7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7636C-6B5B-FBCF-16BC-58E07606D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A495-46EC-4AC2-8341-AB19DFA69C9E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E10D4-8F62-0132-BA6E-D2D170B84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8963D-A9BA-747D-B05A-A394E1CB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368B-18B9-453B-9948-894F3B90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651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9FD97-D380-1832-5A75-6C6978D06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59F33-F9FD-5C89-375D-B77837B9F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F28A4-9C87-5D26-B518-092B52D58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A495-46EC-4AC2-8341-AB19DFA69C9E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39767-5995-BD27-555A-59DFC56B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F90BE-E4CF-B1EC-CB84-AC6988A3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368B-18B9-453B-9948-894F3B90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197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C2B0-92F6-61DB-5DBF-F25925B7D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AA636-E74D-0DFE-7131-EC9E21F00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9FAEA-D50F-ECEA-7BAA-E841C8D89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94A98-0B58-D936-E913-9E0ACB2C7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A495-46EC-4AC2-8341-AB19DFA69C9E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96A20-95FB-3EA6-FAE7-77CF8FBEF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13E16-2578-F7B9-68CE-5C49F679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368B-18B9-453B-9948-894F3B90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81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C9412-8F30-6DE1-3866-327F3BE9F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3616C-D561-74A6-9113-85EC985DF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9AF2D-B7D0-3FEC-FB8A-F8846C483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6A9BD1-0ADD-0826-3FCD-C143EEE557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DE3C7C-1F1C-D4E4-7C20-0B54BEB457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E684D8-1ED7-2C0D-E09E-85F550925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A495-46EC-4AC2-8341-AB19DFA69C9E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36C055-28CC-24EC-1F5C-1E0BD6D72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640DA4-E9AB-36C7-8997-6015B997C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368B-18B9-453B-9948-894F3B90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7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50C2A-5549-6B87-3F17-DD60A769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85BACF-2887-A421-6511-0B0481C6B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A495-46EC-4AC2-8341-AB19DFA69C9E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9BFA74-6431-58D1-989D-2BC96DCEF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93625-CE4F-629A-F398-8CD67551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368B-18B9-453B-9948-894F3B90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18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D1BB7E-C35F-11B7-AB27-718BDE46F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A495-46EC-4AC2-8341-AB19DFA69C9E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B741EA-7CA9-92CD-53A0-35C5A0009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95B81-A6E5-D37F-B0DE-E1442BC5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368B-18B9-453B-9948-894F3B90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3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4ACF-B6FE-0525-C340-62F8106B2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EFF14-EA74-9DFD-D31E-61CF71D15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A06ED-6120-DE05-FAB6-D45396572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BA973-1CA5-F9A9-C043-0B621080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A495-46EC-4AC2-8341-AB19DFA69C9E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5CA95-2FB8-F185-CC8F-583F4BEAD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CFFC9-53F5-583B-E64F-81130328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368B-18B9-453B-9948-894F3B90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72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223B0-0508-A827-2754-686376C51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DE97CD-7904-8528-980A-5C3AF0C351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71847-FEEC-1ED0-159D-DF7C74FD7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BF36B-8AF8-7828-4FB4-0B1FA123B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A495-46EC-4AC2-8341-AB19DFA69C9E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0CB46-09B2-02FA-A2B8-B02757F50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981BA-3AEC-B2FF-BEFE-12E70B509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368B-18B9-453B-9948-894F3B90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58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C933C-8377-684D-91D0-5AF5B5CD2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E9AF3-6CF0-00BD-ACE4-E533B6D40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5CC0F-E97C-A11D-CAF6-EB422307B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A495-46EC-4AC2-8341-AB19DFA69C9E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6CEC3-606B-A0D6-F694-E02B29E26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51569-217E-1873-1C81-E7E39C04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368B-18B9-453B-9948-894F3B90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43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2CFD52-48E1-F7C5-AE22-4523BC27F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0C821-0064-F591-85BE-AD4321359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88913-38DE-6D3D-5C92-17A309009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A495-46EC-4AC2-8341-AB19DFA69C9E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86852-E37F-422F-5D40-82E10DF8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18F05-29DA-D286-D4D4-DC963246A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368B-18B9-453B-9948-894F3B90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1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DF3230-6D68-AB17-2D84-298D8857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D0EF5-9719-A8ED-9F62-0D1783763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474AB-AB01-407F-E528-73B0B2816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9A495-46EC-4AC2-8341-AB19DFA69C9E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0ACD9-E8CB-096B-106C-A751F7315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B4BB6-857A-2AC8-26D7-4EBF18609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F0368B-18B9-453B-9948-894F3B90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72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large satellite dish on a pole&#10;&#10;AI-generated content may be incorrect.">
            <a:extLst>
              <a:ext uri="{FF2B5EF4-FFF2-40B4-BE49-F238E27FC236}">
                <a16:creationId xmlns:a16="http://schemas.microsoft.com/office/drawing/2014/main" id="{8F79AA96-6632-96DA-4D5D-B024F31D1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98" b="9598"/>
          <a:stretch>
            <a:fillRect/>
          </a:stretch>
        </p:blipFill>
        <p:spPr>
          <a:xfrm>
            <a:off x="-11358" y="10"/>
            <a:ext cx="966964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44389-FF97-2247-320F-4AAAB1B11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5402" y="743447"/>
            <a:ext cx="344576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3300" dirty="0"/>
              <a:t>MOBILE AND WIRELESS COMMUNICATION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98F4C6-21EE-3CBF-3492-318FEF64A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7378" y="4904078"/>
            <a:ext cx="5713387" cy="1485319"/>
          </a:xfrm>
          <a:noFill/>
        </p:spPr>
        <p:txBody>
          <a:bodyPr>
            <a:normAutofit fontScale="92500" lnSpcReduction="10000"/>
          </a:bodyPr>
          <a:lstStyle/>
          <a:p>
            <a:pPr algn="l"/>
            <a:r>
              <a:rPr lang="en-US" sz="2000" dirty="0"/>
              <a:t>WAMEMA JOSHUA DICKSON           23/U/ETD/1564/GV</a:t>
            </a:r>
          </a:p>
          <a:p>
            <a:pPr algn="l"/>
            <a:r>
              <a:rPr lang="en-US" sz="2000" dirty="0"/>
              <a:t>KISIGE DERRICK                                     22/U/ETD/0953/GV</a:t>
            </a:r>
          </a:p>
          <a:p>
            <a:pPr algn="l"/>
            <a:r>
              <a:rPr lang="en-US" sz="2000" dirty="0"/>
              <a:t>OPIO COLLIN GIDEON                        22/U/ETD/1106/GV</a:t>
            </a:r>
          </a:p>
          <a:p>
            <a:pPr algn="l"/>
            <a:r>
              <a:rPr lang="en-US" sz="2000" dirty="0"/>
              <a:t>SSEMUJJU SHARIF ABDUKARIM      18/U/ETD/181/GV</a:t>
            </a:r>
          </a:p>
        </p:txBody>
      </p:sp>
    </p:spTree>
    <p:extLst>
      <p:ext uri="{BB962C8B-B14F-4D97-AF65-F5344CB8AC3E}">
        <p14:creationId xmlns:p14="http://schemas.microsoft.com/office/powerpoint/2010/main" val="4095434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745F0-C090-FB3B-0E6B-3F60CEED5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18"/>
            <a:ext cx="9144000" cy="623707"/>
          </a:xfrm>
          <a:solidFill>
            <a:srgbClr val="00B0F0"/>
          </a:solidFill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GSM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FCBC3-7EBD-A893-5861-EF688FC90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643" y="1202077"/>
            <a:ext cx="6785225" cy="53425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0F37DF-D8F6-52DB-F2FD-1F68233F4E5F}"/>
              </a:ext>
            </a:extLst>
          </p:cNvPr>
          <p:cNvSpPr txBox="1"/>
          <p:nvPr/>
        </p:nvSpPr>
        <p:spPr>
          <a:xfrm>
            <a:off x="136132" y="1694698"/>
            <a:ext cx="5314308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Mobile Station (MS):</a:t>
            </a:r>
          </a:p>
          <a:p>
            <a:pPr lvl="1"/>
            <a:r>
              <a:rPr lang="en-US" sz="2100" dirty="0"/>
              <a:t>User’s mobile device + SIM</a:t>
            </a:r>
          </a:p>
          <a:p>
            <a:pPr lvl="1"/>
            <a:r>
              <a:rPr lang="en-US" sz="2100" dirty="0"/>
              <a:t>Communicates via air interface</a:t>
            </a:r>
          </a:p>
          <a:p>
            <a:pPr lvl="1"/>
            <a:r>
              <a:rPr lang="en-US" sz="2100" dirty="0"/>
              <a:t>Identifies subscriber with IMSI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Base Station Subsystem (BSS):</a:t>
            </a:r>
          </a:p>
          <a:p>
            <a:pPr lvl="1"/>
            <a:r>
              <a:rPr lang="en-US" sz="2100" dirty="0"/>
              <a:t>Base Transceiver Station (BTS): Manages radio communication with MS</a:t>
            </a:r>
          </a:p>
          <a:p>
            <a:pPr lvl="1"/>
            <a:r>
              <a:rPr lang="en-US" sz="2100" dirty="0"/>
              <a:t>Base Station Controller (BSC): Controls multiple BTSs, manages handovers &amp;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Network Subsystem (NSS):</a:t>
            </a:r>
          </a:p>
          <a:p>
            <a:pPr lvl="1"/>
            <a:r>
              <a:rPr lang="en-US" sz="2100" dirty="0"/>
              <a:t>Core network for call routing and switching</a:t>
            </a:r>
          </a:p>
          <a:p>
            <a:pPr lvl="1"/>
            <a:r>
              <a:rPr lang="en-US" sz="2100" dirty="0"/>
              <a:t>Interfaces with mobile and fixed networks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B2C944-99C5-C708-D078-AE667D9C0305}"/>
              </a:ext>
            </a:extLst>
          </p:cNvPr>
          <p:cNvSpPr txBox="1"/>
          <p:nvPr/>
        </p:nvSpPr>
        <p:spPr>
          <a:xfrm>
            <a:off x="264560" y="893314"/>
            <a:ext cx="5006083" cy="369332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GSM Network Architecture Components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CB356C-E39B-C585-C389-E9F9DDE8A221}"/>
              </a:ext>
            </a:extLst>
          </p:cNvPr>
          <p:cNvSpPr txBox="1"/>
          <p:nvPr/>
        </p:nvSpPr>
        <p:spPr>
          <a:xfrm>
            <a:off x="102742" y="400693"/>
            <a:ext cx="847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NO. 4a</a:t>
            </a:r>
          </a:p>
        </p:txBody>
      </p:sp>
    </p:spTree>
    <p:extLst>
      <p:ext uri="{BB962C8B-B14F-4D97-AF65-F5344CB8AC3E}">
        <p14:creationId xmlns:p14="http://schemas.microsoft.com/office/powerpoint/2010/main" val="1049423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F5141-2AB5-3A99-EF50-BF7BB61C5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38702"/>
            <a:ext cx="9159716" cy="369332"/>
          </a:xfrm>
          <a:solidFill>
            <a:srgbClr val="00B0F0"/>
          </a:solidFill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Functions of Each Network Component in GSM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DA453-9E2F-3243-394D-706D453FD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605" y="770025"/>
            <a:ext cx="10135762" cy="5435029"/>
          </a:xfrm>
          <a:solidFill>
            <a:schemeClr val="tx2">
              <a:lumMod val="10000"/>
              <a:lumOff val="90000"/>
            </a:schemeClr>
          </a:solidFill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Mobile Station (MS): The user’s mobile device and SIM that communicates with the network via radio signals.</a:t>
            </a:r>
          </a:p>
          <a:p>
            <a:r>
              <a:rPr lang="en-US" sz="2000" dirty="0"/>
              <a:t>Base Transceiver Station (BTS): Facilitates wireless communication between the mobile station and the network within a cell.</a:t>
            </a:r>
          </a:p>
          <a:p>
            <a:r>
              <a:rPr lang="en-US" sz="2000" dirty="0"/>
              <a:t>Base Station Controller (BSC): Controls multiple BTSs, manages radio resources, handovers, and signaling to the MSC.</a:t>
            </a:r>
          </a:p>
          <a:p>
            <a:r>
              <a:rPr lang="en-US" sz="2000" dirty="0"/>
              <a:t>Mobile Switching Center (MSC): Handles call routing, switching, and mobility management in the GSM core network.</a:t>
            </a:r>
          </a:p>
          <a:p>
            <a:r>
              <a:rPr lang="en-US" sz="2000" dirty="0"/>
              <a:t>Home Location Register (HLR): Stores permanent subscriber data and current location information.</a:t>
            </a:r>
          </a:p>
          <a:p>
            <a:r>
              <a:rPr lang="en-US" sz="2000" dirty="0"/>
              <a:t>Equipment Identity Register (EIR): Maintains a database of valid and invalid mobile equipment identities.</a:t>
            </a:r>
          </a:p>
          <a:p>
            <a:r>
              <a:rPr lang="en-US" sz="2000" dirty="0"/>
              <a:t>Short Message Service Center (SMSC): Manages storing, forwarding, and delivery of SMS messages.</a:t>
            </a:r>
          </a:p>
          <a:p>
            <a:r>
              <a:rPr lang="en-US" sz="2000" dirty="0"/>
              <a:t>Gateway Mobile Switching Center (GMSC): Routes incoming calls from external networks to the subscriber’s MSC.</a:t>
            </a:r>
          </a:p>
          <a:p>
            <a:r>
              <a:rPr lang="en-US" sz="2000" dirty="0"/>
              <a:t>Visitor Location Register (VLR): Temporarily holds subscriber information for roaming users in an MSC area.</a:t>
            </a:r>
          </a:p>
          <a:p>
            <a:r>
              <a:rPr lang="en-US" sz="2000" dirty="0"/>
              <a:t>Authentication Center (AUC): Provides authentication and encryption keys to secure subscriber identity and communication.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B58C3F-93D3-D9C6-1D84-1B28B38917C8}"/>
              </a:ext>
            </a:extLst>
          </p:cNvPr>
          <p:cNvSpPr txBox="1"/>
          <p:nvPr/>
        </p:nvSpPr>
        <p:spPr>
          <a:xfrm>
            <a:off x="102742" y="400693"/>
            <a:ext cx="847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NO. 4a</a:t>
            </a:r>
          </a:p>
        </p:txBody>
      </p:sp>
    </p:spTree>
    <p:extLst>
      <p:ext uri="{BB962C8B-B14F-4D97-AF65-F5344CB8AC3E}">
        <p14:creationId xmlns:p14="http://schemas.microsoft.com/office/powerpoint/2010/main" val="3442972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89F48-154E-6326-3AFC-8BB6D16FB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8440525" cy="36933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GPRS ARCHITECTURE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A16A3D-7C5E-38B6-AD0C-B51D3D682B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7316" y="1233875"/>
            <a:ext cx="7511819" cy="45175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16B6DC-33E4-3769-8655-E7260D2AA2BD}"/>
              </a:ext>
            </a:extLst>
          </p:cNvPr>
          <p:cNvSpPr txBox="1"/>
          <p:nvPr/>
        </p:nvSpPr>
        <p:spPr>
          <a:xfrm>
            <a:off x="184935" y="1781068"/>
            <a:ext cx="445898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GPRS (General Packet Radio Service) is a mobile data service that improves the GSM network to send and receive data like internet, email, and messages. Instead of dedicating a channel for each user, it sends data in small packets, making better use of the network. GPRS gives an “always-on” connection so users can stay connected without interruptions. It is called a 2.5G technology because it updates 2G networks while getting closer to the speed of 3G. GPRS adds new parts to the GSM network to handle packet data alongside regular voice calls.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935F03-B3B6-14A1-7C76-D744193AD52C}"/>
              </a:ext>
            </a:extLst>
          </p:cNvPr>
          <p:cNvSpPr txBox="1"/>
          <p:nvPr/>
        </p:nvSpPr>
        <p:spPr>
          <a:xfrm>
            <a:off x="1484311" y="1411737"/>
            <a:ext cx="1853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Definition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2E0881-7078-41A7-8FCD-BFB5F63B0DC3}"/>
              </a:ext>
            </a:extLst>
          </p:cNvPr>
          <p:cNvSpPr txBox="1"/>
          <p:nvPr/>
        </p:nvSpPr>
        <p:spPr>
          <a:xfrm>
            <a:off x="102742" y="400693"/>
            <a:ext cx="857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NO. 4b</a:t>
            </a:r>
          </a:p>
        </p:txBody>
      </p:sp>
    </p:spTree>
    <p:extLst>
      <p:ext uri="{BB962C8B-B14F-4D97-AF65-F5344CB8AC3E}">
        <p14:creationId xmlns:p14="http://schemas.microsoft.com/office/powerpoint/2010/main" val="1090465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F662-407A-C966-74D3-824B981D4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608744"/>
          </a:xfrm>
        </p:spPr>
        <p:txBody>
          <a:bodyPr>
            <a:normAutofit fontScale="90000"/>
          </a:bodyPr>
          <a:lstStyle/>
          <a:p>
            <a:r>
              <a:rPr lang="en-US" dirty="0"/>
              <a:t>GPRS Vs GSM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6847E-F76F-D1E6-3335-F169B38BA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2" y="1294545"/>
            <a:ext cx="4895055" cy="487765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 </a:t>
            </a:r>
            <a:r>
              <a:rPr lang="en-US" b="1" dirty="0"/>
              <a:t>GPRS Network Elements Added</a:t>
            </a:r>
          </a:p>
          <a:p>
            <a:r>
              <a:rPr lang="en-US" dirty="0"/>
              <a:t>Serving GPRS Support Node (SGSN): Functions like MSC but for packet data; tracks mobile devices, manages mobility, and routes packets within the GPRS network.</a:t>
            </a:r>
          </a:p>
          <a:p>
            <a:r>
              <a:rPr lang="en-US" dirty="0"/>
              <a:t>Gateway GPRS Support Node (GGSN): Connects GPRS to external data networks (the Internet) and routes data between mobile users and these networks.</a:t>
            </a:r>
          </a:p>
          <a:p>
            <a:r>
              <a:rPr lang="en-US" dirty="0"/>
              <a:t>Packet Control Unit (PCU): Located within the BSC, manages packet data transfer between the Mobile Station and SGSN over the radio interface.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C01A0-D484-CB2E-CB7B-76D3EA715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7967" y="1520575"/>
            <a:ext cx="4895056" cy="42706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Changes to GSM Network for GPRS &amp; Functionality</a:t>
            </a:r>
          </a:p>
          <a:p>
            <a:r>
              <a:rPr lang="en-US" dirty="0"/>
              <a:t>BSC includes PCU for managing packet data transmission over radio channels.</a:t>
            </a:r>
          </a:p>
          <a:p>
            <a:r>
              <a:rPr lang="en-US" dirty="0"/>
              <a:t>Packet-switched domain overlays existing GSM circuit-switched network, enabling simultaneous voice and data.</a:t>
            </a:r>
          </a:p>
          <a:p>
            <a:r>
              <a:rPr lang="en-US" dirty="0"/>
              <a:t>MSC manages circuit-switched voice, SGSN manages packet-switched data.</a:t>
            </a:r>
          </a:p>
          <a:p>
            <a:r>
              <a:rPr lang="en-US" dirty="0"/>
              <a:t>HLR is updated for GPRS subscriber info; new interfaces added between BSC-SGSN and SGSN-GGSN.</a:t>
            </a:r>
          </a:p>
          <a:p>
            <a:r>
              <a:rPr lang="en-US" dirty="0"/>
              <a:t>GPRS enables “always-on” data, higher data rates, and billing based on data volume instead of connection time.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7733E4-67C1-B4AA-FA3D-05365A4DDE4A}"/>
              </a:ext>
            </a:extLst>
          </p:cNvPr>
          <p:cNvSpPr txBox="1"/>
          <p:nvPr/>
        </p:nvSpPr>
        <p:spPr>
          <a:xfrm>
            <a:off x="102742" y="400693"/>
            <a:ext cx="857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NO. 4b</a:t>
            </a:r>
          </a:p>
        </p:txBody>
      </p:sp>
    </p:spTree>
    <p:extLst>
      <p:ext uri="{BB962C8B-B14F-4D97-AF65-F5344CB8AC3E}">
        <p14:creationId xmlns:p14="http://schemas.microsoft.com/office/powerpoint/2010/main" val="3574657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612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MOBILE AND WIRELESS COMMUNICATION </vt:lpstr>
      <vt:lpstr>GSM ARCHITECTURE</vt:lpstr>
      <vt:lpstr>Functions of Each Network Component in GSM Network</vt:lpstr>
      <vt:lpstr>GPRS ARCHITECTURE </vt:lpstr>
      <vt:lpstr>GPRS Vs GSM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WAMEMA JOSHUA DICKSON</dc:creator>
  <cp:lastModifiedBy>G-prime</cp:lastModifiedBy>
  <cp:revision>8</cp:revision>
  <dcterms:created xsi:type="dcterms:W3CDTF">2025-09-15T12:13:33Z</dcterms:created>
  <dcterms:modified xsi:type="dcterms:W3CDTF">2025-09-16T10:57:39Z</dcterms:modified>
</cp:coreProperties>
</file>