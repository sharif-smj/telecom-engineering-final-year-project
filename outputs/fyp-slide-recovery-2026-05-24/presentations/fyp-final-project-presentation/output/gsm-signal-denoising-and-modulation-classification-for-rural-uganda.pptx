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09892e311c4ca5" /><Relationship Type="http://schemas.openxmlformats.org/officeDocument/2006/relationships/extended-properties" Target="/docProps/app.xml" Id="Rd142da0c69024afe" /><Relationship Type="http://schemas.openxmlformats.org/officeDocument/2006/relationships/officeDocument" Target="/ppt/presentation.xml" Id="Ra55e06d0c40841ea" /></Relationships>
</file>

<file path=ppt/presentation.xml><?xml version="1.0" encoding="utf-8"?>
<p:presentation xmlns:p="http://schemas.openxmlformats.org/presentationml/2006/main">
  <p:sldMasterIdLst>
    <p:sldMasterId xmlns:r="http://schemas.openxmlformats.org/officeDocument/2006/relationships" id="2147483648" r:id="Rbe313cb59a4e4581"/>
  </p:sldMasterIdLst>
  <p:notesMasterIdLst>
    <p:notesMasterId xmlns:r="http://schemas.openxmlformats.org/officeDocument/2006/relationships" r:id="R755228f13d28416f"/>
  </p:notesMasterIdLst>
  <p:sldIdLst>
    <p:sldId xmlns:r="http://schemas.openxmlformats.org/officeDocument/2006/relationships" id="256" r:id="R1a9784543e14405b"/>
    <p:sldId xmlns:r="http://schemas.openxmlformats.org/officeDocument/2006/relationships" id="257" r:id="Rcc8724c7241642f8"/>
    <p:sldId xmlns:r="http://schemas.openxmlformats.org/officeDocument/2006/relationships" id="258" r:id="R2b9c7d24edb448a5"/>
    <p:sldId xmlns:r="http://schemas.openxmlformats.org/officeDocument/2006/relationships" id="259" r:id="R49716e229b124b8a"/>
    <p:sldId xmlns:r="http://schemas.openxmlformats.org/officeDocument/2006/relationships" id="260" r:id="R3a1037c6382943ca"/>
    <p:sldId xmlns:r="http://schemas.openxmlformats.org/officeDocument/2006/relationships" id="261" r:id="R33bd4350222848c7"/>
    <p:sldId xmlns:r="http://schemas.openxmlformats.org/officeDocument/2006/relationships" id="262" r:id="R57c84cfa3f0341d8"/>
    <p:sldId xmlns:r="http://schemas.openxmlformats.org/officeDocument/2006/relationships" id="263" r:id="Rfc4301f7e9704798"/>
    <p:sldId xmlns:r="http://schemas.openxmlformats.org/officeDocument/2006/relationships" id="264" r:id="Ra6c51b9477e34d80"/>
    <p:sldId xmlns:r="http://schemas.openxmlformats.org/officeDocument/2006/relationships" id="265" r:id="R988de162802746b7"/>
    <p:sldId xmlns:r="http://schemas.openxmlformats.org/officeDocument/2006/relationships" id="266" r:id="Red1ec52f9dce4813"/>
    <p:sldId xmlns:r="http://schemas.openxmlformats.org/officeDocument/2006/relationships" id="267" r:id="Rc7fb4459c28d4d7d"/>
    <p:sldId xmlns:r="http://schemas.openxmlformats.org/officeDocument/2006/relationships" id="268" r:id="R52d212d7c83a4cc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be313cb59a4e4581" /><Relationship Type="http://schemas.openxmlformats.org/officeDocument/2006/relationships/theme" Target="/ppt/theme/theme1.xml" Id="R30d5222c9935422f" /><Relationship Type="http://schemas.openxmlformats.org/officeDocument/2006/relationships/notesMaster" Target="/ppt/notesMasters/notesMaster1.xml" Id="R755228f13d28416f" /><Relationship Type="http://schemas.openxmlformats.org/officeDocument/2006/relationships/presProps" Target="/ppt/presProps.xml" Id="R1e8a9255fdf84d48" /><Relationship Type="http://schemas.openxmlformats.org/officeDocument/2006/relationships/viewProps" Target="/ppt/viewProps.xml" Id="Rd7b2b3f3cfdf4bda" /><Relationship Type="http://schemas.openxmlformats.org/officeDocument/2006/relationships/tableStyles" Target="/ppt/tableStyles.xml" Id="R903d65e832084857" /><Relationship Type="http://schemas.openxmlformats.org/officeDocument/2006/relationships/slide" Target="/ppt/slides/slide1.xml" Id="R1a9784543e14405b" /><Relationship Type="http://schemas.openxmlformats.org/officeDocument/2006/relationships/slide" Target="/ppt/slides/slide2.xml" Id="Rcc8724c7241642f8" /><Relationship Type="http://schemas.openxmlformats.org/officeDocument/2006/relationships/slide" Target="/ppt/slides/slide3.xml" Id="R2b9c7d24edb448a5" /><Relationship Type="http://schemas.openxmlformats.org/officeDocument/2006/relationships/slide" Target="/ppt/slides/slide4.xml" Id="R49716e229b124b8a" /><Relationship Type="http://schemas.openxmlformats.org/officeDocument/2006/relationships/slide" Target="/ppt/slides/slide5.xml" Id="R3a1037c6382943ca" /><Relationship Type="http://schemas.openxmlformats.org/officeDocument/2006/relationships/slide" Target="/ppt/slides/slide6.xml" Id="R33bd4350222848c7" /><Relationship Type="http://schemas.openxmlformats.org/officeDocument/2006/relationships/slide" Target="/ppt/slides/slide7.xml" Id="R57c84cfa3f0341d8" /><Relationship Type="http://schemas.openxmlformats.org/officeDocument/2006/relationships/slide" Target="/ppt/slides/slide8.xml" Id="Rfc4301f7e9704798" /><Relationship Type="http://schemas.openxmlformats.org/officeDocument/2006/relationships/slide" Target="/ppt/slides/slide9.xml" Id="Ra6c51b9477e34d80" /><Relationship Type="http://schemas.openxmlformats.org/officeDocument/2006/relationships/slide" Target="/ppt/slides/slide10.xml" Id="R988de162802746b7" /><Relationship Type="http://schemas.openxmlformats.org/officeDocument/2006/relationships/slide" Target="/ppt/slides/slide11.xml" Id="Red1ec52f9dce4813" /><Relationship Type="http://schemas.openxmlformats.org/officeDocument/2006/relationships/slide" Target="/ppt/slides/slide12.xml" Id="Rc7fb4459c28d4d7d" /><Relationship Type="http://schemas.openxmlformats.org/officeDocument/2006/relationships/slide" Target="/ppt/slides/slide13.xml" Id="R52d212d7c83a4c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af198f3e64d843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71ee0d04c24f1f" /><Relationship Type="http://schemas.openxmlformats.org/officeDocument/2006/relationships/notesMaster" Target="/ppt/notesMasters/notesMaster1.xml" Id="R05ce6364f8114c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b525c448624ebe" /><Relationship Type="http://schemas.openxmlformats.org/officeDocument/2006/relationships/notesMaster" Target="/ppt/notesMasters/notesMaster1.xml" Id="Ra9fe0461b72b49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4ab2e64ac641cc" /><Relationship Type="http://schemas.openxmlformats.org/officeDocument/2006/relationships/notesMaster" Target="/ppt/notesMasters/notesMaster1.xml" Id="Rbd8e84004c6343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65111137754016" /><Relationship Type="http://schemas.openxmlformats.org/officeDocument/2006/relationships/notesMaster" Target="/ppt/notesMasters/notesMaster1.xml" Id="R34690ecbb14c4d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0b999f9c384f79" /><Relationship Type="http://schemas.openxmlformats.org/officeDocument/2006/relationships/notesMaster" Target="/ppt/notesMasters/notesMaster1.xml" Id="R1290490ab6844e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221fceca6244bf" /><Relationship Type="http://schemas.openxmlformats.org/officeDocument/2006/relationships/notesMaster" Target="/ppt/notesMasters/notesMaster1.xml" Id="R44b19292303541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250b6079e64839" /><Relationship Type="http://schemas.openxmlformats.org/officeDocument/2006/relationships/notesMaster" Target="/ppt/notesMasters/notesMaster1.xml" Id="R1d34fbb4000e441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61bcc8f0c9405c" /><Relationship Type="http://schemas.openxmlformats.org/officeDocument/2006/relationships/notesMaster" Target="/ppt/notesMasters/notesMaster1.xml" Id="R6f737699ce0a41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7ea5febb2c451c" /><Relationship Type="http://schemas.openxmlformats.org/officeDocument/2006/relationships/notesMaster" Target="/ppt/notesMasters/notesMaster1.xml" Id="Re4ffd873aa404e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d70430e22d4833" /><Relationship Type="http://schemas.openxmlformats.org/officeDocument/2006/relationships/notesMaster" Target="/ppt/notesMasters/notesMaster1.xml" Id="Re908f9c903ef49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7a42ba926143dd" /><Relationship Type="http://schemas.openxmlformats.org/officeDocument/2006/relationships/notesMaster" Target="/ppt/notesMasters/notesMaster1.xml" Id="R50d7bb4683f445a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87cdfc9ca743f4" /><Relationship Type="http://schemas.openxmlformats.org/officeDocument/2006/relationships/notesMaster" Target="/ppt/notesMasters/notesMaster1.xml" Id="R8e027af1ba934a7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dd656953374d25" /><Relationship Type="http://schemas.openxmlformats.org/officeDocument/2006/relationships/notesMaster" Target="/ppt/notesMasters/notesMaster1.xml" Id="Rdc184b02956642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8d4f092b554f1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7a7c2b606d834ed3" /><Relationship Type="http://schemas.openxmlformats.org/officeDocument/2006/relationships/slideLayout" Target="/ppt/slideLayouts/slideLayout2.xml" Id="R9d18a5e1ba2d4e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18a5e1ba2d4e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ce3e878ac6b844d8" /><Relationship Type="http://schemas.openxmlformats.org/officeDocument/2006/relationships/notesSlide" Target="/ppt/notesSlides/notesSlide1.xml" Id="Rde51e9e78a644d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ae285f247fe4c99" /><Relationship Type="http://schemas.openxmlformats.org/officeDocument/2006/relationships/notesSlide" Target="/ppt/notesSlides/notesSlide2.xml" Id="Rbff569f51aa94a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49ebee9d4cf4c5b" /><Relationship Type="http://schemas.openxmlformats.org/officeDocument/2006/relationships/notesSlide" Target="/ppt/notesSlides/notesSlide3.xml" Id="R4f911d286e3948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618ebf75fd44e19" /><Relationship Type="http://schemas.openxmlformats.org/officeDocument/2006/relationships/notesSlide" Target="/ppt/notesSlides/notesSlide4.xml" Id="R0bcb472fd84f42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59767572e564e8b" /><Relationship Type="http://schemas.openxmlformats.org/officeDocument/2006/relationships/notesSlide" Target="/ppt/notesSlides/notesSlide5.xml" Id="R064cb164cbee440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cdeeafebafa46d9" /><Relationship Type="http://schemas.openxmlformats.org/officeDocument/2006/relationships/notesSlide" Target="/ppt/notesSlides/notesSlide6.xml" Id="R81e5a5a636fb40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90ff4bcae524c29" /><Relationship Type="http://schemas.openxmlformats.org/officeDocument/2006/relationships/notesSlide" Target="/ppt/notesSlides/notesSlide7.xml" Id="R552c92f5211b4c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9d0a477f6c146d3" /><Relationship Type="http://schemas.openxmlformats.org/officeDocument/2006/relationships/notesSlide" Target="/ppt/notesSlides/notesSlide8.xml" Id="R3f81508e931a47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3170e99a681436a" /><Relationship Type="http://schemas.openxmlformats.org/officeDocument/2006/relationships/image" Target="/ppt/media/image.png" Id="R699b109da348432d" /><Relationship Type="http://schemas.openxmlformats.org/officeDocument/2006/relationships/image" Target="/ppt/media/image2.png" Id="Rea4ab083bf5b4329" /><Relationship Type="http://schemas.openxmlformats.org/officeDocument/2006/relationships/notesSlide" Target="/ppt/notesSlides/notesSlide9.xml" Id="Rc14afb8ad9aa43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97bdd86001374e73" /><Relationship Type="http://schemas.openxmlformats.org/officeDocument/2006/relationships/image" Target="/ppt/media/image3.png" Id="R611ba87357a74979" /><Relationship Type="http://schemas.openxmlformats.org/officeDocument/2006/relationships/notesSlide" Target="/ppt/notesSlides/notesSlide10.xml" Id="Rf9458b00a42b48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faea1e2867a4370" /><Relationship Type="http://schemas.openxmlformats.org/officeDocument/2006/relationships/image" Target="/ppt/media/image4.png" Id="R980c9becc9394e7b" /><Relationship Type="http://schemas.openxmlformats.org/officeDocument/2006/relationships/notesSlide" Target="/ppt/notesSlides/notesSlide11.xml" Id="R4c3c1c9e9b8d46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99e3d950d8b447e" /><Relationship Type="http://schemas.openxmlformats.org/officeDocument/2006/relationships/notesSlide" Target="/ppt/notesSlides/notesSlide12.xml" Id="Rd0a87558735148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710b5de168d4f4c" /><Relationship Type="http://schemas.openxmlformats.org/officeDocument/2006/relationships/notesSlide" Target="/ppt/notesSlides/notesSlide13.xml" Id="Re30a9617c70d45c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E111F5-843C-430B-AA41-B8FBFA037E5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9FFAA37-1CEB-46A7-8303-D19ADB8609E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2EAF459-C276-4110-B71B-E24956BFF807}"/>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932A977-0839-4EEB-9941-4E6F32A721FF}"/>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Project title</a:t>
            </a:r>
          </a:p>
        </p:txBody>
      </p:sp>
      <p:sp>
        <p:nvSpPr>
          <p:cNvPr id="5" name="">
            <a:extLst xmlns:a="http://schemas.openxmlformats.org/drawingml/2006/main">
              <a:ext uri="{FF2B5EF4-FFF2-40B4-BE49-F238E27FC236}">
                <a16:creationId xmlns:a16="http://schemas.microsoft.com/office/drawing/2014/main" id="{9F2140EC-4489-4FC4-980E-87F8B7A1F996}"/>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1</a:t>
            </a:r>
          </a:p>
        </p:txBody>
      </p:sp>
      <p:sp>
        <p:nvSpPr>
          <p:cNvPr id="6" name="">
            <a:extLst xmlns:a="http://schemas.openxmlformats.org/drawingml/2006/main">
              <a:ext uri="{FF2B5EF4-FFF2-40B4-BE49-F238E27FC236}">
                <a16:creationId xmlns:a16="http://schemas.microsoft.com/office/drawing/2014/main" id="{CBE6525E-45A3-467F-B596-0515C0ADABBF}"/>
              </a:ext>
            </a:extLst>
          </p:cNvPr>
          <p:cNvSpPr>
            <a:spLocks xmlns:a="http://schemas.openxmlformats.org/drawingml/2006/main" noGrp="1"/>
          </p:cNvSpPr>
          <p:nvPr/>
        </p:nvSpPr>
        <p:spPr>
          <a:xfrm xmlns:a="http://schemas.openxmlformats.org/drawingml/2006/main">
            <a:off x="762000" y="914400"/>
            <a:ext cx="10668000" cy="1238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071D3B"/>
                </a:solidFill>
                <a:latin typeface="Aptos Display"/>
                <a:ea typeface="Aptos Display"/>
                <a:cs typeface="Aptos Display"/>
              </a:defRPr>
            </a:pPr>
            <a:r>
              <a:rPr sz="3150" b="1">
                <a:solidFill>
                  <a:srgbClr val="071D3B"/>
                </a:solidFill>
                <a:latin typeface="Aptos Display"/>
                <a:ea typeface="Aptos Display"/>
                <a:cs typeface="Aptos Display"/>
              </a:rPr>
              <a:t>GSM Signal Denoising and Modulation Classification for Rural Uganda</a:t>
            </a:r>
          </a:p>
        </p:txBody>
      </p:sp>
      <p:sp>
        <p:nvSpPr>
          <p:cNvPr id="7" name="">
            <a:extLst xmlns:a="http://schemas.openxmlformats.org/drawingml/2006/main">
              <a:ext uri="{FF2B5EF4-FFF2-40B4-BE49-F238E27FC236}">
                <a16:creationId xmlns:a16="http://schemas.microsoft.com/office/drawing/2014/main" id="{D35E5F94-E1D4-46BA-BADF-B13C036DFA34}"/>
              </a:ext>
            </a:extLst>
          </p:cNvPr>
          <p:cNvSpPr>
            <a:spLocks xmlns:a="http://schemas.openxmlformats.org/drawingml/2006/main" noGrp="1"/>
          </p:cNvSpPr>
          <p:nvPr/>
        </p:nvSpPr>
        <p:spPr>
          <a:xfrm xmlns:a="http://schemas.openxmlformats.org/drawingml/2006/main">
            <a:off x="2000250" y="2400300"/>
            <a:ext cx="8191500" cy="28575"/>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69670F24-1894-47E3-9A38-D5945EDF3BAC}"/>
              </a:ext>
            </a:extLst>
          </p:cNvPr>
          <p:cNvSpPr>
            <a:spLocks xmlns:a="http://schemas.openxmlformats.org/drawingml/2006/main" noGrp="1"/>
          </p:cNvSpPr>
          <p:nvPr/>
        </p:nvSpPr>
        <p:spPr>
          <a:xfrm xmlns:a="http://schemas.openxmlformats.org/drawingml/2006/main">
            <a:off x="762000" y="2705100"/>
            <a:ext cx="10668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38100" rIns="76200" bIns="38100" anchor="t"/>
          <a:lstStyle xmlns:a="http://schemas.openxmlformats.org/drawingml/2006/main"/>
          <a:p xmlns:a="http://schemas.openxmlformats.org/drawingml/2006/main">
            <a:pPr algn="l">
              <a:defRPr sz="1950" b="0">
                <a:solidFill>
                  <a:srgbClr val="008A7A"/>
                </a:solidFill>
                <a:latin typeface="Aptos"/>
                <a:ea typeface="Aptos"/>
                <a:cs typeface="Aptos"/>
              </a:defRPr>
            </a:pPr>
            <a:r>
              <a:rPr sz="1950" b="0">
                <a:solidFill>
                  <a:srgbClr val="008A7A"/>
                </a:solidFill>
                <a:latin typeface="Aptos"/>
                <a:ea typeface="Aptos"/>
                <a:cs typeface="Aptos"/>
              </a:rPr>
              <a:t>Final Year Project Presentation</a:t>
            </a:r>
          </a:p>
        </p:txBody>
      </p:sp>
      <p:sp>
        <p:nvSpPr>
          <p:cNvPr id="9" name="">
            <a:extLst xmlns:a="http://schemas.openxmlformats.org/drawingml/2006/main">
              <a:ext uri="{FF2B5EF4-FFF2-40B4-BE49-F238E27FC236}">
                <a16:creationId xmlns:a16="http://schemas.microsoft.com/office/drawing/2014/main" id="{5CE2DCBA-8E10-4469-B272-FDC452CF7E68}"/>
              </a:ext>
            </a:extLst>
          </p:cNvPr>
          <p:cNvSpPr>
            <a:spLocks xmlns:a="http://schemas.openxmlformats.org/drawingml/2006/main" noGrp="1"/>
          </p:cNvSpPr>
          <p:nvPr/>
        </p:nvSpPr>
        <p:spPr>
          <a:xfrm xmlns:a="http://schemas.openxmlformats.org/drawingml/2006/main">
            <a:off x="1714500" y="3314700"/>
            <a:ext cx="8763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0">
                <a:solidFill>
                  <a:srgbClr val="102033"/>
                </a:solidFill>
                <a:latin typeface="Aptos"/>
                <a:ea typeface="Aptos"/>
                <a:cs typeface="Aptos"/>
              </a:defRPr>
            </a:pPr>
            <a:r>
              <a:rPr sz="1800" b="0">
                <a:solidFill>
                  <a:srgbClr val="102033"/>
                </a:solidFill>
                <a:latin typeface="Aptos"/>
                <a:ea typeface="Aptos"/>
                <a:cs typeface="Aptos"/>
              </a:rPr>
              <a:t>Department of Electrical and Electronics Engineering</a:t>
            </a:r>
          </a:p>
          <a:p xmlns:a="http://schemas.openxmlformats.org/drawingml/2006/main">
            <a:pPr algn="ctr">
              <a:defRPr sz="1800" b="0">
                <a:solidFill>
                  <a:srgbClr val="102033"/>
                </a:solidFill>
                <a:latin typeface="Aptos"/>
                <a:ea typeface="Aptos"/>
                <a:cs typeface="Aptos"/>
              </a:defRPr>
            </a:pPr>
            <a:r>
              <a:rPr sz="1800" b="0">
                <a:solidFill>
                  <a:srgbClr val="102033"/>
                </a:solidFill>
                <a:latin typeface="Aptos"/>
                <a:ea typeface="Aptos"/>
                <a:cs typeface="Aptos"/>
              </a:rPr>
              <a:t>Kyambogo University</a:t>
            </a:r>
          </a:p>
        </p:txBody>
      </p:sp>
      <p:sp>
        <p:nvSpPr>
          <p:cNvPr id="10" name="">
            <a:extLst xmlns:a="http://schemas.openxmlformats.org/drawingml/2006/main">
              <a:ext uri="{FF2B5EF4-FFF2-40B4-BE49-F238E27FC236}">
                <a16:creationId xmlns:a16="http://schemas.microsoft.com/office/drawing/2014/main" id="{A442BA96-58A5-4A7D-AB5D-E05390AF794B}"/>
              </a:ext>
            </a:extLst>
          </p:cNvPr>
          <p:cNvSpPr>
            <a:spLocks xmlns:a="http://schemas.openxmlformats.org/drawingml/2006/main" noGrp="1"/>
          </p:cNvSpPr>
          <p:nvPr/>
        </p:nvSpPr>
        <p:spPr>
          <a:xfrm xmlns:a="http://schemas.openxmlformats.org/drawingml/2006/main">
            <a:off x="1809750" y="4343400"/>
            <a:ext cx="857250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1" name="">
            <a:extLst xmlns:a="http://schemas.openxmlformats.org/drawingml/2006/main">
              <a:ext uri="{FF2B5EF4-FFF2-40B4-BE49-F238E27FC236}">
                <a16:creationId xmlns:a16="http://schemas.microsoft.com/office/drawing/2014/main" id="{55D4DF89-1CDD-4197-884D-D4CEB37D4E35}"/>
              </a:ext>
            </a:extLst>
          </p:cNvPr>
          <p:cNvSpPr>
            <a:spLocks xmlns:a="http://schemas.openxmlformats.org/drawingml/2006/main" noGrp="1"/>
          </p:cNvSpPr>
          <p:nvPr/>
        </p:nvSpPr>
        <p:spPr>
          <a:xfrm xmlns:a="http://schemas.openxmlformats.org/drawingml/2006/main">
            <a:off x="2095500" y="4552950"/>
            <a:ext cx="8001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0">
                <a:solidFill>
                  <a:srgbClr val="071D3B"/>
                </a:solidFill>
                <a:latin typeface="Aptos"/>
                <a:ea typeface="Aptos"/>
                <a:cs typeface="Aptos"/>
              </a:defRPr>
            </a:pPr>
            <a:r>
              <a:rPr sz="1650" b="0">
                <a:solidFill>
                  <a:srgbClr val="071D3B"/>
                </a:solidFill>
                <a:latin typeface="Aptos"/>
                <a:ea typeface="Aptos"/>
                <a:cs typeface="Aptos"/>
              </a:rPr>
              <a:t>Ssemujju Sharif Abdukarim  |  18/U/ETD/181/GV</a:t>
            </a:r>
          </a:p>
          <a:p xmlns:a="http://schemas.openxmlformats.org/drawingml/2006/main">
            <a:pPr algn="ctr">
              <a:defRPr sz="1650" b="0">
                <a:solidFill>
                  <a:srgbClr val="071D3B"/>
                </a:solidFill>
                <a:latin typeface="Aptos"/>
                <a:ea typeface="Aptos"/>
                <a:cs typeface="Aptos"/>
              </a:defRPr>
            </a:pPr>
            <a:r>
              <a:rPr sz="1650" b="0">
                <a:solidFill>
                  <a:srgbClr val="071D3B"/>
                </a:solidFill>
                <a:latin typeface="Aptos"/>
                <a:ea typeface="Aptos"/>
                <a:cs typeface="Aptos"/>
              </a:rPr>
              <a:t>Kisige Tom Derrick  |  22/U/ETD/0953/GV</a:t>
            </a:r>
          </a:p>
          <a:p xmlns:a="http://schemas.openxmlformats.org/drawingml/2006/main">
            <a:pPr algn="ctr">
              <a:defRPr sz="1650" b="0">
                <a:solidFill>
                  <a:srgbClr val="071D3B"/>
                </a:solidFill>
                <a:latin typeface="Aptos"/>
                <a:ea typeface="Aptos"/>
                <a:cs typeface="Aptos"/>
              </a:defRPr>
            </a:pPr>
            <a:r>
              <a:rPr sz="1650" b="0">
                <a:solidFill>
                  <a:srgbClr val="071D3B"/>
                </a:solidFill>
                <a:latin typeface="Aptos"/>
                <a:ea typeface="Aptos"/>
                <a:cs typeface="Aptos"/>
              </a:rPr>
              <a:t>Supervisor: Dr. Dickson Mugerwa</a:t>
            </a:r>
          </a:p>
        </p:txBody>
      </p:sp>
    </p:spTree>
    <p:extLst>
      <p:ext uri="{BB962C8B-B14F-4D97-AF65-F5344CB8AC3E}">
        <p14:creationId xmlns:p14="http://schemas.microsoft.com/office/powerpoint/2010/main" val="1128583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F45445-2B75-4A4A-A09E-6AB95779DA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766B398-4406-49FE-9C39-4CF2A841747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E743D4C-74F1-4D27-8CF8-AAFA8779330E}"/>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F91AA82-0068-435B-BD4E-68AE913A0F84}"/>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Introduction / Background</a:t>
            </a:r>
          </a:p>
        </p:txBody>
      </p:sp>
      <p:sp>
        <p:nvSpPr>
          <p:cNvPr id="5" name="">
            <a:extLst xmlns:a="http://schemas.openxmlformats.org/drawingml/2006/main">
              <a:ext uri="{FF2B5EF4-FFF2-40B4-BE49-F238E27FC236}">
                <a16:creationId xmlns:a16="http://schemas.microsoft.com/office/drawing/2014/main" id="{53CDA746-9FB4-4100-9C66-0816ED223CDC}"/>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2</a:t>
            </a:r>
          </a:p>
        </p:txBody>
      </p:sp>
      <p:sp>
        <p:nvSpPr>
          <p:cNvPr id="6" name="">
            <a:extLst xmlns:a="http://schemas.openxmlformats.org/drawingml/2006/main">
              <a:ext uri="{FF2B5EF4-FFF2-40B4-BE49-F238E27FC236}">
                <a16:creationId xmlns:a16="http://schemas.microsoft.com/office/drawing/2014/main" id="{299C705C-E9DD-4E47-B745-BEF46415ECC6}"/>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PROJECT CONTEXT</a:t>
            </a:r>
          </a:p>
        </p:txBody>
      </p:sp>
      <p:sp>
        <p:nvSpPr>
          <p:cNvPr id="7" name="">
            <a:extLst xmlns:a="http://schemas.openxmlformats.org/drawingml/2006/main">
              <a:ext uri="{FF2B5EF4-FFF2-40B4-BE49-F238E27FC236}">
                <a16:creationId xmlns:a16="http://schemas.microsoft.com/office/drawing/2014/main" id="{F89EEDE1-3DC3-4608-9C18-4779D01934A5}"/>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Introduction / Background</a:t>
            </a:r>
          </a:p>
        </p:txBody>
      </p:sp>
      <p:sp>
        <p:nvSpPr>
          <p:cNvPr id="8" name="">
            <a:extLst xmlns:a="http://schemas.openxmlformats.org/drawingml/2006/main">
              <a:ext uri="{FF2B5EF4-FFF2-40B4-BE49-F238E27FC236}">
                <a16:creationId xmlns:a16="http://schemas.microsoft.com/office/drawing/2014/main" id="{45E476C7-1ADE-4B25-AB3B-DE9B84AE93CC}"/>
              </a:ext>
            </a:extLst>
          </p:cNvPr>
          <p:cNvSpPr>
            <a:spLocks xmlns:a="http://schemas.openxmlformats.org/drawingml/2006/main" noGrp="1"/>
          </p:cNvSpPr>
          <p:nvPr/>
        </p:nvSpPr>
        <p:spPr>
          <a:xfrm xmlns:a="http://schemas.openxmlformats.org/drawingml/2006/main">
            <a:off x="666750" y="1752600"/>
            <a:ext cx="5143500" cy="2762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75FC356F-3799-4AB0-85E8-7F51682E9D62}"/>
              </a:ext>
            </a:extLst>
          </p:cNvPr>
          <p:cNvSpPr>
            <a:spLocks xmlns:a="http://schemas.openxmlformats.org/drawingml/2006/main" noGrp="1"/>
          </p:cNvSpPr>
          <p:nvPr/>
        </p:nvSpPr>
        <p:spPr>
          <a:xfrm xmlns:a="http://schemas.openxmlformats.org/drawingml/2006/main">
            <a:off x="666750" y="1752600"/>
            <a:ext cx="76200" cy="27622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A0248D0-2267-4BBC-9371-D3085B17C15B}"/>
              </a:ext>
            </a:extLst>
          </p:cNvPr>
          <p:cNvSpPr>
            <a:spLocks xmlns:a="http://schemas.openxmlformats.org/drawingml/2006/main" noGrp="1"/>
          </p:cNvSpPr>
          <p:nvPr/>
        </p:nvSpPr>
        <p:spPr>
          <a:xfrm xmlns:a="http://schemas.openxmlformats.org/drawingml/2006/main">
            <a:off x="895350" y="1924050"/>
            <a:ext cx="4724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Local service reality</a:t>
            </a:r>
          </a:p>
        </p:txBody>
      </p:sp>
      <p:sp>
        <p:nvSpPr>
          <p:cNvPr id="11" name="">
            <a:extLst xmlns:a="http://schemas.openxmlformats.org/drawingml/2006/main">
              <a:ext uri="{FF2B5EF4-FFF2-40B4-BE49-F238E27FC236}">
                <a16:creationId xmlns:a16="http://schemas.microsoft.com/office/drawing/2014/main" id="{7E010CEF-CC62-4CBC-A2EC-496A99E19900}"/>
              </a:ext>
            </a:extLst>
          </p:cNvPr>
          <p:cNvSpPr>
            <a:spLocks xmlns:a="http://schemas.openxmlformats.org/drawingml/2006/main" noGrp="1"/>
          </p:cNvSpPr>
          <p:nvPr/>
        </p:nvSpPr>
        <p:spPr>
          <a:xfrm xmlns:a="http://schemas.openxmlformats.org/drawingml/2006/main">
            <a:off x="914400" y="2305050"/>
            <a:ext cx="4667250"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Basic GSM services still matter for ordinary users: voice, SMS, USSD, and Mobile Money (Uganda Communications Commission, 2025).</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At the cell edge, a phone may show signal bars but still suffer noisy or unstable service (Uganda Communications Commission, 2022).</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Weak I/Q structure makes reliable modulation interpretation difficult under low SNR (O'Shea et al., 2018).</a:t>
            </a:r>
          </a:p>
        </p:txBody>
      </p:sp>
      <p:sp>
        <p:nvSpPr>
          <p:cNvPr id="12" name="">
            <a:extLst xmlns:a="http://schemas.openxmlformats.org/drawingml/2006/main">
              <a:ext uri="{FF2B5EF4-FFF2-40B4-BE49-F238E27FC236}">
                <a16:creationId xmlns:a16="http://schemas.microsoft.com/office/drawing/2014/main" id="{AE8DE920-4E58-43DB-A297-2AF900BC965A}"/>
              </a:ext>
            </a:extLst>
          </p:cNvPr>
          <p:cNvSpPr>
            <a:spLocks xmlns:a="http://schemas.openxmlformats.org/drawingml/2006/main" noGrp="1"/>
          </p:cNvSpPr>
          <p:nvPr/>
        </p:nvSpPr>
        <p:spPr>
          <a:xfrm xmlns:a="http://schemas.openxmlformats.org/drawingml/2006/main">
            <a:off x="6381750" y="1752600"/>
            <a:ext cx="5143500" cy="2762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3" name="">
            <a:extLst xmlns:a="http://schemas.openxmlformats.org/drawingml/2006/main">
              <a:ext uri="{FF2B5EF4-FFF2-40B4-BE49-F238E27FC236}">
                <a16:creationId xmlns:a16="http://schemas.microsoft.com/office/drawing/2014/main" id="{49F3CE3D-A1AB-4768-AE87-4579419C512A}"/>
              </a:ext>
            </a:extLst>
          </p:cNvPr>
          <p:cNvSpPr>
            <a:spLocks xmlns:a="http://schemas.openxmlformats.org/drawingml/2006/main" noGrp="1"/>
          </p:cNvSpPr>
          <p:nvPr/>
        </p:nvSpPr>
        <p:spPr>
          <a:xfrm xmlns:a="http://schemas.openxmlformats.org/drawingml/2006/main">
            <a:off x="6381750" y="1752600"/>
            <a:ext cx="76200" cy="276225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F0EDD5E-4480-486F-80B9-209366F5A7BA}"/>
              </a:ext>
            </a:extLst>
          </p:cNvPr>
          <p:cNvSpPr>
            <a:spLocks xmlns:a="http://schemas.openxmlformats.org/drawingml/2006/main" noGrp="1"/>
          </p:cNvSpPr>
          <p:nvPr/>
        </p:nvSpPr>
        <p:spPr>
          <a:xfrm xmlns:a="http://schemas.openxmlformats.org/drawingml/2006/main">
            <a:off x="6610350" y="1924050"/>
            <a:ext cx="4724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Engineering interpretation</a:t>
            </a:r>
          </a:p>
        </p:txBody>
      </p:sp>
      <p:sp>
        <p:nvSpPr>
          <p:cNvPr id="15" name="">
            <a:extLst xmlns:a="http://schemas.openxmlformats.org/drawingml/2006/main">
              <a:ext uri="{FF2B5EF4-FFF2-40B4-BE49-F238E27FC236}">
                <a16:creationId xmlns:a16="http://schemas.microsoft.com/office/drawing/2014/main" id="{7529CEDE-996A-424E-A57A-B575BEF665FB}"/>
              </a:ext>
            </a:extLst>
          </p:cNvPr>
          <p:cNvSpPr>
            <a:spLocks xmlns:a="http://schemas.openxmlformats.org/drawingml/2006/main" noGrp="1"/>
          </p:cNvSpPr>
          <p:nvPr/>
        </p:nvSpPr>
        <p:spPr>
          <a:xfrm xmlns:a="http://schemas.openxmlformats.org/drawingml/2006/main">
            <a:off x="6629400" y="2305050"/>
            <a:ext cx="4667250" cy="2076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project treats weak service as a signal-quality problem, not only a coverage-map problem.</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Denoising is placed before classification so the AMC stage sees a cleaner signal representation (An &amp; Lee, 2023).</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same logic can support troubleshooting, spectrum monitoring, and rural service planning (Uganda Communications Commission, 2024).</a:t>
            </a:r>
          </a:p>
        </p:txBody>
      </p:sp>
      <p:sp>
        <p:nvSpPr>
          <p:cNvPr id="16" name="">
            <a:extLst xmlns:a="http://schemas.openxmlformats.org/drawingml/2006/main">
              <a:ext uri="{FF2B5EF4-FFF2-40B4-BE49-F238E27FC236}">
                <a16:creationId xmlns:a16="http://schemas.microsoft.com/office/drawing/2014/main" id="{15289E3C-7357-409F-851B-5884FC26B784}"/>
              </a:ext>
            </a:extLst>
          </p:cNvPr>
          <p:cNvSpPr>
            <a:spLocks xmlns:a="http://schemas.openxmlformats.org/drawingml/2006/main" noGrp="1"/>
          </p:cNvSpPr>
          <p:nvPr/>
        </p:nvSpPr>
        <p:spPr>
          <a:xfrm xmlns:a="http://schemas.openxmlformats.org/drawingml/2006/main">
            <a:off x="742950" y="4705350"/>
            <a:ext cx="3143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7" name="">
            <a:extLst xmlns:a="http://schemas.openxmlformats.org/drawingml/2006/main">
              <a:ext uri="{FF2B5EF4-FFF2-40B4-BE49-F238E27FC236}">
                <a16:creationId xmlns:a16="http://schemas.microsoft.com/office/drawing/2014/main" id="{76214D13-10D8-4150-986A-A1F6C63121DC}"/>
              </a:ext>
            </a:extLst>
          </p:cNvPr>
          <p:cNvSpPr>
            <a:spLocks xmlns:a="http://schemas.openxmlformats.org/drawingml/2006/main" noGrp="1"/>
          </p:cNvSpPr>
          <p:nvPr/>
        </p:nvSpPr>
        <p:spPr>
          <a:xfrm xmlns:a="http://schemas.openxmlformats.org/drawingml/2006/main">
            <a:off x="742950" y="4705350"/>
            <a:ext cx="3143250" cy="7620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94C70370-0983-4E13-B925-75BC9CA94D56}"/>
              </a:ext>
            </a:extLst>
          </p:cNvPr>
          <p:cNvSpPr>
            <a:spLocks xmlns:a="http://schemas.openxmlformats.org/drawingml/2006/main" noGrp="1"/>
          </p:cNvSpPr>
          <p:nvPr/>
        </p:nvSpPr>
        <p:spPr>
          <a:xfrm xmlns:a="http://schemas.openxmlformats.org/drawingml/2006/main">
            <a:off x="914400" y="4895850"/>
            <a:ext cx="2800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GSM-family I/Q</a:t>
            </a:r>
          </a:p>
        </p:txBody>
      </p:sp>
      <p:sp>
        <p:nvSpPr>
          <p:cNvPr id="19" name="">
            <a:extLst xmlns:a="http://schemas.openxmlformats.org/drawingml/2006/main">
              <a:ext uri="{FF2B5EF4-FFF2-40B4-BE49-F238E27FC236}">
                <a16:creationId xmlns:a16="http://schemas.microsoft.com/office/drawing/2014/main" id="{0142898D-DC55-4036-90EC-C256D4A07713}"/>
              </a:ext>
            </a:extLst>
          </p:cNvPr>
          <p:cNvSpPr>
            <a:spLocks xmlns:a="http://schemas.openxmlformats.org/drawingml/2006/main" noGrp="1"/>
          </p:cNvSpPr>
          <p:nvPr/>
        </p:nvSpPr>
        <p:spPr>
          <a:xfrm xmlns:a="http://schemas.openxmlformats.org/drawingml/2006/main">
            <a:off x="914400" y="5314950"/>
            <a:ext cx="2800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Working signal model</a:t>
            </a:r>
          </a:p>
        </p:txBody>
      </p:sp>
      <p:sp>
        <p:nvSpPr>
          <p:cNvPr id="20" name="">
            <a:extLst xmlns:a="http://schemas.openxmlformats.org/drawingml/2006/main">
              <a:ext uri="{FF2B5EF4-FFF2-40B4-BE49-F238E27FC236}">
                <a16:creationId xmlns:a16="http://schemas.microsoft.com/office/drawing/2014/main" id="{4BCEEE2A-B637-45E2-8935-6527C5B60B8A}"/>
              </a:ext>
            </a:extLst>
          </p:cNvPr>
          <p:cNvSpPr>
            <a:spLocks xmlns:a="http://schemas.openxmlformats.org/drawingml/2006/main" noGrp="1"/>
          </p:cNvSpPr>
          <p:nvPr/>
        </p:nvSpPr>
        <p:spPr>
          <a:xfrm xmlns:a="http://schemas.openxmlformats.org/drawingml/2006/main">
            <a:off x="914400" y="5600700"/>
            <a:ext cx="2800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Baseband windows test noisy edge-of-coverage conditions.</a:t>
            </a:r>
          </a:p>
        </p:txBody>
      </p:sp>
      <p:sp>
        <p:nvSpPr>
          <p:cNvPr id="21" name="">
            <a:extLst xmlns:a="http://schemas.openxmlformats.org/drawingml/2006/main">
              <a:ext uri="{FF2B5EF4-FFF2-40B4-BE49-F238E27FC236}">
                <a16:creationId xmlns:a16="http://schemas.microsoft.com/office/drawing/2014/main" id="{EB0636E7-69DE-4C74-AE75-18DEFCEF1856}"/>
              </a:ext>
            </a:extLst>
          </p:cNvPr>
          <p:cNvSpPr>
            <a:spLocks xmlns:a="http://schemas.openxmlformats.org/drawingml/2006/main" noGrp="1"/>
          </p:cNvSpPr>
          <p:nvPr/>
        </p:nvSpPr>
        <p:spPr>
          <a:xfrm xmlns:a="http://schemas.openxmlformats.org/drawingml/2006/main">
            <a:off x="4524375" y="4705350"/>
            <a:ext cx="3143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2" name="">
            <a:extLst xmlns:a="http://schemas.openxmlformats.org/drawingml/2006/main">
              <a:ext uri="{FF2B5EF4-FFF2-40B4-BE49-F238E27FC236}">
                <a16:creationId xmlns:a16="http://schemas.microsoft.com/office/drawing/2014/main" id="{35F8B135-670B-4F56-A259-8744C5084F14}"/>
              </a:ext>
            </a:extLst>
          </p:cNvPr>
          <p:cNvSpPr>
            <a:spLocks xmlns:a="http://schemas.openxmlformats.org/drawingml/2006/main" noGrp="1"/>
          </p:cNvSpPr>
          <p:nvPr/>
        </p:nvSpPr>
        <p:spPr>
          <a:xfrm xmlns:a="http://schemas.openxmlformats.org/drawingml/2006/main">
            <a:off x="4524375" y="4705350"/>
            <a:ext cx="3143250" cy="762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0990C22-A17C-4400-8437-58DDEC85D839}"/>
              </a:ext>
            </a:extLst>
          </p:cNvPr>
          <p:cNvSpPr>
            <a:spLocks xmlns:a="http://schemas.openxmlformats.org/drawingml/2006/main" noGrp="1"/>
          </p:cNvSpPr>
          <p:nvPr/>
        </p:nvSpPr>
        <p:spPr>
          <a:xfrm xmlns:a="http://schemas.openxmlformats.org/drawingml/2006/main">
            <a:off x="4695825" y="4895850"/>
            <a:ext cx="2800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DAE + AMC</a:t>
            </a:r>
          </a:p>
        </p:txBody>
      </p:sp>
      <p:sp>
        <p:nvSpPr>
          <p:cNvPr id="24" name="">
            <a:extLst xmlns:a="http://schemas.openxmlformats.org/drawingml/2006/main">
              <a:ext uri="{FF2B5EF4-FFF2-40B4-BE49-F238E27FC236}">
                <a16:creationId xmlns:a16="http://schemas.microsoft.com/office/drawing/2014/main" id="{91A2234B-154B-47D2-A988-EAC2E44DAE59}"/>
              </a:ext>
            </a:extLst>
          </p:cNvPr>
          <p:cNvSpPr>
            <a:spLocks xmlns:a="http://schemas.openxmlformats.org/drawingml/2006/main" noGrp="1"/>
          </p:cNvSpPr>
          <p:nvPr/>
        </p:nvSpPr>
        <p:spPr>
          <a:xfrm xmlns:a="http://schemas.openxmlformats.org/drawingml/2006/main">
            <a:off x="4695825" y="5314950"/>
            <a:ext cx="2800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Core technical pipeline</a:t>
            </a:r>
          </a:p>
        </p:txBody>
      </p:sp>
      <p:sp>
        <p:nvSpPr>
          <p:cNvPr id="25" name="">
            <a:extLst xmlns:a="http://schemas.openxmlformats.org/drawingml/2006/main">
              <a:ext uri="{FF2B5EF4-FFF2-40B4-BE49-F238E27FC236}">
                <a16:creationId xmlns:a16="http://schemas.microsoft.com/office/drawing/2014/main" id="{534C1DFD-7D7C-4187-82DA-15BCF422AF94}"/>
              </a:ext>
            </a:extLst>
          </p:cNvPr>
          <p:cNvSpPr>
            <a:spLocks xmlns:a="http://schemas.openxmlformats.org/drawingml/2006/main" noGrp="1"/>
          </p:cNvSpPr>
          <p:nvPr/>
        </p:nvSpPr>
        <p:spPr>
          <a:xfrm xmlns:a="http://schemas.openxmlformats.org/drawingml/2006/main">
            <a:off x="4695825" y="5600700"/>
            <a:ext cx="2800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Denoising front end followed by automatic modulation classification.</a:t>
            </a:r>
          </a:p>
        </p:txBody>
      </p:sp>
      <p:sp>
        <p:nvSpPr>
          <p:cNvPr id="26" name="">
            <a:extLst xmlns:a="http://schemas.openxmlformats.org/drawingml/2006/main">
              <a:ext uri="{FF2B5EF4-FFF2-40B4-BE49-F238E27FC236}">
                <a16:creationId xmlns:a16="http://schemas.microsoft.com/office/drawing/2014/main" id="{67816FDB-5D0F-4584-A045-AF8D45584D4F}"/>
              </a:ext>
            </a:extLst>
          </p:cNvPr>
          <p:cNvSpPr>
            <a:spLocks xmlns:a="http://schemas.openxmlformats.org/drawingml/2006/main" noGrp="1"/>
          </p:cNvSpPr>
          <p:nvPr/>
        </p:nvSpPr>
        <p:spPr>
          <a:xfrm xmlns:a="http://schemas.openxmlformats.org/drawingml/2006/main">
            <a:off x="8305800" y="4705350"/>
            <a:ext cx="3143250" cy="13144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7" name="">
            <a:extLst xmlns:a="http://schemas.openxmlformats.org/drawingml/2006/main">
              <a:ext uri="{FF2B5EF4-FFF2-40B4-BE49-F238E27FC236}">
                <a16:creationId xmlns:a16="http://schemas.microsoft.com/office/drawing/2014/main" id="{3B5D04BA-4961-4AF3-ACFF-9F28B1982986}"/>
              </a:ext>
            </a:extLst>
          </p:cNvPr>
          <p:cNvSpPr>
            <a:spLocks xmlns:a="http://schemas.openxmlformats.org/drawingml/2006/main" noGrp="1"/>
          </p:cNvSpPr>
          <p:nvPr/>
        </p:nvSpPr>
        <p:spPr>
          <a:xfrm xmlns:a="http://schemas.openxmlformats.org/drawingml/2006/main">
            <a:off x="8305800" y="4705350"/>
            <a:ext cx="3143250" cy="76200"/>
          </a:xfrm>
          <a:prstGeom xmlns:a="http://schemas.openxmlformats.org/drawingml/2006/main" prst="rect">
            <a:avLst/>
          </a:prstGeom>
          <a:solidFill xmlns:a="http://schemas.openxmlformats.org/drawingml/2006/main">
            <a:srgbClr val="E27A1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9CC88F65-4571-46A4-B831-E58C8349EABA}"/>
              </a:ext>
            </a:extLst>
          </p:cNvPr>
          <p:cNvSpPr>
            <a:spLocks xmlns:a="http://schemas.openxmlformats.org/drawingml/2006/main" noGrp="1"/>
          </p:cNvSpPr>
          <p:nvPr/>
        </p:nvSpPr>
        <p:spPr>
          <a:xfrm xmlns:a="http://schemas.openxmlformats.org/drawingml/2006/main">
            <a:off x="8477250" y="4895850"/>
            <a:ext cx="2800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Rural use case</a:t>
            </a:r>
          </a:p>
        </p:txBody>
      </p:sp>
      <p:sp>
        <p:nvSpPr>
          <p:cNvPr id="29" name="">
            <a:extLst xmlns:a="http://schemas.openxmlformats.org/drawingml/2006/main">
              <a:ext uri="{FF2B5EF4-FFF2-40B4-BE49-F238E27FC236}">
                <a16:creationId xmlns:a16="http://schemas.microsoft.com/office/drawing/2014/main" id="{45D32CCD-6D69-45DE-9D6E-0AF76FC43890}"/>
              </a:ext>
            </a:extLst>
          </p:cNvPr>
          <p:cNvSpPr>
            <a:spLocks xmlns:a="http://schemas.openxmlformats.org/drawingml/2006/main" noGrp="1"/>
          </p:cNvSpPr>
          <p:nvPr/>
        </p:nvSpPr>
        <p:spPr>
          <a:xfrm xmlns:a="http://schemas.openxmlformats.org/drawingml/2006/main">
            <a:off x="8477250" y="5314950"/>
            <a:ext cx="2800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Project motivation</a:t>
            </a:r>
          </a:p>
        </p:txBody>
      </p:sp>
      <p:sp>
        <p:nvSpPr>
          <p:cNvPr id="30" name="">
            <a:extLst xmlns:a="http://schemas.openxmlformats.org/drawingml/2006/main">
              <a:ext uri="{FF2B5EF4-FFF2-40B4-BE49-F238E27FC236}">
                <a16:creationId xmlns:a16="http://schemas.microsoft.com/office/drawing/2014/main" id="{266BC905-604C-4D0E-B9C1-790B003CA781}"/>
              </a:ext>
            </a:extLst>
          </p:cNvPr>
          <p:cNvSpPr>
            <a:spLocks xmlns:a="http://schemas.openxmlformats.org/drawingml/2006/main" noGrp="1"/>
          </p:cNvSpPr>
          <p:nvPr/>
        </p:nvSpPr>
        <p:spPr>
          <a:xfrm xmlns:a="http://schemas.openxmlformats.org/drawingml/2006/main">
            <a:off x="8477250" y="5600700"/>
            <a:ext cx="28003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Weak-signal interpretation can support practical network decisions.</a:t>
            </a:r>
          </a:p>
        </p:txBody>
      </p:sp>
    </p:spTree>
    <p:extLst>
      <p:ext uri="{BB962C8B-B14F-4D97-AF65-F5344CB8AC3E}">
        <p14:creationId xmlns:p14="http://schemas.microsoft.com/office/powerpoint/2010/main" val="100376076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C52C89-B617-4DAE-9A0F-5EF6E2C5D8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798EB84-178C-4F3A-91D9-E61035003C94}"/>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B3F0965-E8D2-4115-9258-6FFA2AF1D72E}"/>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A983344-60F4-488B-BC58-65B6E39DA855}"/>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Problem statement</a:t>
            </a:r>
          </a:p>
        </p:txBody>
      </p:sp>
      <p:sp>
        <p:nvSpPr>
          <p:cNvPr id="5" name="">
            <a:extLst xmlns:a="http://schemas.openxmlformats.org/drawingml/2006/main">
              <a:ext uri="{FF2B5EF4-FFF2-40B4-BE49-F238E27FC236}">
                <a16:creationId xmlns:a16="http://schemas.microsoft.com/office/drawing/2014/main" id="{A410508C-B428-402E-9339-72805C1F2C8C}"/>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3</a:t>
            </a:r>
          </a:p>
        </p:txBody>
      </p:sp>
      <p:sp>
        <p:nvSpPr>
          <p:cNvPr id="6" name="">
            <a:extLst xmlns:a="http://schemas.openxmlformats.org/drawingml/2006/main">
              <a:ext uri="{FF2B5EF4-FFF2-40B4-BE49-F238E27FC236}">
                <a16:creationId xmlns:a16="http://schemas.microsoft.com/office/drawing/2014/main" id="{DAF1153F-34DC-4172-8568-0ED4A2B26616}"/>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WHAT THE PROJECT ADDRESSES</a:t>
            </a:r>
          </a:p>
        </p:txBody>
      </p:sp>
      <p:sp>
        <p:nvSpPr>
          <p:cNvPr id="7" name="">
            <a:extLst xmlns:a="http://schemas.openxmlformats.org/drawingml/2006/main">
              <a:ext uri="{FF2B5EF4-FFF2-40B4-BE49-F238E27FC236}">
                <a16:creationId xmlns:a16="http://schemas.microsoft.com/office/drawing/2014/main" id="{8D0E1DDB-A896-4C9D-A0AB-484F16E9FE3F}"/>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Problem statement</a:t>
            </a:r>
          </a:p>
        </p:txBody>
      </p:sp>
      <p:sp>
        <p:nvSpPr>
          <p:cNvPr id="8" name="">
            <a:extLst xmlns:a="http://schemas.openxmlformats.org/drawingml/2006/main">
              <a:ext uri="{FF2B5EF4-FFF2-40B4-BE49-F238E27FC236}">
                <a16:creationId xmlns:a16="http://schemas.microsoft.com/office/drawing/2014/main" id="{028F82DE-B43B-48C2-A222-2C22ED1A3B70}"/>
              </a:ext>
            </a:extLst>
          </p:cNvPr>
          <p:cNvSpPr>
            <a:spLocks xmlns:a="http://schemas.openxmlformats.org/drawingml/2006/main" noGrp="1"/>
          </p:cNvSpPr>
          <p:nvPr/>
        </p:nvSpPr>
        <p:spPr>
          <a:xfrm xmlns:a="http://schemas.openxmlformats.org/drawingml/2006/main">
            <a:off x="762000" y="1676400"/>
            <a:ext cx="1066800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D0A4F573-806F-407C-B0E1-882D42A6530B}"/>
              </a:ext>
            </a:extLst>
          </p:cNvPr>
          <p:cNvSpPr>
            <a:spLocks xmlns:a="http://schemas.openxmlformats.org/drawingml/2006/main" noGrp="1"/>
          </p:cNvSpPr>
          <p:nvPr/>
        </p:nvSpPr>
        <p:spPr>
          <a:xfrm xmlns:a="http://schemas.openxmlformats.org/drawingml/2006/main">
            <a:off x="1066800" y="1885950"/>
            <a:ext cx="100584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76200" tIns="38100" rIns="76200" bIns="38100" anchor="t"/>
          <a:lstStyle xmlns:a="http://schemas.openxmlformats.org/drawingml/2006/main"/>
          <a:p xmlns:a="http://schemas.openxmlformats.org/drawingml/2006/main">
            <a:pPr algn="l">
              <a:defRPr sz="1650" b="0">
                <a:solidFill>
                  <a:srgbClr val="102033"/>
                </a:solidFill>
                <a:latin typeface="Aptos"/>
                <a:ea typeface="Aptos"/>
                <a:cs typeface="Aptos"/>
              </a:defRPr>
            </a:pPr>
            <a:r>
              <a:rPr sz="1650" b="0">
                <a:solidFill>
                  <a:srgbClr val="102033"/>
                </a:solidFill>
                <a:latin typeface="Aptos"/>
                <a:ea typeface="Aptos"/>
                <a:cs typeface="Aptos"/>
              </a:rPr>
              <a:t>Rural GSM users may experience unreliable service even where a network signal is visible. UCC service-quality and market evidence shows that access must be judged by usable service, not signal presence alone (Uganda Communications Commission, 2022, 2025). At the edge of coverage, low SNR, interference, fading, and unstable propagation can make AMC decisions unreliable (O'Shea et al., 2018).</a:t>
            </a:r>
          </a:p>
        </p:txBody>
      </p:sp>
      <p:sp>
        <p:nvSpPr>
          <p:cNvPr id="10" name="">
            <a:extLst xmlns:a="http://schemas.openxmlformats.org/drawingml/2006/main">
              <a:ext uri="{FF2B5EF4-FFF2-40B4-BE49-F238E27FC236}">
                <a16:creationId xmlns:a16="http://schemas.microsoft.com/office/drawing/2014/main" id="{E1B4AE44-4A4B-4F1D-A4C4-B387A76C3E4C}"/>
              </a:ext>
            </a:extLst>
          </p:cNvPr>
          <p:cNvSpPr>
            <a:spLocks xmlns:a="http://schemas.openxmlformats.org/drawingml/2006/main" noGrp="1"/>
          </p:cNvSpPr>
          <p:nvPr/>
        </p:nvSpPr>
        <p:spPr>
          <a:xfrm xmlns:a="http://schemas.openxmlformats.org/drawingml/2006/main">
            <a:off x="762000" y="3905250"/>
            <a:ext cx="4953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1" name="">
            <a:extLst xmlns:a="http://schemas.openxmlformats.org/drawingml/2006/main">
              <a:ext uri="{FF2B5EF4-FFF2-40B4-BE49-F238E27FC236}">
                <a16:creationId xmlns:a16="http://schemas.microsoft.com/office/drawing/2014/main" id="{B16C2D36-CCB6-4B80-9E81-7AE3B708F33C}"/>
              </a:ext>
            </a:extLst>
          </p:cNvPr>
          <p:cNvSpPr>
            <a:spLocks xmlns:a="http://schemas.openxmlformats.org/drawingml/2006/main" noGrp="1"/>
          </p:cNvSpPr>
          <p:nvPr/>
        </p:nvSpPr>
        <p:spPr>
          <a:xfrm xmlns:a="http://schemas.openxmlformats.org/drawingml/2006/main">
            <a:off x="762000" y="3905250"/>
            <a:ext cx="76200" cy="2000250"/>
          </a:xfrm>
          <a:prstGeom xmlns:a="http://schemas.openxmlformats.org/drawingml/2006/main" prst="rect">
            <a:avLst/>
          </a:prstGeom>
          <a:solidFill xmlns:a="http://schemas.openxmlformats.org/drawingml/2006/main">
            <a:srgbClr val="B84646"/>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30D40AB-5E19-476F-AE3C-3CDC9E27D687}"/>
              </a:ext>
            </a:extLst>
          </p:cNvPr>
          <p:cNvSpPr>
            <a:spLocks xmlns:a="http://schemas.openxmlformats.org/drawingml/2006/main" noGrp="1"/>
          </p:cNvSpPr>
          <p:nvPr/>
        </p:nvSpPr>
        <p:spPr>
          <a:xfrm xmlns:a="http://schemas.openxmlformats.org/drawingml/2006/main">
            <a:off x="990600" y="4076700"/>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Technical gap</a:t>
            </a:r>
          </a:p>
        </p:txBody>
      </p:sp>
      <p:sp>
        <p:nvSpPr>
          <p:cNvPr id="13" name="">
            <a:extLst xmlns:a="http://schemas.openxmlformats.org/drawingml/2006/main">
              <a:ext uri="{FF2B5EF4-FFF2-40B4-BE49-F238E27FC236}">
                <a16:creationId xmlns:a16="http://schemas.microsoft.com/office/drawing/2014/main" id="{AEEFA5E8-6AB4-4F45-BEAC-D05677F15704}"/>
              </a:ext>
            </a:extLst>
          </p:cNvPr>
          <p:cNvSpPr>
            <a:spLocks xmlns:a="http://schemas.openxmlformats.org/drawingml/2006/main" noGrp="1"/>
          </p:cNvSpPr>
          <p:nvPr/>
        </p:nvSpPr>
        <p:spPr>
          <a:xfrm xmlns:a="http://schemas.openxmlformats.org/drawingml/2006/main">
            <a:off x="1009650" y="4457700"/>
            <a:ext cx="44767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Classical signal-processing filters are useful, but are usually fixed to known noise assumptions.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Deep-learning AMC can classify raw I/Q samples, but low-SNR interference still reduces reliability (O'Shea et al., 2018).</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A denoising front end may recover useful signal structure before classification (An &amp; Lee, 2023).</a:t>
            </a:r>
          </a:p>
        </p:txBody>
      </p:sp>
      <p:sp>
        <p:nvSpPr>
          <p:cNvPr id="14" name="">
            <a:extLst xmlns:a="http://schemas.openxmlformats.org/drawingml/2006/main">
              <a:ext uri="{FF2B5EF4-FFF2-40B4-BE49-F238E27FC236}">
                <a16:creationId xmlns:a16="http://schemas.microsoft.com/office/drawing/2014/main" id="{EAAE3E16-6716-4E80-B9A7-0CB428076D83}"/>
              </a:ext>
            </a:extLst>
          </p:cNvPr>
          <p:cNvSpPr>
            <a:spLocks xmlns:a="http://schemas.openxmlformats.org/drawingml/2006/main" noGrp="1"/>
          </p:cNvSpPr>
          <p:nvPr/>
        </p:nvSpPr>
        <p:spPr>
          <a:xfrm xmlns:a="http://schemas.openxmlformats.org/drawingml/2006/main">
            <a:off x="6477000" y="3905250"/>
            <a:ext cx="4953000" cy="2000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5" name="">
            <a:extLst xmlns:a="http://schemas.openxmlformats.org/drawingml/2006/main">
              <a:ext uri="{FF2B5EF4-FFF2-40B4-BE49-F238E27FC236}">
                <a16:creationId xmlns:a16="http://schemas.microsoft.com/office/drawing/2014/main" id="{00526BFA-3EC7-45CF-8921-24E09C10530F}"/>
              </a:ext>
            </a:extLst>
          </p:cNvPr>
          <p:cNvSpPr>
            <a:spLocks xmlns:a="http://schemas.openxmlformats.org/drawingml/2006/main" noGrp="1"/>
          </p:cNvSpPr>
          <p:nvPr/>
        </p:nvSpPr>
        <p:spPr>
          <a:xfrm xmlns:a="http://schemas.openxmlformats.org/drawingml/2006/main">
            <a:off x="6477000" y="3905250"/>
            <a:ext cx="76200" cy="20002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D9CB316-174D-4F9B-9F8B-76462A18E219}"/>
              </a:ext>
            </a:extLst>
          </p:cNvPr>
          <p:cNvSpPr>
            <a:spLocks xmlns:a="http://schemas.openxmlformats.org/drawingml/2006/main" noGrp="1"/>
          </p:cNvSpPr>
          <p:nvPr/>
        </p:nvSpPr>
        <p:spPr>
          <a:xfrm xmlns:a="http://schemas.openxmlformats.org/drawingml/2006/main">
            <a:off x="6705600" y="4076700"/>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Project question</a:t>
            </a:r>
          </a:p>
        </p:txBody>
      </p:sp>
      <p:sp>
        <p:nvSpPr>
          <p:cNvPr id="17" name="">
            <a:extLst xmlns:a="http://schemas.openxmlformats.org/drawingml/2006/main">
              <a:ext uri="{FF2B5EF4-FFF2-40B4-BE49-F238E27FC236}">
                <a16:creationId xmlns:a16="http://schemas.microsoft.com/office/drawing/2014/main" id="{61470231-DC5B-4BEB-906C-C57D7656038A}"/>
              </a:ext>
            </a:extLst>
          </p:cNvPr>
          <p:cNvSpPr>
            <a:spLocks xmlns:a="http://schemas.openxmlformats.org/drawingml/2006/main" noGrp="1"/>
          </p:cNvSpPr>
          <p:nvPr/>
        </p:nvSpPr>
        <p:spPr>
          <a:xfrm xmlns:a="http://schemas.openxmlformats.org/drawingml/2006/main">
            <a:off x="6724650" y="4457700"/>
            <a:ext cx="4476750" cy="1314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Can denoising improve modulation classification under controlled low-SNR GSM-family conditions?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Which SNR ranges benefit most from denoising-assisted classification?</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How should the results be interpreted for rural weak-service analysis?</a:t>
            </a:r>
          </a:p>
        </p:txBody>
      </p:sp>
    </p:spTree>
    <p:extLst>
      <p:ext uri="{BB962C8B-B14F-4D97-AF65-F5344CB8AC3E}">
        <p14:creationId xmlns:p14="http://schemas.microsoft.com/office/powerpoint/2010/main" val="124896701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FF940D-6B17-4F30-A74C-1AA084690FE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B96B821-A7FE-473B-A6EB-268D14D4FB3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7AED693-DF73-482A-BC06-23003E72214A}"/>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82BDDEF-5319-46C2-B58C-989C06210B28}"/>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Objectives</a:t>
            </a:r>
          </a:p>
        </p:txBody>
      </p:sp>
      <p:sp>
        <p:nvSpPr>
          <p:cNvPr id="5" name="">
            <a:extLst xmlns:a="http://schemas.openxmlformats.org/drawingml/2006/main">
              <a:ext uri="{FF2B5EF4-FFF2-40B4-BE49-F238E27FC236}">
                <a16:creationId xmlns:a16="http://schemas.microsoft.com/office/drawing/2014/main" id="{1014D7CD-D628-4493-9B59-10E4F88D23CB}"/>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4</a:t>
            </a:r>
          </a:p>
        </p:txBody>
      </p:sp>
      <p:sp>
        <p:nvSpPr>
          <p:cNvPr id="6" name="">
            <a:extLst xmlns:a="http://schemas.openxmlformats.org/drawingml/2006/main">
              <a:ext uri="{FF2B5EF4-FFF2-40B4-BE49-F238E27FC236}">
                <a16:creationId xmlns:a16="http://schemas.microsoft.com/office/drawing/2014/main" id="{44E85C9B-B836-47F6-915C-E445ED458120}"/>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MAIN AND SPECIFIC OBJECTIVES</a:t>
            </a:r>
          </a:p>
        </p:txBody>
      </p:sp>
      <p:sp>
        <p:nvSpPr>
          <p:cNvPr id="7" name="">
            <a:extLst xmlns:a="http://schemas.openxmlformats.org/drawingml/2006/main">
              <a:ext uri="{FF2B5EF4-FFF2-40B4-BE49-F238E27FC236}">
                <a16:creationId xmlns:a16="http://schemas.microsoft.com/office/drawing/2014/main" id="{971E604B-30A4-4A8C-8469-9F82839CAEFB}"/>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Aim and objectives</a:t>
            </a:r>
          </a:p>
        </p:txBody>
      </p:sp>
      <p:sp>
        <p:nvSpPr>
          <p:cNvPr id="8" name="">
            <a:extLst xmlns:a="http://schemas.openxmlformats.org/drawingml/2006/main">
              <a:ext uri="{FF2B5EF4-FFF2-40B4-BE49-F238E27FC236}">
                <a16:creationId xmlns:a16="http://schemas.microsoft.com/office/drawing/2014/main" id="{B0D3A76A-6A18-4CBB-94C3-2D73A5EB011D}"/>
              </a:ext>
            </a:extLst>
          </p:cNvPr>
          <p:cNvSpPr>
            <a:spLocks xmlns:a="http://schemas.openxmlformats.org/drawingml/2006/main" noGrp="1"/>
          </p:cNvSpPr>
          <p:nvPr/>
        </p:nvSpPr>
        <p:spPr>
          <a:xfrm xmlns:a="http://schemas.openxmlformats.org/drawingml/2006/main">
            <a:off x="704850" y="1581150"/>
            <a:ext cx="10782300" cy="1066800"/>
          </a:xfrm>
          <a:prstGeom xmlns:a="http://schemas.openxmlformats.org/drawingml/2006/main" prst="rect">
            <a:avLst/>
          </a:prstGeom>
          <a:solidFill xmlns:a="http://schemas.openxmlformats.org/drawingml/2006/main">
            <a:srgbClr val="071D3B"/>
          </a:solidFill>
          <a:ln xmlns:a="http://schemas.openxmlformats.org/drawingml/2006/main" w="0">
            <a:solidFill>
              <a:srgbClr val="071D3B"/>
            </a:solidFill>
            <a:prstDash val="solid"/>
          </a:ln>
        </p:spPr>
      </p:sp>
      <p:sp>
        <p:nvSpPr>
          <p:cNvPr id="9" name="">
            <a:extLst xmlns:a="http://schemas.openxmlformats.org/drawingml/2006/main">
              <a:ext uri="{FF2B5EF4-FFF2-40B4-BE49-F238E27FC236}">
                <a16:creationId xmlns:a16="http://schemas.microsoft.com/office/drawing/2014/main" id="{291FDC18-AB7A-44A7-908E-CFB3772873DF}"/>
              </a:ext>
            </a:extLst>
          </p:cNvPr>
          <p:cNvSpPr>
            <a:spLocks xmlns:a="http://schemas.openxmlformats.org/drawingml/2006/main" noGrp="1"/>
          </p:cNvSpPr>
          <p:nvPr/>
        </p:nvSpPr>
        <p:spPr>
          <a:xfrm xmlns:a="http://schemas.openxmlformats.org/drawingml/2006/main">
            <a:off x="1028700" y="1866900"/>
            <a:ext cx="101346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a:ea typeface="Aptos"/>
                <a:cs typeface="Aptos"/>
              </a:defRPr>
            </a:pPr>
            <a:r>
              <a:rPr sz="1800" b="1">
                <a:solidFill>
                  <a:srgbClr val="FFFFFF"/>
                </a:solidFill>
                <a:latin typeface="Aptos"/>
                <a:ea typeface="Aptos"/>
                <a:cs typeface="Aptos"/>
              </a:rPr>
              <a:t>Main objective: design and evaluate a denoising-assisted automatic modulation classification pipeline for noisy GSM-family I/Q signals in rural Uganda weak-service scenarios.</a:t>
            </a:r>
          </a:p>
        </p:txBody>
      </p:sp>
      <p:sp>
        <p:nvSpPr>
          <p:cNvPr id="10" name="">
            <a:extLst xmlns:a="http://schemas.openxmlformats.org/drawingml/2006/main">
              <a:ext uri="{FF2B5EF4-FFF2-40B4-BE49-F238E27FC236}">
                <a16:creationId xmlns:a16="http://schemas.microsoft.com/office/drawing/2014/main" id="{E7FF2553-A866-454D-AFC7-DE6FF95643F0}"/>
              </a:ext>
            </a:extLst>
          </p:cNvPr>
          <p:cNvSpPr>
            <a:spLocks xmlns:a="http://schemas.openxmlformats.org/drawingml/2006/main" noGrp="1"/>
          </p:cNvSpPr>
          <p:nvPr/>
        </p:nvSpPr>
        <p:spPr>
          <a:xfrm xmlns:a="http://schemas.openxmlformats.org/drawingml/2006/main">
            <a:off x="952500" y="3124200"/>
            <a:ext cx="10287000" cy="26479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1" name="">
            <a:extLst xmlns:a="http://schemas.openxmlformats.org/drawingml/2006/main">
              <a:ext uri="{FF2B5EF4-FFF2-40B4-BE49-F238E27FC236}">
                <a16:creationId xmlns:a16="http://schemas.microsoft.com/office/drawing/2014/main" id="{490E74CB-1D16-4686-BB66-B8C70B2E5A79}"/>
              </a:ext>
            </a:extLst>
          </p:cNvPr>
          <p:cNvSpPr>
            <a:spLocks xmlns:a="http://schemas.openxmlformats.org/drawingml/2006/main" noGrp="1"/>
          </p:cNvSpPr>
          <p:nvPr/>
        </p:nvSpPr>
        <p:spPr>
          <a:xfrm xmlns:a="http://schemas.openxmlformats.org/drawingml/2006/main">
            <a:off x="952500" y="3124200"/>
            <a:ext cx="76200" cy="26479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B6BDE024-DB40-4635-872D-E3FF94417B74}"/>
              </a:ext>
            </a:extLst>
          </p:cNvPr>
          <p:cNvSpPr>
            <a:spLocks xmlns:a="http://schemas.openxmlformats.org/drawingml/2006/main" noGrp="1"/>
          </p:cNvSpPr>
          <p:nvPr/>
        </p:nvSpPr>
        <p:spPr>
          <a:xfrm xmlns:a="http://schemas.openxmlformats.org/drawingml/2006/main">
            <a:off x="1181100" y="3295650"/>
            <a:ext cx="9867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Specific objectives</a:t>
            </a:r>
          </a:p>
        </p:txBody>
      </p:sp>
      <p:sp>
        <p:nvSpPr>
          <p:cNvPr id="13" name="">
            <a:extLst xmlns:a="http://schemas.openxmlformats.org/drawingml/2006/main">
              <a:ext uri="{FF2B5EF4-FFF2-40B4-BE49-F238E27FC236}">
                <a16:creationId xmlns:a16="http://schemas.microsoft.com/office/drawing/2014/main" id="{17DD5B61-5B26-4D07-BB92-D89B8A8EB247}"/>
              </a:ext>
            </a:extLst>
          </p:cNvPr>
          <p:cNvSpPr>
            <a:spLocks xmlns:a="http://schemas.openxmlformats.org/drawingml/2006/main" noGrp="1"/>
          </p:cNvSpPr>
          <p:nvPr/>
        </p:nvSpPr>
        <p:spPr>
          <a:xfrm xmlns:a="http://schemas.openxmlformats.org/drawingml/2006/main">
            <a:off x="1200150" y="3676650"/>
            <a:ext cx="9810750" cy="1962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Define GSM-family low-SNR and interference scenarios for controlled evaluation (O'Shea et al., 2018).</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Design a denoising front end that reconstructs cleaner I/Q representations.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Train and evaluate an AMC stage on raw noisy and denoised signal features.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Compare baseline and denoising-assisted performance using accuracy, macro F1, confusion behavior, and signal plots (DeepSig, 2018).</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Interpret the findings for weak-service troubleshooting and rural connectivity planning.</a:t>
            </a:r>
          </a:p>
        </p:txBody>
      </p:sp>
    </p:spTree>
    <p:extLst>
      <p:ext uri="{BB962C8B-B14F-4D97-AF65-F5344CB8AC3E}">
        <p14:creationId xmlns:p14="http://schemas.microsoft.com/office/powerpoint/2010/main" val="167372419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2DC802-92E4-42A7-9AFB-15843F7B59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72D0D84-9417-49AD-87E0-924871131931}"/>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D06478C-8D8B-4B5A-9753-595D9595528D}"/>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90B731B-FF44-48C6-AD67-056343C92831}"/>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Justification, significance, and scope</a:t>
            </a:r>
          </a:p>
        </p:txBody>
      </p:sp>
      <p:sp>
        <p:nvSpPr>
          <p:cNvPr id="5" name="">
            <a:extLst xmlns:a="http://schemas.openxmlformats.org/drawingml/2006/main">
              <a:ext uri="{FF2B5EF4-FFF2-40B4-BE49-F238E27FC236}">
                <a16:creationId xmlns:a16="http://schemas.microsoft.com/office/drawing/2014/main" id="{603B9F34-564C-4844-83CC-8CAB773D3B6D}"/>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5</a:t>
            </a:r>
          </a:p>
        </p:txBody>
      </p:sp>
      <p:sp>
        <p:nvSpPr>
          <p:cNvPr id="6" name="">
            <a:extLst xmlns:a="http://schemas.openxmlformats.org/drawingml/2006/main">
              <a:ext uri="{FF2B5EF4-FFF2-40B4-BE49-F238E27FC236}">
                <a16:creationId xmlns:a16="http://schemas.microsoft.com/office/drawing/2014/main" id="{04A1D338-9C5C-4D4E-B037-7D2CC005132E}"/>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PROJECT VALUE AND BOUNDARIES</a:t>
            </a:r>
          </a:p>
        </p:txBody>
      </p:sp>
      <p:sp>
        <p:nvSpPr>
          <p:cNvPr id="7" name="">
            <a:extLst xmlns:a="http://schemas.openxmlformats.org/drawingml/2006/main">
              <a:ext uri="{FF2B5EF4-FFF2-40B4-BE49-F238E27FC236}">
                <a16:creationId xmlns:a16="http://schemas.microsoft.com/office/drawing/2014/main" id="{13F52F72-34CB-420D-8A82-CDF6995154F3}"/>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Justification, Significance and Scope of the Project</a:t>
            </a:r>
          </a:p>
        </p:txBody>
      </p:sp>
      <p:sp>
        <p:nvSpPr>
          <p:cNvPr id="8" name="">
            <a:extLst xmlns:a="http://schemas.openxmlformats.org/drawingml/2006/main">
              <a:ext uri="{FF2B5EF4-FFF2-40B4-BE49-F238E27FC236}">
                <a16:creationId xmlns:a16="http://schemas.microsoft.com/office/drawing/2014/main" id="{45D142E3-48BD-469A-BF24-D74C68EDDF79}"/>
              </a:ext>
            </a:extLst>
          </p:cNvPr>
          <p:cNvSpPr>
            <a:spLocks xmlns:a="http://schemas.openxmlformats.org/drawingml/2006/main" noGrp="1"/>
          </p:cNvSpPr>
          <p:nvPr/>
        </p:nvSpPr>
        <p:spPr>
          <a:xfrm xmlns:a="http://schemas.openxmlformats.org/drawingml/2006/main">
            <a:off x="666750" y="1638300"/>
            <a:ext cx="3429000" cy="26670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04D92500-05A3-49B7-8AC9-27594FED735B}"/>
              </a:ext>
            </a:extLst>
          </p:cNvPr>
          <p:cNvSpPr>
            <a:spLocks xmlns:a="http://schemas.openxmlformats.org/drawingml/2006/main" noGrp="1"/>
          </p:cNvSpPr>
          <p:nvPr/>
        </p:nvSpPr>
        <p:spPr>
          <a:xfrm xmlns:a="http://schemas.openxmlformats.org/drawingml/2006/main">
            <a:off x="666750" y="1638300"/>
            <a:ext cx="76200" cy="26670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C389D27-EB17-4D37-A0FD-558699701DEB}"/>
              </a:ext>
            </a:extLst>
          </p:cNvPr>
          <p:cNvSpPr>
            <a:spLocks xmlns:a="http://schemas.openxmlformats.org/drawingml/2006/main" noGrp="1"/>
          </p:cNvSpPr>
          <p:nvPr/>
        </p:nvSpPr>
        <p:spPr>
          <a:xfrm xmlns:a="http://schemas.openxmlformats.org/drawingml/2006/main">
            <a:off x="895350" y="18097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Justification</a:t>
            </a:r>
          </a:p>
        </p:txBody>
      </p:sp>
      <p:sp>
        <p:nvSpPr>
          <p:cNvPr id="11" name="">
            <a:extLst xmlns:a="http://schemas.openxmlformats.org/drawingml/2006/main">
              <a:ext uri="{FF2B5EF4-FFF2-40B4-BE49-F238E27FC236}">
                <a16:creationId xmlns:a16="http://schemas.microsoft.com/office/drawing/2014/main" id="{4AB4F02D-503C-4E43-9B94-7DC826B4D897}"/>
              </a:ext>
            </a:extLst>
          </p:cNvPr>
          <p:cNvSpPr>
            <a:spLocks xmlns:a="http://schemas.openxmlformats.org/drawingml/2006/main" noGrp="1"/>
          </p:cNvSpPr>
          <p:nvPr/>
        </p:nvSpPr>
        <p:spPr>
          <a:xfrm xmlns:a="http://schemas.openxmlformats.org/drawingml/2006/main">
            <a:off x="914400" y="2190750"/>
            <a:ext cx="2952750" cy="1981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Rural weak service is a practical problem for ordinary users and for network planning (Uganda Communications Commission, 2025).</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Denoising before classification gives a measurable way to test whether useful signal structure can be recovered.</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method is software-side and can be evaluated without transmitting or interfering with licensed networks.</a:t>
            </a:r>
          </a:p>
        </p:txBody>
      </p:sp>
      <p:sp>
        <p:nvSpPr>
          <p:cNvPr id="12" name="">
            <a:extLst xmlns:a="http://schemas.openxmlformats.org/drawingml/2006/main">
              <a:ext uri="{FF2B5EF4-FFF2-40B4-BE49-F238E27FC236}">
                <a16:creationId xmlns:a16="http://schemas.microsoft.com/office/drawing/2014/main" id="{71F9B235-D311-4F4E-85FF-AA2197A4E1C8}"/>
              </a:ext>
            </a:extLst>
          </p:cNvPr>
          <p:cNvSpPr>
            <a:spLocks xmlns:a="http://schemas.openxmlformats.org/drawingml/2006/main" noGrp="1"/>
          </p:cNvSpPr>
          <p:nvPr/>
        </p:nvSpPr>
        <p:spPr>
          <a:xfrm xmlns:a="http://schemas.openxmlformats.org/drawingml/2006/main">
            <a:off x="4381500" y="1638300"/>
            <a:ext cx="3429000" cy="26670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3" name="">
            <a:extLst xmlns:a="http://schemas.openxmlformats.org/drawingml/2006/main">
              <a:ext uri="{FF2B5EF4-FFF2-40B4-BE49-F238E27FC236}">
                <a16:creationId xmlns:a16="http://schemas.microsoft.com/office/drawing/2014/main" id="{357B03C6-45D9-44DD-A884-141D6E8C80B4}"/>
              </a:ext>
            </a:extLst>
          </p:cNvPr>
          <p:cNvSpPr>
            <a:spLocks xmlns:a="http://schemas.openxmlformats.org/drawingml/2006/main" noGrp="1"/>
          </p:cNvSpPr>
          <p:nvPr/>
        </p:nvSpPr>
        <p:spPr>
          <a:xfrm xmlns:a="http://schemas.openxmlformats.org/drawingml/2006/main">
            <a:off x="4381500" y="1638300"/>
            <a:ext cx="76200" cy="266700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E9CB077-1A5D-46DA-85D9-9FF5FFD4ECBD}"/>
              </a:ext>
            </a:extLst>
          </p:cNvPr>
          <p:cNvSpPr>
            <a:spLocks xmlns:a="http://schemas.openxmlformats.org/drawingml/2006/main" noGrp="1"/>
          </p:cNvSpPr>
          <p:nvPr/>
        </p:nvSpPr>
        <p:spPr>
          <a:xfrm xmlns:a="http://schemas.openxmlformats.org/drawingml/2006/main">
            <a:off x="4610100" y="18097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Significance</a:t>
            </a:r>
          </a:p>
        </p:txBody>
      </p:sp>
      <p:sp>
        <p:nvSpPr>
          <p:cNvPr id="15" name="">
            <a:extLst xmlns:a="http://schemas.openxmlformats.org/drawingml/2006/main">
              <a:ext uri="{FF2B5EF4-FFF2-40B4-BE49-F238E27FC236}">
                <a16:creationId xmlns:a16="http://schemas.microsoft.com/office/drawing/2014/main" id="{A1FF18D8-4847-4530-A324-5BD4DDAD5E22}"/>
              </a:ext>
            </a:extLst>
          </p:cNvPr>
          <p:cNvSpPr>
            <a:spLocks xmlns:a="http://schemas.openxmlformats.org/drawingml/2006/main" noGrp="1"/>
          </p:cNvSpPr>
          <p:nvPr/>
        </p:nvSpPr>
        <p:spPr>
          <a:xfrm xmlns:a="http://schemas.openxmlformats.org/drawingml/2006/main">
            <a:off x="4629150" y="2190750"/>
            <a:ext cx="2952750" cy="1981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Supports better interpretation of noisy edge-of-coverage signals (Uganda Communications Commission, 2022).</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Gives supervisors and reviewers visible before/after signal evidence.</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Creates a foundation for future Android/SDR receive-only prototype work (An &amp; Lee, 2023).</a:t>
            </a:r>
          </a:p>
        </p:txBody>
      </p:sp>
      <p:sp>
        <p:nvSpPr>
          <p:cNvPr id="16" name="">
            <a:extLst xmlns:a="http://schemas.openxmlformats.org/drawingml/2006/main">
              <a:ext uri="{FF2B5EF4-FFF2-40B4-BE49-F238E27FC236}">
                <a16:creationId xmlns:a16="http://schemas.microsoft.com/office/drawing/2014/main" id="{6D186E15-E58B-4A3B-A054-14634AE5A0F6}"/>
              </a:ext>
            </a:extLst>
          </p:cNvPr>
          <p:cNvSpPr>
            <a:spLocks xmlns:a="http://schemas.openxmlformats.org/drawingml/2006/main" noGrp="1"/>
          </p:cNvSpPr>
          <p:nvPr/>
        </p:nvSpPr>
        <p:spPr>
          <a:xfrm xmlns:a="http://schemas.openxmlformats.org/drawingml/2006/main">
            <a:off x="8096250" y="1638300"/>
            <a:ext cx="3429000" cy="26670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7" name="">
            <a:extLst xmlns:a="http://schemas.openxmlformats.org/drawingml/2006/main">
              <a:ext uri="{FF2B5EF4-FFF2-40B4-BE49-F238E27FC236}">
                <a16:creationId xmlns:a16="http://schemas.microsoft.com/office/drawing/2014/main" id="{4F130D91-39A6-4131-81E0-A846F2A515BD}"/>
              </a:ext>
            </a:extLst>
          </p:cNvPr>
          <p:cNvSpPr>
            <a:spLocks xmlns:a="http://schemas.openxmlformats.org/drawingml/2006/main" noGrp="1"/>
          </p:cNvSpPr>
          <p:nvPr/>
        </p:nvSpPr>
        <p:spPr>
          <a:xfrm xmlns:a="http://schemas.openxmlformats.org/drawingml/2006/main">
            <a:off x="8096250" y="1638300"/>
            <a:ext cx="76200" cy="2667000"/>
          </a:xfrm>
          <a:prstGeom xmlns:a="http://schemas.openxmlformats.org/drawingml/2006/main" prst="rect">
            <a:avLst/>
          </a:prstGeom>
          <a:solidFill xmlns:a="http://schemas.openxmlformats.org/drawingml/2006/main">
            <a:srgbClr val="E27A1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F0877B6-F8D0-45ED-8EE8-99524864D52A}"/>
              </a:ext>
            </a:extLst>
          </p:cNvPr>
          <p:cNvSpPr>
            <a:spLocks xmlns:a="http://schemas.openxmlformats.org/drawingml/2006/main" noGrp="1"/>
          </p:cNvSpPr>
          <p:nvPr/>
        </p:nvSpPr>
        <p:spPr>
          <a:xfrm xmlns:a="http://schemas.openxmlformats.org/drawingml/2006/main">
            <a:off x="8324850" y="1809750"/>
            <a:ext cx="3009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Scope</a:t>
            </a:r>
          </a:p>
        </p:txBody>
      </p:sp>
      <p:sp>
        <p:nvSpPr>
          <p:cNvPr id="19" name="">
            <a:extLst xmlns:a="http://schemas.openxmlformats.org/drawingml/2006/main">
              <a:ext uri="{FF2B5EF4-FFF2-40B4-BE49-F238E27FC236}">
                <a16:creationId xmlns:a16="http://schemas.microsoft.com/office/drawing/2014/main" id="{AEFCCE2D-1B58-43CE-935D-A2F6D650E340}"/>
              </a:ext>
            </a:extLst>
          </p:cNvPr>
          <p:cNvSpPr>
            <a:spLocks xmlns:a="http://schemas.openxmlformats.org/drawingml/2006/main" noGrp="1"/>
          </p:cNvSpPr>
          <p:nvPr/>
        </p:nvSpPr>
        <p:spPr>
          <a:xfrm xmlns:a="http://schemas.openxmlformats.org/drawingml/2006/main">
            <a:off x="8343900" y="2190750"/>
            <a:ext cx="2952750" cy="1981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Controlled simulation and offline I/Q evaluation.</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GSM-family/proxy modulation classes used for AMC validation.</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No claim of completed field deployment or live service improvement.</a:t>
            </a:r>
          </a:p>
        </p:txBody>
      </p:sp>
      <p:sp>
        <p:nvSpPr>
          <p:cNvPr id="20" name="">
            <a:extLst xmlns:a="http://schemas.openxmlformats.org/drawingml/2006/main">
              <a:ext uri="{FF2B5EF4-FFF2-40B4-BE49-F238E27FC236}">
                <a16:creationId xmlns:a16="http://schemas.microsoft.com/office/drawing/2014/main" id="{43CAEA16-D863-4C2D-BD72-74AF1990A3B1}"/>
              </a:ext>
            </a:extLst>
          </p:cNvPr>
          <p:cNvSpPr>
            <a:spLocks xmlns:a="http://schemas.openxmlformats.org/drawingml/2006/main" noGrp="1"/>
          </p:cNvSpPr>
          <p:nvPr/>
        </p:nvSpPr>
        <p:spPr>
          <a:xfrm xmlns:a="http://schemas.openxmlformats.org/drawingml/2006/main">
            <a:off x="1123950" y="476250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1" name="">
            <a:extLst xmlns:a="http://schemas.openxmlformats.org/drawingml/2006/main">
              <a:ext uri="{FF2B5EF4-FFF2-40B4-BE49-F238E27FC236}">
                <a16:creationId xmlns:a16="http://schemas.microsoft.com/office/drawing/2014/main" id="{0D426311-4276-4A3E-970D-ACCEA036619B}"/>
              </a:ext>
            </a:extLst>
          </p:cNvPr>
          <p:cNvSpPr>
            <a:spLocks xmlns:a="http://schemas.openxmlformats.org/drawingml/2006/main" noGrp="1"/>
          </p:cNvSpPr>
          <p:nvPr/>
        </p:nvSpPr>
        <p:spPr>
          <a:xfrm xmlns:a="http://schemas.openxmlformats.org/drawingml/2006/main">
            <a:off x="1123950" y="4762500"/>
            <a:ext cx="2857500" cy="7620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AE67EE5F-0FE3-4F59-89EA-648C496824C0}"/>
              </a:ext>
            </a:extLst>
          </p:cNvPr>
          <p:cNvSpPr>
            <a:spLocks xmlns:a="http://schemas.openxmlformats.org/drawingml/2006/main" noGrp="1"/>
          </p:cNvSpPr>
          <p:nvPr/>
        </p:nvSpPr>
        <p:spPr>
          <a:xfrm xmlns:a="http://schemas.openxmlformats.org/drawingml/2006/main">
            <a:off x="1295400" y="495300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Receive-only</a:t>
            </a:r>
          </a:p>
        </p:txBody>
      </p:sp>
      <p:sp>
        <p:nvSpPr>
          <p:cNvPr id="23" name="">
            <a:extLst xmlns:a="http://schemas.openxmlformats.org/drawingml/2006/main">
              <a:ext uri="{FF2B5EF4-FFF2-40B4-BE49-F238E27FC236}">
                <a16:creationId xmlns:a16="http://schemas.microsoft.com/office/drawing/2014/main" id="{CE92E83E-21B6-4FE8-8029-208CC18FBC03}"/>
              </a:ext>
            </a:extLst>
          </p:cNvPr>
          <p:cNvSpPr>
            <a:spLocks xmlns:a="http://schemas.openxmlformats.org/drawingml/2006/main" noGrp="1"/>
          </p:cNvSpPr>
          <p:nvPr/>
        </p:nvSpPr>
        <p:spPr>
          <a:xfrm xmlns:a="http://schemas.openxmlformats.org/drawingml/2006/main">
            <a:off x="1295400" y="537210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Safety boundary</a:t>
            </a:r>
          </a:p>
        </p:txBody>
      </p:sp>
      <p:sp>
        <p:nvSpPr>
          <p:cNvPr id="24" name="">
            <a:extLst xmlns:a="http://schemas.openxmlformats.org/drawingml/2006/main">
              <a:ext uri="{FF2B5EF4-FFF2-40B4-BE49-F238E27FC236}">
                <a16:creationId xmlns:a16="http://schemas.microsoft.com/office/drawing/2014/main" id="{6617569B-8965-4D1C-925F-D4900BB3A575}"/>
              </a:ext>
            </a:extLst>
          </p:cNvPr>
          <p:cNvSpPr>
            <a:spLocks xmlns:a="http://schemas.openxmlformats.org/drawingml/2006/main" noGrp="1"/>
          </p:cNvSpPr>
          <p:nvPr/>
        </p:nvSpPr>
        <p:spPr>
          <a:xfrm xmlns:a="http://schemas.openxmlformats.org/drawingml/2006/main">
            <a:off x="1295400" y="56578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The project does not transmit into licensed spectrum.</a:t>
            </a:r>
          </a:p>
        </p:txBody>
      </p:sp>
      <p:sp>
        <p:nvSpPr>
          <p:cNvPr id="25" name="">
            <a:extLst xmlns:a="http://schemas.openxmlformats.org/drawingml/2006/main">
              <a:ext uri="{FF2B5EF4-FFF2-40B4-BE49-F238E27FC236}">
                <a16:creationId xmlns:a16="http://schemas.microsoft.com/office/drawing/2014/main" id="{E4A6B90D-A7AF-4F32-8C5E-2F4D6D5D1265}"/>
              </a:ext>
            </a:extLst>
          </p:cNvPr>
          <p:cNvSpPr>
            <a:spLocks xmlns:a="http://schemas.openxmlformats.org/drawingml/2006/main" noGrp="1"/>
          </p:cNvSpPr>
          <p:nvPr/>
        </p:nvSpPr>
        <p:spPr>
          <a:xfrm xmlns:a="http://schemas.openxmlformats.org/drawingml/2006/main">
            <a:off x="4667250" y="476250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6" name="">
            <a:extLst xmlns:a="http://schemas.openxmlformats.org/drawingml/2006/main">
              <a:ext uri="{FF2B5EF4-FFF2-40B4-BE49-F238E27FC236}">
                <a16:creationId xmlns:a16="http://schemas.microsoft.com/office/drawing/2014/main" id="{14CD5A60-2AFB-4A2E-892B-4F72948DA08E}"/>
              </a:ext>
            </a:extLst>
          </p:cNvPr>
          <p:cNvSpPr>
            <a:spLocks xmlns:a="http://schemas.openxmlformats.org/drawingml/2006/main" noGrp="1"/>
          </p:cNvSpPr>
          <p:nvPr/>
        </p:nvSpPr>
        <p:spPr>
          <a:xfrm xmlns:a="http://schemas.openxmlformats.org/drawingml/2006/main">
            <a:off x="4667250" y="4762500"/>
            <a:ext cx="2857500" cy="762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8ECBF75-547C-4C32-986E-7427C41D6A97}"/>
              </a:ext>
            </a:extLst>
          </p:cNvPr>
          <p:cNvSpPr>
            <a:spLocks xmlns:a="http://schemas.openxmlformats.org/drawingml/2006/main" noGrp="1"/>
          </p:cNvSpPr>
          <p:nvPr/>
        </p:nvSpPr>
        <p:spPr>
          <a:xfrm xmlns:a="http://schemas.openxmlformats.org/drawingml/2006/main">
            <a:off x="4838700" y="495300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Offline first</a:t>
            </a:r>
          </a:p>
        </p:txBody>
      </p:sp>
      <p:sp>
        <p:nvSpPr>
          <p:cNvPr id="28" name="">
            <a:extLst xmlns:a="http://schemas.openxmlformats.org/drawingml/2006/main">
              <a:ext uri="{FF2B5EF4-FFF2-40B4-BE49-F238E27FC236}">
                <a16:creationId xmlns:a16="http://schemas.microsoft.com/office/drawing/2014/main" id="{95E31C44-6576-423E-83D1-C16774645465}"/>
              </a:ext>
            </a:extLst>
          </p:cNvPr>
          <p:cNvSpPr>
            <a:spLocks xmlns:a="http://schemas.openxmlformats.org/drawingml/2006/main" noGrp="1"/>
          </p:cNvSpPr>
          <p:nvPr/>
        </p:nvSpPr>
        <p:spPr>
          <a:xfrm xmlns:a="http://schemas.openxmlformats.org/drawingml/2006/main">
            <a:off x="4838700" y="537210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Evaluation boundary</a:t>
            </a:r>
          </a:p>
        </p:txBody>
      </p:sp>
      <p:sp>
        <p:nvSpPr>
          <p:cNvPr id="29" name="">
            <a:extLst xmlns:a="http://schemas.openxmlformats.org/drawingml/2006/main">
              <a:ext uri="{FF2B5EF4-FFF2-40B4-BE49-F238E27FC236}">
                <a16:creationId xmlns:a16="http://schemas.microsoft.com/office/drawing/2014/main" id="{6799F260-47D7-447C-8266-C962863D1E25}"/>
              </a:ext>
            </a:extLst>
          </p:cNvPr>
          <p:cNvSpPr>
            <a:spLocks xmlns:a="http://schemas.openxmlformats.org/drawingml/2006/main" noGrp="1"/>
          </p:cNvSpPr>
          <p:nvPr/>
        </p:nvSpPr>
        <p:spPr>
          <a:xfrm xmlns:a="http://schemas.openxmlformats.org/drawingml/2006/main">
            <a:off x="4838700" y="56578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The current results are controlled simulation outputs.</a:t>
            </a:r>
          </a:p>
        </p:txBody>
      </p:sp>
      <p:sp>
        <p:nvSpPr>
          <p:cNvPr id="30" name="">
            <a:extLst xmlns:a="http://schemas.openxmlformats.org/drawingml/2006/main">
              <a:ext uri="{FF2B5EF4-FFF2-40B4-BE49-F238E27FC236}">
                <a16:creationId xmlns:a16="http://schemas.microsoft.com/office/drawing/2014/main" id="{BD48D35C-424B-4EBC-8D1D-DD15F84574F6}"/>
              </a:ext>
            </a:extLst>
          </p:cNvPr>
          <p:cNvSpPr>
            <a:spLocks xmlns:a="http://schemas.openxmlformats.org/drawingml/2006/main" noGrp="1"/>
          </p:cNvSpPr>
          <p:nvPr/>
        </p:nvSpPr>
        <p:spPr>
          <a:xfrm xmlns:a="http://schemas.openxmlformats.org/drawingml/2006/main">
            <a:off x="8210550" y="4762500"/>
            <a:ext cx="28575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31" name="">
            <a:extLst xmlns:a="http://schemas.openxmlformats.org/drawingml/2006/main">
              <a:ext uri="{FF2B5EF4-FFF2-40B4-BE49-F238E27FC236}">
                <a16:creationId xmlns:a16="http://schemas.microsoft.com/office/drawing/2014/main" id="{C940B550-42AF-40C0-A035-327B3FBB9609}"/>
              </a:ext>
            </a:extLst>
          </p:cNvPr>
          <p:cNvSpPr>
            <a:spLocks xmlns:a="http://schemas.openxmlformats.org/drawingml/2006/main" noGrp="1"/>
          </p:cNvSpPr>
          <p:nvPr/>
        </p:nvSpPr>
        <p:spPr>
          <a:xfrm xmlns:a="http://schemas.openxmlformats.org/drawingml/2006/main">
            <a:off x="8210550" y="4762500"/>
            <a:ext cx="2857500" cy="7620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32" name="">
            <a:extLst xmlns:a="http://schemas.openxmlformats.org/drawingml/2006/main">
              <a:ext uri="{FF2B5EF4-FFF2-40B4-BE49-F238E27FC236}">
                <a16:creationId xmlns:a16="http://schemas.microsoft.com/office/drawing/2014/main" id="{A59F42D2-B03D-4F09-BCBD-2FC4D28A2E9B}"/>
              </a:ext>
            </a:extLst>
          </p:cNvPr>
          <p:cNvSpPr>
            <a:spLocks xmlns:a="http://schemas.openxmlformats.org/drawingml/2006/main" noGrp="1"/>
          </p:cNvSpPr>
          <p:nvPr/>
        </p:nvSpPr>
        <p:spPr>
          <a:xfrm xmlns:a="http://schemas.openxmlformats.org/drawingml/2006/main">
            <a:off x="8382000" y="495300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Prototype path</a:t>
            </a:r>
          </a:p>
        </p:txBody>
      </p:sp>
      <p:sp>
        <p:nvSpPr>
          <p:cNvPr id="33" name="">
            <a:extLst xmlns:a="http://schemas.openxmlformats.org/drawingml/2006/main">
              <a:ext uri="{FF2B5EF4-FFF2-40B4-BE49-F238E27FC236}">
                <a16:creationId xmlns:a16="http://schemas.microsoft.com/office/drawing/2014/main" id="{9DD263CD-42D4-46B6-BD73-5FE5199BA5FF}"/>
              </a:ext>
            </a:extLst>
          </p:cNvPr>
          <p:cNvSpPr>
            <a:spLocks xmlns:a="http://schemas.openxmlformats.org/drawingml/2006/main" noGrp="1"/>
          </p:cNvSpPr>
          <p:nvPr/>
        </p:nvSpPr>
        <p:spPr>
          <a:xfrm xmlns:a="http://schemas.openxmlformats.org/drawingml/2006/main">
            <a:off x="8382000" y="537210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Next step</a:t>
            </a:r>
          </a:p>
        </p:txBody>
      </p:sp>
      <p:sp>
        <p:nvSpPr>
          <p:cNvPr id="34" name="">
            <a:extLst xmlns:a="http://schemas.openxmlformats.org/drawingml/2006/main">
              <a:ext uri="{FF2B5EF4-FFF2-40B4-BE49-F238E27FC236}">
                <a16:creationId xmlns:a16="http://schemas.microsoft.com/office/drawing/2014/main" id="{035A91D3-16E5-4CFC-B5A8-CA71867154F4}"/>
              </a:ext>
            </a:extLst>
          </p:cNvPr>
          <p:cNvSpPr>
            <a:spLocks xmlns:a="http://schemas.openxmlformats.org/drawingml/2006/main" noGrp="1"/>
          </p:cNvSpPr>
          <p:nvPr/>
        </p:nvSpPr>
        <p:spPr>
          <a:xfrm xmlns:a="http://schemas.openxmlformats.org/drawingml/2006/main">
            <a:off x="8382000" y="56578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Android/SDR demonstration remains a future validation pathway.</a:t>
            </a:r>
          </a:p>
        </p:txBody>
      </p:sp>
    </p:spTree>
    <p:extLst>
      <p:ext uri="{BB962C8B-B14F-4D97-AF65-F5344CB8AC3E}">
        <p14:creationId xmlns:p14="http://schemas.microsoft.com/office/powerpoint/2010/main" val="176319859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38EA244-D88D-4D3C-B96D-A4B7F0F237B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6860EB-B029-4734-A9B8-87CF4A7F155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08785DE-72F9-4E8D-B641-E644D697FAA4}"/>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E5C1996-2593-48E0-9DFD-3461F35E92F3}"/>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Literature review</a:t>
            </a:r>
          </a:p>
        </p:txBody>
      </p:sp>
      <p:sp>
        <p:nvSpPr>
          <p:cNvPr id="5" name="">
            <a:extLst xmlns:a="http://schemas.openxmlformats.org/drawingml/2006/main">
              <a:ext uri="{FF2B5EF4-FFF2-40B4-BE49-F238E27FC236}">
                <a16:creationId xmlns:a16="http://schemas.microsoft.com/office/drawing/2014/main" id="{D9EF91E7-9285-4486-94D8-1373FDC967EB}"/>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6</a:t>
            </a:r>
          </a:p>
        </p:txBody>
      </p:sp>
      <p:sp>
        <p:nvSpPr>
          <p:cNvPr id="6" name="">
            <a:extLst xmlns:a="http://schemas.openxmlformats.org/drawingml/2006/main">
              <a:ext uri="{FF2B5EF4-FFF2-40B4-BE49-F238E27FC236}">
                <a16:creationId xmlns:a16="http://schemas.microsoft.com/office/drawing/2014/main" id="{C117A146-C167-4D78-A75C-7A5B84B3602F}"/>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EVIDENCE BASE</a:t>
            </a:r>
          </a:p>
        </p:txBody>
      </p:sp>
      <p:sp>
        <p:nvSpPr>
          <p:cNvPr id="7" name="">
            <a:extLst xmlns:a="http://schemas.openxmlformats.org/drawingml/2006/main">
              <a:ext uri="{FF2B5EF4-FFF2-40B4-BE49-F238E27FC236}">
                <a16:creationId xmlns:a16="http://schemas.microsoft.com/office/drawing/2014/main" id="{AE63EF54-F70E-45F5-B47F-EE6AF6BCDB39}"/>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Literature Review</a:t>
            </a:r>
          </a:p>
        </p:txBody>
      </p:sp>
      <p:sp>
        <p:nvSpPr>
          <p:cNvPr id="8" name="">
            <a:extLst xmlns:a="http://schemas.openxmlformats.org/drawingml/2006/main">
              <a:ext uri="{FF2B5EF4-FFF2-40B4-BE49-F238E27FC236}">
                <a16:creationId xmlns:a16="http://schemas.microsoft.com/office/drawing/2014/main" id="{EDAEEA06-1834-4F96-8B4C-AAF4940FD22E}"/>
              </a:ext>
            </a:extLst>
          </p:cNvPr>
          <p:cNvSpPr>
            <a:spLocks xmlns:a="http://schemas.openxmlformats.org/drawingml/2006/main" noGrp="1"/>
          </p:cNvSpPr>
          <p:nvPr/>
        </p:nvSpPr>
        <p:spPr>
          <a:xfrm xmlns:a="http://schemas.openxmlformats.org/drawingml/2006/main">
            <a:off x="666750" y="1638300"/>
            <a:ext cx="3381375"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2C006B61-A201-4B21-BB88-6D6B1582928E}"/>
              </a:ext>
            </a:extLst>
          </p:cNvPr>
          <p:cNvSpPr>
            <a:spLocks xmlns:a="http://schemas.openxmlformats.org/drawingml/2006/main" noGrp="1"/>
          </p:cNvSpPr>
          <p:nvPr/>
        </p:nvSpPr>
        <p:spPr>
          <a:xfrm xmlns:a="http://schemas.openxmlformats.org/drawingml/2006/main">
            <a:off x="666750" y="1638300"/>
            <a:ext cx="76200" cy="31432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9DFA4CB-D6D8-4D0E-AEA6-B8B1F63AEA5A}"/>
              </a:ext>
            </a:extLst>
          </p:cNvPr>
          <p:cNvSpPr>
            <a:spLocks xmlns:a="http://schemas.openxmlformats.org/drawingml/2006/main" noGrp="1"/>
          </p:cNvSpPr>
          <p:nvPr/>
        </p:nvSpPr>
        <p:spPr>
          <a:xfrm xmlns:a="http://schemas.openxmlformats.org/drawingml/2006/main">
            <a:off x="895350" y="1809750"/>
            <a:ext cx="29622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Classical AMC</a:t>
            </a:r>
          </a:p>
        </p:txBody>
      </p:sp>
      <p:sp>
        <p:nvSpPr>
          <p:cNvPr id="11" name="">
            <a:extLst xmlns:a="http://schemas.openxmlformats.org/drawingml/2006/main">
              <a:ext uri="{FF2B5EF4-FFF2-40B4-BE49-F238E27FC236}">
                <a16:creationId xmlns:a16="http://schemas.microsoft.com/office/drawing/2014/main" id="{E336015D-CF38-4C4C-A235-368F302F24F0}"/>
              </a:ext>
            </a:extLst>
          </p:cNvPr>
          <p:cNvSpPr>
            <a:spLocks xmlns:a="http://schemas.openxmlformats.org/drawingml/2006/main" noGrp="1"/>
          </p:cNvSpPr>
          <p:nvPr/>
        </p:nvSpPr>
        <p:spPr>
          <a:xfrm xmlns:a="http://schemas.openxmlformats.org/drawingml/2006/main">
            <a:off x="914400" y="2190750"/>
            <a:ext cx="2905125" cy="2457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Uses likelihood rules, moments, cyclostationary features, and engineered descriptors.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Can be interpretable, but becomes fragile when assumptions about noise and channel conditions break.</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Useful as a baseline for explaining what the ML pipeline improves (O'Shea et al., 2018).</a:t>
            </a:r>
          </a:p>
        </p:txBody>
      </p:sp>
      <p:sp>
        <p:nvSpPr>
          <p:cNvPr id="12" name="">
            <a:extLst xmlns:a="http://schemas.openxmlformats.org/drawingml/2006/main">
              <a:ext uri="{FF2B5EF4-FFF2-40B4-BE49-F238E27FC236}">
                <a16:creationId xmlns:a16="http://schemas.microsoft.com/office/drawing/2014/main" id="{E1A9AC54-C392-451D-AF9C-F87F350B5340}"/>
              </a:ext>
            </a:extLst>
          </p:cNvPr>
          <p:cNvSpPr>
            <a:spLocks xmlns:a="http://schemas.openxmlformats.org/drawingml/2006/main" noGrp="1"/>
          </p:cNvSpPr>
          <p:nvPr/>
        </p:nvSpPr>
        <p:spPr>
          <a:xfrm xmlns:a="http://schemas.openxmlformats.org/drawingml/2006/main">
            <a:off x="4400550" y="1638300"/>
            <a:ext cx="3381375"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3" name="">
            <a:extLst xmlns:a="http://schemas.openxmlformats.org/drawingml/2006/main">
              <a:ext uri="{FF2B5EF4-FFF2-40B4-BE49-F238E27FC236}">
                <a16:creationId xmlns:a16="http://schemas.microsoft.com/office/drawing/2014/main" id="{D4517606-0D67-4DD7-A315-3009159E1472}"/>
              </a:ext>
            </a:extLst>
          </p:cNvPr>
          <p:cNvSpPr>
            <a:spLocks xmlns:a="http://schemas.openxmlformats.org/drawingml/2006/main" noGrp="1"/>
          </p:cNvSpPr>
          <p:nvPr/>
        </p:nvSpPr>
        <p:spPr>
          <a:xfrm xmlns:a="http://schemas.openxmlformats.org/drawingml/2006/main">
            <a:off x="4400550" y="1638300"/>
            <a:ext cx="76200" cy="314325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603DC63-6E1A-4812-8883-768430C2C7B4}"/>
              </a:ext>
            </a:extLst>
          </p:cNvPr>
          <p:cNvSpPr>
            <a:spLocks xmlns:a="http://schemas.openxmlformats.org/drawingml/2006/main" noGrp="1"/>
          </p:cNvSpPr>
          <p:nvPr/>
        </p:nvSpPr>
        <p:spPr>
          <a:xfrm xmlns:a="http://schemas.openxmlformats.org/drawingml/2006/main">
            <a:off x="4629150" y="1809750"/>
            <a:ext cx="29622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Deep-learning AMC</a:t>
            </a:r>
          </a:p>
        </p:txBody>
      </p:sp>
      <p:sp>
        <p:nvSpPr>
          <p:cNvPr id="15" name="">
            <a:extLst xmlns:a="http://schemas.openxmlformats.org/drawingml/2006/main">
              <a:ext uri="{FF2B5EF4-FFF2-40B4-BE49-F238E27FC236}">
                <a16:creationId xmlns:a16="http://schemas.microsoft.com/office/drawing/2014/main" id="{929CCD3A-F4AD-4C0D-A972-464225A16DB3}"/>
              </a:ext>
            </a:extLst>
          </p:cNvPr>
          <p:cNvSpPr>
            <a:spLocks xmlns:a="http://schemas.openxmlformats.org/drawingml/2006/main" noGrp="1"/>
          </p:cNvSpPr>
          <p:nvPr/>
        </p:nvSpPr>
        <p:spPr>
          <a:xfrm xmlns:a="http://schemas.openxmlformats.org/drawingml/2006/main">
            <a:off x="4648200" y="2190750"/>
            <a:ext cx="2905125" cy="2457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Learns discriminative patterns directly from raw or transformed I/Q samples (O'Shea et al., 2018).</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Modern CNN and sequence models perform well when trained on representative SNR conditions.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Performance still drops when signal structure is buried under low-SNR and interference.</a:t>
            </a:r>
          </a:p>
        </p:txBody>
      </p:sp>
      <p:sp>
        <p:nvSpPr>
          <p:cNvPr id="16" name="">
            <a:extLst xmlns:a="http://schemas.openxmlformats.org/drawingml/2006/main">
              <a:ext uri="{FF2B5EF4-FFF2-40B4-BE49-F238E27FC236}">
                <a16:creationId xmlns:a16="http://schemas.microsoft.com/office/drawing/2014/main" id="{163C62BF-AB4F-4231-8D74-B82CAEF27C48}"/>
              </a:ext>
            </a:extLst>
          </p:cNvPr>
          <p:cNvSpPr>
            <a:spLocks xmlns:a="http://schemas.openxmlformats.org/drawingml/2006/main" noGrp="1"/>
          </p:cNvSpPr>
          <p:nvPr/>
        </p:nvSpPr>
        <p:spPr>
          <a:xfrm xmlns:a="http://schemas.openxmlformats.org/drawingml/2006/main">
            <a:off x="8143875" y="1638300"/>
            <a:ext cx="3381375" cy="3143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7" name="">
            <a:extLst xmlns:a="http://schemas.openxmlformats.org/drawingml/2006/main">
              <a:ext uri="{FF2B5EF4-FFF2-40B4-BE49-F238E27FC236}">
                <a16:creationId xmlns:a16="http://schemas.microsoft.com/office/drawing/2014/main" id="{AD500F7F-0572-4C10-B56E-7DF16221A8D3}"/>
              </a:ext>
            </a:extLst>
          </p:cNvPr>
          <p:cNvSpPr>
            <a:spLocks xmlns:a="http://schemas.openxmlformats.org/drawingml/2006/main" noGrp="1"/>
          </p:cNvSpPr>
          <p:nvPr/>
        </p:nvSpPr>
        <p:spPr>
          <a:xfrm xmlns:a="http://schemas.openxmlformats.org/drawingml/2006/main">
            <a:off x="8143875" y="1638300"/>
            <a:ext cx="76200" cy="31432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6FD1660-0838-487F-AA9E-3F8F55CAD26C}"/>
              </a:ext>
            </a:extLst>
          </p:cNvPr>
          <p:cNvSpPr>
            <a:spLocks xmlns:a="http://schemas.openxmlformats.org/drawingml/2006/main" noGrp="1"/>
          </p:cNvSpPr>
          <p:nvPr/>
        </p:nvSpPr>
        <p:spPr>
          <a:xfrm xmlns:a="http://schemas.openxmlformats.org/drawingml/2006/main">
            <a:off x="8372475" y="1809750"/>
            <a:ext cx="29622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Denoising front ends</a:t>
            </a:r>
          </a:p>
        </p:txBody>
      </p:sp>
      <p:sp>
        <p:nvSpPr>
          <p:cNvPr id="19" name="">
            <a:extLst xmlns:a="http://schemas.openxmlformats.org/drawingml/2006/main">
              <a:ext uri="{FF2B5EF4-FFF2-40B4-BE49-F238E27FC236}">
                <a16:creationId xmlns:a16="http://schemas.microsoft.com/office/drawing/2014/main" id="{0A580B0A-A158-41A8-B6D4-277FD544F9F7}"/>
              </a:ext>
            </a:extLst>
          </p:cNvPr>
          <p:cNvSpPr>
            <a:spLocks xmlns:a="http://schemas.openxmlformats.org/drawingml/2006/main" noGrp="1"/>
          </p:cNvSpPr>
          <p:nvPr/>
        </p:nvSpPr>
        <p:spPr>
          <a:xfrm xmlns:a="http://schemas.openxmlformats.org/drawingml/2006/main">
            <a:off x="8391525" y="2190750"/>
            <a:ext cx="2905125" cy="2457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Denoising autoencoders and related methods reconstruct cleaner signals before downstream tasks (An &amp; Lee, 2023).</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key research question is not only whether the signal looks cleaner, but whether classification improves.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This project evaluates denoising as a preprocessing block for AMC under weak-service conditions.</a:t>
            </a:r>
          </a:p>
        </p:txBody>
      </p:sp>
      <p:sp>
        <p:nvSpPr>
          <p:cNvPr id="20" name="">
            <a:extLst xmlns:a="http://schemas.openxmlformats.org/drawingml/2006/main">
              <a:ext uri="{FF2B5EF4-FFF2-40B4-BE49-F238E27FC236}">
                <a16:creationId xmlns:a16="http://schemas.microsoft.com/office/drawing/2014/main" id="{0EB00580-EE99-427A-96AE-31B5E2B7315E}"/>
              </a:ext>
            </a:extLst>
          </p:cNvPr>
          <p:cNvSpPr>
            <a:spLocks xmlns:a="http://schemas.openxmlformats.org/drawingml/2006/main" noGrp="1"/>
          </p:cNvSpPr>
          <p:nvPr/>
        </p:nvSpPr>
        <p:spPr>
          <a:xfrm xmlns:a="http://schemas.openxmlformats.org/drawingml/2006/main">
            <a:off x="1428750" y="5143500"/>
            <a:ext cx="9334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1" name="">
            <a:extLst xmlns:a="http://schemas.openxmlformats.org/drawingml/2006/main">
              <a:ext uri="{FF2B5EF4-FFF2-40B4-BE49-F238E27FC236}">
                <a16:creationId xmlns:a16="http://schemas.microsoft.com/office/drawing/2014/main" id="{4F5EBE41-F171-480F-9C47-A59B2131551E}"/>
              </a:ext>
            </a:extLst>
          </p:cNvPr>
          <p:cNvSpPr>
            <a:spLocks xmlns:a="http://schemas.openxmlformats.org/drawingml/2006/main" noGrp="1"/>
          </p:cNvSpPr>
          <p:nvPr/>
        </p:nvSpPr>
        <p:spPr>
          <a:xfrm xmlns:a="http://schemas.openxmlformats.org/drawingml/2006/main">
            <a:off x="1714500" y="5334000"/>
            <a:ext cx="8763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071D3B"/>
                </a:solidFill>
                <a:latin typeface="Aptos"/>
                <a:ea typeface="Aptos"/>
                <a:cs typeface="Aptos"/>
              </a:defRPr>
            </a:pPr>
            <a:r>
              <a:rPr sz="1650" b="1">
                <a:solidFill>
                  <a:srgbClr val="071D3B"/>
                </a:solidFill>
                <a:latin typeface="Aptos"/>
                <a:ea typeface="Aptos"/>
                <a:cs typeface="Aptos"/>
              </a:rPr>
              <a:t>Gap: few student-level implementations connect denoising, AMC metrics, and rural GSM weak-service interpretation in one reproducible pipeline.</a:t>
            </a:r>
          </a:p>
        </p:txBody>
      </p:sp>
    </p:spTree>
    <p:extLst>
      <p:ext uri="{BB962C8B-B14F-4D97-AF65-F5344CB8AC3E}">
        <p14:creationId xmlns:p14="http://schemas.microsoft.com/office/powerpoint/2010/main" val="97574716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2A1DCF-B397-4C43-8B0B-B7D4525BA30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8BF6D2E-C969-4970-85DB-4B41DD9D36A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615D054-3EBF-491C-9993-FD3C4D305F27}"/>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493BB69-442A-49BB-9604-0FA23824A999}"/>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Methodology</a:t>
            </a:r>
          </a:p>
        </p:txBody>
      </p:sp>
      <p:sp>
        <p:nvSpPr>
          <p:cNvPr id="5" name="">
            <a:extLst xmlns:a="http://schemas.openxmlformats.org/drawingml/2006/main">
              <a:ext uri="{FF2B5EF4-FFF2-40B4-BE49-F238E27FC236}">
                <a16:creationId xmlns:a16="http://schemas.microsoft.com/office/drawing/2014/main" id="{0057FCE9-D1CD-4B2F-AD61-921DE1438CA7}"/>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7</a:t>
            </a:r>
          </a:p>
        </p:txBody>
      </p:sp>
      <p:sp>
        <p:nvSpPr>
          <p:cNvPr id="6" name="">
            <a:extLst xmlns:a="http://schemas.openxmlformats.org/drawingml/2006/main">
              <a:ext uri="{FF2B5EF4-FFF2-40B4-BE49-F238E27FC236}">
                <a16:creationId xmlns:a16="http://schemas.microsoft.com/office/drawing/2014/main" id="{721E9513-18A6-4948-94A0-A6F4000E3A32}"/>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DENOISING-ASSISTED AMC SIGNAL CHAIN</a:t>
            </a:r>
          </a:p>
        </p:txBody>
      </p:sp>
      <p:sp>
        <p:nvSpPr>
          <p:cNvPr id="7" name="">
            <a:extLst xmlns:a="http://schemas.openxmlformats.org/drawingml/2006/main">
              <a:ext uri="{FF2B5EF4-FFF2-40B4-BE49-F238E27FC236}">
                <a16:creationId xmlns:a16="http://schemas.microsoft.com/office/drawing/2014/main" id="{2F0D92E7-098E-46CD-8A66-80E9C1F7EC00}"/>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Methodology</a:t>
            </a:r>
          </a:p>
        </p:txBody>
      </p:sp>
      <p:sp>
        <p:nvSpPr>
          <p:cNvPr id="8" name="">
            <a:extLst xmlns:a="http://schemas.openxmlformats.org/drawingml/2006/main">
              <a:ext uri="{FF2B5EF4-FFF2-40B4-BE49-F238E27FC236}">
                <a16:creationId xmlns:a16="http://schemas.microsoft.com/office/drawing/2014/main" id="{03FAEB3E-6353-4E6A-990E-A0FAA2BE0DA8}"/>
              </a:ext>
            </a:extLst>
          </p:cNvPr>
          <p:cNvSpPr>
            <a:spLocks xmlns:a="http://schemas.openxmlformats.org/drawingml/2006/main" noGrp="1"/>
          </p:cNvSpPr>
          <p:nvPr/>
        </p:nvSpPr>
        <p:spPr>
          <a:xfrm xmlns:a="http://schemas.openxmlformats.org/drawingml/2006/main">
            <a:off x="552450" y="2114550"/>
            <a:ext cx="16954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7AF3B0EC-F9FE-4CE1-A497-730625DF2B5E}"/>
              </a:ext>
            </a:extLst>
          </p:cNvPr>
          <p:cNvSpPr>
            <a:spLocks xmlns:a="http://schemas.openxmlformats.org/drawingml/2006/main" noGrp="1"/>
          </p:cNvSpPr>
          <p:nvPr/>
        </p:nvSpPr>
        <p:spPr>
          <a:xfrm xmlns:a="http://schemas.openxmlformats.org/drawingml/2006/main">
            <a:off x="685800" y="2266950"/>
            <a:ext cx="323850" cy="3238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12D1017-BB48-46E3-8038-C72E7713BD7E}"/>
              </a:ext>
            </a:extLst>
          </p:cNvPr>
          <p:cNvSpPr>
            <a:spLocks xmlns:a="http://schemas.openxmlformats.org/drawingml/2006/main" noGrp="1"/>
          </p:cNvSpPr>
          <p:nvPr/>
        </p:nvSpPr>
        <p:spPr>
          <a:xfrm xmlns:a="http://schemas.openxmlformats.org/drawingml/2006/main">
            <a:off x="685800" y="2295525"/>
            <a:ext cx="323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4C4E970C-FA80-4ED4-B6C4-4A6EA499608F}"/>
              </a:ext>
            </a:extLst>
          </p:cNvPr>
          <p:cNvSpPr>
            <a:spLocks xmlns:a="http://schemas.openxmlformats.org/drawingml/2006/main" noGrp="1"/>
          </p:cNvSpPr>
          <p:nvPr/>
        </p:nvSpPr>
        <p:spPr>
          <a:xfrm xmlns:a="http://schemas.openxmlformats.org/drawingml/2006/main">
            <a:off x="1104900" y="2247900"/>
            <a:ext cx="1028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D3B"/>
                </a:solidFill>
                <a:latin typeface="Aptos"/>
                <a:ea typeface="Aptos"/>
                <a:cs typeface="Aptos"/>
              </a:defRPr>
            </a:pPr>
            <a:r>
              <a:rPr sz="1350" b="1">
                <a:solidFill>
                  <a:srgbClr val="071D3B"/>
                </a:solidFill>
                <a:latin typeface="Aptos"/>
                <a:ea typeface="Aptos"/>
                <a:cs typeface="Aptos"/>
              </a:rPr>
              <a:t>I/Q source</a:t>
            </a:r>
          </a:p>
        </p:txBody>
      </p:sp>
      <p:sp>
        <p:nvSpPr>
          <p:cNvPr id="12" name="">
            <a:extLst xmlns:a="http://schemas.openxmlformats.org/drawingml/2006/main">
              <a:ext uri="{FF2B5EF4-FFF2-40B4-BE49-F238E27FC236}">
                <a16:creationId xmlns:a16="http://schemas.microsoft.com/office/drawing/2014/main" id="{F1E1957B-F1E6-407B-8FB0-D4EBB891DE87}"/>
              </a:ext>
            </a:extLst>
          </p:cNvPr>
          <p:cNvSpPr>
            <a:spLocks xmlns:a="http://schemas.openxmlformats.org/drawingml/2006/main" noGrp="1"/>
          </p:cNvSpPr>
          <p:nvPr/>
        </p:nvSpPr>
        <p:spPr>
          <a:xfrm xmlns:a="http://schemas.openxmlformats.org/drawingml/2006/main">
            <a:off x="723900" y="2705100"/>
            <a:ext cx="1352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02033"/>
                </a:solidFill>
                <a:latin typeface="Aptos"/>
                <a:ea typeface="Aptos"/>
                <a:cs typeface="Aptos"/>
              </a:defRPr>
            </a:pPr>
            <a:r>
              <a:rPr sz="1050" b="0">
                <a:solidFill>
                  <a:srgbClr val="102033"/>
                </a:solidFill>
                <a:latin typeface="Aptos"/>
                <a:ea typeface="Aptos"/>
                <a:cs typeface="Aptos"/>
              </a:rPr>
              <a:t>Synthetic GSM-family or public I/Q windows (DeepSig, 2018).</a:t>
            </a:r>
          </a:p>
        </p:txBody>
      </p:sp>
      <p:sp>
        <p:nvSpPr>
          <p:cNvPr id="13" name="">
            <a:extLst xmlns:a="http://schemas.openxmlformats.org/drawingml/2006/main">
              <a:ext uri="{FF2B5EF4-FFF2-40B4-BE49-F238E27FC236}">
                <a16:creationId xmlns:a16="http://schemas.microsoft.com/office/drawing/2014/main" id="{39996602-E834-4F37-91A2-CE3484B51D1A}"/>
              </a:ext>
            </a:extLst>
          </p:cNvPr>
          <p:cNvSpPr>
            <a:spLocks xmlns:a="http://schemas.openxmlformats.org/drawingml/2006/main" noGrp="1"/>
          </p:cNvSpPr>
          <p:nvPr/>
        </p:nvSpPr>
        <p:spPr>
          <a:xfrm xmlns:a="http://schemas.openxmlformats.org/drawingml/2006/main">
            <a:off x="2305050" y="2514600"/>
            <a:ext cx="3238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071D3B"/>
                </a:solidFill>
                <a:latin typeface="Aptos"/>
                <a:ea typeface="Aptos"/>
                <a:cs typeface="Aptos"/>
              </a:defRPr>
            </a:pPr>
            <a:r>
              <a:rPr sz="2400" b="1">
                <a:solidFill>
                  <a:srgbClr val="071D3B"/>
                </a:solidFill>
                <a:latin typeface="Aptos"/>
                <a:ea typeface="Aptos"/>
                <a:cs typeface="Aptos"/>
              </a:rPr>
              <a:t>→</a:t>
            </a:r>
          </a:p>
        </p:txBody>
      </p:sp>
      <p:sp>
        <p:nvSpPr>
          <p:cNvPr id="14" name="">
            <a:extLst xmlns:a="http://schemas.openxmlformats.org/drawingml/2006/main">
              <a:ext uri="{FF2B5EF4-FFF2-40B4-BE49-F238E27FC236}">
                <a16:creationId xmlns:a16="http://schemas.microsoft.com/office/drawing/2014/main" id="{579E4D2C-93AE-4CF9-903C-928FBF8C9EF1}"/>
              </a:ext>
            </a:extLst>
          </p:cNvPr>
          <p:cNvSpPr>
            <a:spLocks xmlns:a="http://schemas.openxmlformats.org/drawingml/2006/main" noGrp="1"/>
          </p:cNvSpPr>
          <p:nvPr/>
        </p:nvSpPr>
        <p:spPr>
          <a:xfrm xmlns:a="http://schemas.openxmlformats.org/drawingml/2006/main">
            <a:off x="2686050" y="2114550"/>
            <a:ext cx="18097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5" name="">
            <a:extLst xmlns:a="http://schemas.openxmlformats.org/drawingml/2006/main">
              <a:ext uri="{FF2B5EF4-FFF2-40B4-BE49-F238E27FC236}">
                <a16:creationId xmlns:a16="http://schemas.microsoft.com/office/drawing/2014/main" id="{0B177237-3CFA-4522-BED0-29C8617AE99E}"/>
              </a:ext>
            </a:extLst>
          </p:cNvPr>
          <p:cNvSpPr>
            <a:spLocks xmlns:a="http://schemas.openxmlformats.org/drawingml/2006/main" noGrp="1"/>
          </p:cNvSpPr>
          <p:nvPr/>
        </p:nvSpPr>
        <p:spPr>
          <a:xfrm xmlns:a="http://schemas.openxmlformats.org/drawingml/2006/main">
            <a:off x="2819400" y="2266950"/>
            <a:ext cx="323850" cy="323850"/>
          </a:xfrm>
          <a:prstGeom xmlns:a="http://schemas.openxmlformats.org/drawingml/2006/main" prst="rect">
            <a:avLst/>
          </a:prstGeom>
          <a:solidFill xmlns:a="http://schemas.openxmlformats.org/drawingml/2006/main">
            <a:srgbClr val="E27A1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07516667-B3C1-4E02-8FD3-34BF9BA50F27}"/>
              </a:ext>
            </a:extLst>
          </p:cNvPr>
          <p:cNvSpPr>
            <a:spLocks xmlns:a="http://schemas.openxmlformats.org/drawingml/2006/main" noGrp="1"/>
          </p:cNvSpPr>
          <p:nvPr/>
        </p:nvSpPr>
        <p:spPr>
          <a:xfrm xmlns:a="http://schemas.openxmlformats.org/drawingml/2006/main">
            <a:off x="2819400" y="2295525"/>
            <a:ext cx="323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2</a:t>
            </a:r>
          </a:p>
        </p:txBody>
      </p:sp>
      <p:sp>
        <p:nvSpPr>
          <p:cNvPr id="17" name="">
            <a:extLst xmlns:a="http://schemas.openxmlformats.org/drawingml/2006/main">
              <a:ext uri="{FF2B5EF4-FFF2-40B4-BE49-F238E27FC236}">
                <a16:creationId xmlns:a16="http://schemas.microsoft.com/office/drawing/2014/main" id="{7E7AD918-D815-42F3-A97F-AA82EC034918}"/>
              </a:ext>
            </a:extLst>
          </p:cNvPr>
          <p:cNvSpPr>
            <a:spLocks xmlns:a="http://schemas.openxmlformats.org/drawingml/2006/main" noGrp="1"/>
          </p:cNvSpPr>
          <p:nvPr/>
        </p:nvSpPr>
        <p:spPr>
          <a:xfrm xmlns:a="http://schemas.openxmlformats.org/drawingml/2006/main">
            <a:off x="3238500" y="2247900"/>
            <a:ext cx="1143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D3B"/>
                </a:solidFill>
                <a:latin typeface="Aptos"/>
                <a:ea typeface="Aptos"/>
                <a:cs typeface="Aptos"/>
              </a:defRPr>
            </a:pPr>
            <a:r>
              <a:rPr sz="1350" b="1">
                <a:solidFill>
                  <a:srgbClr val="071D3B"/>
                </a:solidFill>
                <a:latin typeface="Aptos"/>
                <a:ea typeface="Aptos"/>
                <a:cs typeface="Aptos"/>
              </a:rPr>
              <a:t>Impairment</a:t>
            </a:r>
          </a:p>
        </p:txBody>
      </p:sp>
      <p:sp>
        <p:nvSpPr>
          <p:cNvPr id="18" name="">
            <a:extLst xmlns:a="http://schemas.openxmlformats.org/drawingml/2006/main">
              <a:ext uri="{FF2B5EF4-FFF2-40B4-BE49-F238E27FC236}">
                <a16:creationId xmlns:a16="http://schemas.microsoft.com/office/drawing/2014/main" id="{92AA8D76-A43B-4EEA-9240-6F16C2D78879}"/>
              </a:ext>
            </a:extLst>
          </p:cNvPr>
          <p:cNvSpPr>
            <a:spLocks xmlns:a="http://schemas.openxmlformats.org/drawingml/2006/main" noGrp="1"/>
          </p:cNvSpPr>
          <p:nvPr/>
        </p:nvSpPr>
        <p:spPr>
          <a:xfrm xmlns:a="http://schemas.openxmlformats.org/drawingml/2006/main">
            <a:off x="2857500" y="2705100"/>
            <a:ext cx="14668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02033"/>
                </a:solidFill>
                <a:latin typeface="Aptos"/>
                <a:ea typeface="Aptos"/>
                <a:cs typeface="Aptos"/>
              </a:defRPr>
            </a:pPr>
            <a:r>
              <a:rPr sz="1050" b="0">
                <a:solidFill>
                  <a:srgbClr val="102033"/>
                </a:solidFill>
                <a:latin typeface="Aptos"/>
                <a:ea typeface="Aptos"/>
                <a:cs typeface="Aptos"/>
              </a:rPr>
              <a:t>Low SNR, narrowband interference, fading, phase/frequency offset.</a:t>
            </a:r>
          </a:p>
        </p:txBody>
      </p:sp>
      <p:sp>
        <p:nvSpPr>
          <p:cNvPr id="19" name="">
            <a:extLst xmlns:a="http://schemas.openxmlformats.org/drawingml/2006/main">
              <a:ext uri="{FF2B5EF4-FFF2-40B4-BE49-F238E27FC236}">
                <a16:creationId xmlns:a16="http://schemas.microsoft.com/office/drawing/2014/main" id="{AEF6C706-F324-447D-A40B-07CDD965C146}"/>
              </a:ext>
            </a:extLst>
          </p:cNvPr>
          <p:cNvSpPr>
            <a:spLocks xmlns:a="http://schemas.openxmlformats.org/drawingml/2006/main" noGrp="1"/>
          </p:cNvSpPr>
          <p:nvPr/>
        </p:nvSpPr>
        <p:spPr>
          <a:xfrm xmlns:a="http://schemas.openxmlformats.org/drawingml/2006/main">
            <a:off x="4552950" y="2514600"/>
            <a:ext cx="3238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071D3B"/>
                </a:solidFill>
                <a:latin typeface="Aptos"/>
                <a:ea typeface="Aptos"/>
                <a:cs typeface="Aptos"/>
              </a:defRPr>
            </a:pPr>
            <a:r>
              <a:rPr sz="2400" b="1">
                <a:solidFill>
                  <a:srgbClr val="071D3B"/>
                </a:solidFill>
                <a:latin typeface="Aptos"/>
                <a:ea typeface="Aptos"/>
                <a:cs typeface="Aptos"/>
              </a:rPr>
              <a:t>→</a:t>
            </a:r>
          </a:p>
        </p:txBody>
      </p:sp>
      <p:sp>
        <p:nvSpPr>
          <p:cNvPr id="20" name="">
            <a:extLst xmlns:a="http://schemas.openxmlformats.org/drawingml/2006/main">
              <a:ext uri="{FF2B5EF4-FFF2-40B4-BE49-F238E27FC236}">
                <a16:creationId xmlns:a16="http://schemas.microsoft.com/office/drawing/2014/main" id="{FE6DF54B-5E41-4121-A1AC-80D1C8676EB1}"/>
              </a:ext>
            </a:extLst>
          </p:cNvPr>
          <p:cNvSpPr>
            <a:spLocks xmlns:a="http://schemas.openxmlformats.org/drawingml/2006/main" noGrp="1"/>
          </p:cNvSpPr>
          <p:nvPr/>
        </p:nvSpPr>
        <p:spPr>
          <a:xfrm xmlns:a="http://schemas.openxmlformats.org/drawingml/2006/main">
            <a:off x="4933950" y="2114550"/>
            <a:ext cx="16954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1" name="">
            <a:extLst xmlns:a="http://schemas.openxmlformats.org/drawingml/2006/main">
              <a:ext uri="{FF2B5EF4-FFF2-40B4-BE49-F238E27FC236}">
                <a16:creationId xmlns:a16="http://schemas.microsoft.com/office/drawing/2014/main" id="{C18E0D8B-84FD-40F0-BE15-6591CC9E2170}"/>
              </a:ext>
            </a:extLst>
          </p:cNvPr>
          <p:cNvSpPr>
            <a:spLocks xmlns:a="http://schemas.openxmlformats.org/drawingml/2006/main" noGrp="1"/>
          </p:cNvSpPr>
          <p:nvPr/>
        </p:nvSpPr>
        <p:spPr>
          <a:xfrm xmlns:a="http://schemas.openxmlformats.org/drawingml/2006/main">
            <a:off x="5067300" y="2266950"/>
            <a:ext cx="323850" cy="3238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6426BE0-E1B3-4197-98C9-F6B8D8D61C91}"/>
              </a:ext>
            </a:extLst>
          </p:cNvPr>
          <p:cNvSpPr>
            <a:spLocks xmlns:a="http://schemas.openxmlformats.org/drawingml/2006/main" noGrp="1"/>
          </p:cNvSpPr>
          <p:nvPr/>
        </p:nvSpPr>
        <p:spPr>
          <a:xfrm xmlns:a="http://schemas.openxmlformats.org/drawingml/2006/main">
            <a:off x="5067300" y="2295525"/>
            <a:ext cx="323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3</a:t>
            </a:r>
          </a:p>
        </p:txBody>
      </p:sp>
      <p:sp>
        <p:nvSpPr>
          <p:cNvPr id="23" name="">
            <a:extLst xmlns:a="http://schemas.openxmlformats.org/drawingml/2006/main">
              <a:ext uri="{FF2B5EF4-FFF2-40B4-BE49-F238E27FC236}">
                <a16:creationId xmlns:a16="http://schemas.microsoft.com/office/drawing/2014/main" id="{2B58934B-8839-4915-A537-0CEA7FD8824E}"/>
              </a:ext>
            </a:extLst>
          </p:cNvPr>
          <p:cNvSpPr>
            <a:spLocks xmlns:a="http://schemas.openxmlformats.org/drawingml/2006/main" noGrp="1"/>
          </p:cNvSpPr>
          <p:nvPr/>
        </p:nvSpPr>
        <p:spPr>
          <a:xfrm xmlns:a="http://schemas.openxmlformats.org/drawingml/2006/main">
            <a:off x="5486400" y="2247900"/>
            <a:ext cx="1028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D3B"/>
                </a:solidFill>
                <a:latin typeface="Aptos"/>
                <a:ea typeface="Aptos"/>
                <a:cs typeface="Aptos"/>
              </a:defRPr>
            </a:pPr>
            <a:r>
              <a:rPr sz="1350" b="1">
                <a:solidFill>
                  <a:srgbClr val="071D3B"/>
                </a:solidFill>
                <a:latin typeface="Aptos"/>
                <a:ea typeface="Aptos"/>
                <a:cs typeface="Aptos"/>
              </a:rPr>
              <a:t>Denoising</a:t>
            </a:r>
          </a:p>
        </p:txBody>
      </p:sp>
      <p:sp>
        <p:nvSpPr>
          <p:cNvPr id="24" name="">
            <a:extLst xmlns:a="http://schemas.openxmlformats.org/drawingml/2006/main">
              <a:ext uri="{FF2B5EF4-FFF2-40B4-BE49-F238E27FC236}">
                <a16:creationId xmlns:a16="http://schemas.microsoft.com/office/drawing/2014/main" id="{F45813F5-2C46-4631-9C4E-031A5F87B344}"/>
              </a:ext>
            </a:extLst>
          </p:cNvPr>
          <p:cNvSpPr>
            <a:spLocks xmlns:a="http://schemas.openxmlformats.org/drawingml/2006/main" noGrp="1"/>
          </p:cNvSpPr>
          <p:nvPr/>
        </p:nvSpPr>
        <p:spPr>
          <a:xfrm xmlns:a="http://schemas.openxmlformats.org/drawingml/2006/main">
            <a:off x="5105400" y="2705100"/>
            <a:ext cx="1352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02033"/>
                </a:solidFill>
                <a:latin typeface="Aptos"/>
                <a:ea typeface="Aptos"/>
                <a:cs typeface="Aptos"/>
              </a:defRPr>
            </a:pPr>
            <a:r>
              <a:rPr sz="1050" b="0">
                <a:solidFill>
                  <a:srgbClr val="102033"/>
                </a:solidFill>
                <a:latin typeface="Aptos"/>
                <a:ea typeface="Aptos"/>
                <a:cs typeface="Aptos"/>
              </a:rPr>
              <a:t>Reconstruct cleaner signal representation before classification.</a:t>
            </a:r>
          </a:p>
        </p:txBody>
      </p:sp>
      <p:sp>
        <p:nvSpPr>
          <p:cNvPr id="25" name="">
            <a:extLst xmlns:a="http://schemas.openxmlformats.org/drawingml/2006/main">
              <a:ext uri="{FF2B5EF4-FFF2-40B4-BE49-F238E27FC236}">
                <a16:creationId xmlns:a16="http://schemas.microsoft.com/office/drawing/2014/main" id="{32E9929D-2283-4A86-A5E6-4D9D1E7EAB97}"/>
              </a:ext>
            </a:extLst>
          </p:cNvPr>
          <p:cNvSpPr>
            <a:spLocks xmlns:a="http://schemas.openxmlformats.org/drawingml/2006/main" noGrp="1"/>
          </p:cNvSpPr>
          <p:nvPr/>
        </p:nvSpPr>
        <p:spPr>
          <a:xfrm xmlns:a="http://schemas.openxmlformats.org/drawingml/2006/main">
            <a:off x="6686550" y="2514600"/>
            <a:ext cx="3238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071D3B"/>
                </a:solidFill>
                <a:latin typeface="Aptos"/>
                <a:ea typeface="Aptos"/>
                <a:cs typeface="Aptos"/>
              </a:defRPr>
            </a:pPr>
            <a:r>
              <a:rPr sz="2400" b="1">
                <a:solidFill>
                  <a:srgbClr val="071D3B"/>
                </a:solidFill>
                <a:latin typeface="Aptos"/>
                <a:ea typeface="Aptos"/>
                <a:cs typeface="Aptos"/>
              </a:rPr>
              <a:t>→</a:t>
            </a:r>
          </a:p>
        </p:txBody>
      </p:sp>
      <p:sp>
        <p:nvSpPr>
          <p:cNvPr id="26" name="">
            <a:extLst xmlns:a="http://schemas.openxmlformats.org/drawingml/2006/main">
              <a:ext uri="{FF2B5EF4-FFF2-40B4-BE49-F238E27FC236}">
                <a16:creationId xmlns:a16="http://schemas.microsoft.com/office/drawing/2014/main" id="{40DFEEEC-5B06-4F18-B175-4B0E0D6D3B09}"/>
              </a:ext>
            </a:extLst>
          </p:cNvPr>
          <p:cNvSpPr>
            <a:spLocks xmlns:a="http://schemas.openxmlformats.org/drawingml/2006/main" noGrp="1"/>
          </p:cNvSpPr>
          <p:nvPr/>
        </p:nvSpPr>
        <p:spPr>
          <a:xfrm xmlns:a="http://schemas.openxmlformats.org/drawingml/2006/main">
            <a:off x="7067550" y="2114550"/>
            <a:ext cx="16954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7" name="">
            <a:extLst xmlns:a="http://schemas.openxmlformats.org/drawingml/2006/main">
              <a:ext uri="{FF2B5EF4-FFF2-40B4-BE49-F238E27FC236}">
                <a16:creationId xmlns:a16="http://schemas.microsoft.com/office/drawing/2014/main" id="{6194CDC6-134A-4BAA-A8D6-97A1F8351F12}"/>
              </a:ext>
            </a:extLst>
          </p:cNvPr>
          <p:cNvSpPr>
            <a:spLocks xmlns:a="http://schemas.openxmlformats.org/drawingml/2006/main" noGrp="1"/>
          </p:cNvSpPr>
          <p:nvPr/>
        </p:nvSpPr>
        <p:spPr>
          <a:xfrm xmlns:a="http://schemas.openxmlformats.org/drawingml/2006/main">
            <a:off x="7200900" y="2266950"/>
            <a:ext cx="323850" cy="32385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F7319E6F-1E1D-47ED-B44C-5616293B94F4}"/>
              </a:ext>
            </a:extLst>
          </p:cNvPr>
          <p:cNvSpPr>
            <a:spLocks xmlns:a="http://schemas.openxmlformats.org/drawingml/2006/main" noGrp="1"/>
          </p:cNvSpPr>
          <p:nvPr/>
        </p:nvSpPr>
        <p:spPr>
          <a:xfrm xmlns:a="http://schemas.openxmlformats.org/drawingml/2006/main">
            <a:off x="7200900" y="2295525"/>
            <a:ext cx="323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4</a:t>
            </a:r>
          </a:p>
        </p:txBody>
      </p:sp>
      <p:sp>
        <p:nvSpPr>
          <p:cNvPr id="29" name="">
            <a:extLst xmlns:a="http://schemas.openxmlformats.org/drawingml/2006/main">
              <a:ext uri="{FF2B5EF4-FFF2-40B4-BE49-F238E27FC236}">
                <a16:creationId xmlns:a16="http://schemas.microsoft.com/office/drawing/2014/main" id="{BDAB575F-834B-4B2D-9757-781D43AC90C8}"/>
              </a:ext>
            </a:extLst>
          </p:cNvPr>
          <p:cNvSpPr>
            <a:spLocks xmlns:a="http://schemas.openxmlformats.org/drawingml/2006/main" noGrp="1"/>
          </p:cNvSpPr>
          <p:nvPr/>
        </p:nvSpPr>
        <p:spPr>
          <a:xfrm xmlns:a="http://schemas.openxmlformats.org/drawingml/2006/main">
            <a:off x="7620000" y="2247900"/>
            <a:ext cx="1028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D3B"/>
                </a:solidFill>
                <a:latin typeface="Aptos"/>
                <a:ea typeface="Aptos"/>
                <a:cs typeface="Aptos"/>
              </a:defRPr>
            </a:pPr>
            <a:r>
              <a:rPr sz="1350" b="1">
                <a:solidFill>
                  <a:srgbClr val="071D3B"/>
                </a:solidFill>
                <a:latin typeface="Aptos"/>
                <a:ea typeface="Aptos"/>
                <a:cs typeface="Aptos"/>
              </a:rPr>
              <a:t>AMC</a:t>
            </a:r>
          </a:p>
        </p:txBody>
      </p:sp>
      <p:sp>
        <p:nvSpPr>
          <p:cNvPr id="30" name="">
            <a:extLst xmlns:a="http://schemas.openxmlformats.org/drawingml/2006/main">
              <a:ext uri="{FF2B5EF4-FFF2-40B4-BE49-F238E27FC236}">
                <a16:creationId xmlns:a16="http://schemas.microsoft.com/office/drawing/2014/main" id="{273B8781-B34D-431B-9200-98E6E7713D17}"/>
              </a:ext>
            </a:extLst>
          </p:cNvPr>
          <p:cNvSpPr>
            <a:spLocks xmlns:a="http://schemas.openxmlformats.org/drawingml/2006/main" noGrp="1"/>
          </p:cNvSpPr>
          <p:nvPr/>
        </p:nvSpPr>
        <p:spPr>
          <a:xfrm xmlns:a="http://schemas.openxmlformats.org/drawingml/2006/main">
            <a:off x="7239000" y="2705100"/>
            <a:ext cx="1352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02033"/>
                </a:solidFill>
                <a:latin typeface="Aptos"/>
                <a:ea typeface="Aptos"/>
                <a:cs typeface="Aptos"/>
              </a:defRPr>
            </a:pPr>
            <a:r>
              <a:rPr sz="1050" b="0">
                <a:solidFill>
                  <a:srgbClr val="102033"/>
                </a:solidFill>
                <a:latin typeface="Aptos"/>
                <a:ea typeface="Aptos"/>
                <a:cs typeface="Aptos"/>
              </a:rPr>
              <a:t>Classify modulation from raw/noisy or denoised features.</a:t>
            </a:r>
          </a:p>
        </p:txBody>
      </p:sp>
      <p:sp>
        <p:nvSpPr>
          <p:cNvPr id="31" name="">
            <a:extLst xmlns:a="http://schemas.openxmlformats.org/drawingml/2006/main">
              <a:ext uri="{FF2B5EF4-FFF2-40B4-BE49-F238E27FC236}">
                <a16:creationId xmlns:a16="http://schemas.microsoft.com/office/drawing/2014/main" id="{52574CC5-8277-40C1-97CC-C6774F62CB81}"/>
              </a:ext>
            </a:extLst>
          </p:cNvPr>
          <p:cNvSpPr>
            <a:spLocks xmlns:a="http://schemas.openxmlformats.org/drawingml/2006/main" noGrp="1"/>
          </p:cNvSpPr>
          <p:nvPr/>
        </p:nvSpPr>
        <p:spPr>
          <a:xfrm xmlns:a="http://schemas.openxmlformats.org/drawingml/2006/main">
            <a:off x="8820150" y="2514600"/>
            <a:ext cx="3238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071D3B"/>
                </a:solidFill>
                <a:latin typeface="Aptos"/>
                <a:ea typeface="Aptos"/>
                <a:cs typeface="Aptos"/>
              </a:defRPr>
            </a:pPr>
            <a:r>
              <a:rPr sz="2400" b="1">
                <a:solidFill>
                  <a:srgbClr val="071D3B"/>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DDD4077E-C0C7-4CB7-B800-50A953676744}"/>
              </a:ext>
            </a:extLst>
          </p:cNvPr>
          <p:cNvSpPr>
            <a:spLocks xmlns:a="http://schemas.openxmlformats.org/drawingml/2006/main" noGrp="1"/>
          </p:cNvSpPr>
          <p:nvPr/>
        </p:nvSpPr>
        <p:spPr>
          <a:xfrm xmlns:a="http://schemas.openxmlformats.org/drawingml/2006/main">
            <a:off x="9201150" y="2114550"/>
            <a:ext cx="200025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33" name="">
            <a:extLst xmlns:a="http://schemas.openxmlformats.org/drawingml/2006/main">
              <a:ext uri="{FF2B5EF4-FFF2-40B4-BE49-F238E27FC236}">
                <a16:creationId xmlns:a16="http://schemas.microsoft.com/office/drawing/2014/main" id="{0469461B-37D8-4DBF-BDF5-4086EEEE79FB}"/>
              </a:ext>
            </a:extLst>
          </p:cNvPr>
          <p:cNvSpPr>
            <a:spLocks xmlns:a="http://schemas.openxmlformats.org/drawingml/2006/main" noGrp="1"/>
          </p:cNvSpPr>
          <p:nvPr/>
        </p:nvSpPr>
        <p:spPr>
          <a:xfrm xmlns:a="http://schemas.openxmlformats.org/drawingml/2006/main">
            <a:off x="9334500" y="2266950"/>
            <a:ext cx="323850" cy="3238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277BACB7-DB1F-459D-89CD-13CF0F6DA182}"/>
              </a:ext>
            </a:extLst>
          </p:cNvPr>
          <p:cNvSpPr>
            <a:spLocks xmlns:a="http://schemas.openxmlformats.org/drawingml/2006/main" noGrp="1"/>
          </p:cNvSpPr>
          <p:nvPr/>
        </p:nvSpPr>
        <p:spPr>
          <a:xfrm xmlns:a="http://schemas.openxmlformats.org/drawingml/2006/main">
            <a:off x="9334500" y="2295525"/>
            <a:ext cx="3238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a:ea typeface="Aptos"/>
                <a:cs typeface="Aptos"/>
              </a:defRPr>
            </a:pPr>
            <a:r>
              <a:rPr sz="1350" b="1">
                <a:solidFill>
                  <a:srgbClr val="FFFFFF"/>
                </a:solidFill>
                <a:latin typeface="Aptos"/>
                <a:ea typeface="Aptos"/>
                <a:cs typeface="Aptos"/>
              </a:rPr>
              <a:t>5</a:t>
            </a:r>
          </a:p>
        </p:txBody>
      </p:sp>
      <p:sp>
        <p:nvSpPr>
          <p:cNvPr id="35" name="">
            <a:extLst xmlns:a="http://schemas.openxmlformats.org/drawingml/2006/main">
              <a:ext uri="{FF2B5EF4-FFF2-40B4-BE49-F238E27FC236}">
                <a16:creationId xmlns:a16="http://schemas.microsoft.com/office/drawing/2014/main" id="{D50EBF52-B8AF-4C5C-AF73-AB7DEE9763B5}"/>
              </a:ext>
            </a:extLst>
          </p:cNvPr>
          <p:cNvSpPr>
            <a:spLocks xmlns:a="http://schemas.openxmlformats.org/drawingml/2006/main" noGrp="1"/>
          </p:cNvSpPr>
          <p:nvPr/>
        </p:nvSpPr>
        <p:spPr>
          <a:xfrm xmlns:a="http://schemas.openxmlformats.org/drawingml/2006/main">
            <a:off x="9753600" y="2247900"/>
            <a:ext cx="1333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71D3B"/>
                </a:solidFill>
                <a:latin typeface="Aptos"/>
                <a:ea typeface="Aptos"/>
                <a:cs typeface="Aptos"/>
              </a:defRPr>
            </a:pPr>
            <a:r>
              <a:rPr sz="1350" b="1">
                <a:solidFill>
                  <a:srgbClr val="071D3B"/>
                </a:solidFill>
                <a:latin typeface="Aptos"/>
                <a:ea typeface="Aptos"/>
                <a:cs typeface="Aptos"/>
              </a:rPr>
              <a:t>Metrics</a:t>
            </a:r>
          </a:p>
        </p:txBody>
      </p:sp>
      <p:sp>
        <p:nvSpPr>
          <p:cNvPr id="36" name="">
            <a:extLst xmlns:a="http://schemas.openxmlformats.org/drawingml/2006/main">
              <a:ext uri="{FF2B5EF4-FFF2-40B4-BE49-F238E27FC236}">
                <a16:creationId xmlns:a16="http://schemas.microsoft.com/office/drawing/2014/main" id="{423A5D41-48DE-434B-A9A2-7BD5E3674DAA}"/>
              </a:ext>
            </a:extLst>
          </p:cNvPr>
          <p:cNvSpPr>
            <a:spLocks xmlns:a="http://schemas.openxmlformats.org/drawingml/2006/main" noGrp="1"/>
          </p:cNvSpPr>
          <p:nvPr/>
        </p:nvSpPr>
        <p:spPr>
          <a:xfrm xmlns:a="http://schemas.openxmlformats.org/drawingml/2006/main">
            <a:off x="9372600" y="2705100"/>
            <a:ext cx="16573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02033"/>
                </a:solidFill>
                <a:latin typeface="Aptos"/>
                <a:ea typeface="Aptos"/>
                <a:cs typeface="Aptos"/>
              </a:defRPr>
            </a:pPr>
            <a:r>
              <a:rPr sz="1050" b="0">
                <a:solidFill>
                  <a:srgbClr val="102033"/>
                </a:solidFill>
                <a:latin typeface="Aptos"/>
                <a:ea typeface="Aptos"/>
                <a:cs typeface="Aptos"/>
              </a:rPr>
              <a:t>Accuracy, macro F1, confusion matrix, and signal plots.</a:t>
            </a:r>
          </a:p>
        </p:txBody>
      </p:sp>
      <p:sp>
        <p:nvSpPr>
          <p:cNvPr id="37" name="">
            <a:extLst xmlns:a="http://schemas.openxmlformats.org/drawingml/2006/main">
              <a:ext uri="{FF2B5EF4-FFF2-40B4-BE49-F238E27FC236}">
                <a16:creationId xmlns:a16="http://schemas.microsoft.com/office/drawing/2014/main" id="{4119C52F-3BEC-4547-86FA-740CC165F39B}"/>
              </a:ext>
            </a:extLst>
          </p:cNvPr>
          <p:cNvSpPr>
            <a:spLocks xmlns:a="http://schemas.openxmlformats.org/drawingml/2006/main" noGrp="1"/>
          </p:cNvSpPr>
          <p:nvPr/>
        </p:nvSpPr>
        <p:spPr>
          <a:xfrm xmlns:a="http://schemas.openxmlformats.org/drawingml/2006/main">
            <a:off x="1143000" y="4114800"/>
            <a:ext cx="99060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38" name="">
            <a:extLst xmlns:a="http://schemas.openxmlformats.org/drawingml/2006/main">
              <a:ext uri="{FF2B5EF4-FFF2-40B4-BE49-F238E27FC236}">
                <a16:creationId xmlns:a16="http://schemas.microsoft.com/office/drawing/2014/main" id="{26835B81-7DB4-4BA1-BB19-7B50F44D964D}"/>
              </a:ext>
            </a:extLst>
          </p:cNvPr>
          <p:cNvSpPr>
            <a:spLocks xmlns:a="http://schemas.openxmlformats.org/drawingml/2006/main" noGrp="1"/>
          </p:cNvSpPr>
          <p:nvPr/>
        </p:nvSpPr>
        <p:spPr>
          <a:xfrm xmlns:a="http://schemas.openxmlformats.org/drawingml/2006/main">
            <a:off x="1143000" y="4114800"/>
            <a:ext cx="76200" cy="16192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39" name="">
            <a:extLst xmlns:a="http://schemas.openxmlformats.org/drawingml/2006/main">
              <a:ext uri="{FF2B5EF4-FFF2-40B4-BE49-F238E27FC236}">
                <a16:creationId xmlns:a16="http://schemas.microsoft.com/office/drawing/2014/main" id="{3E914794-CA77-4900-9A3E-D19348F960CA}"/>
              </a:ext>
            </a:extLst>
          </p:cNvPr>
          <p:cNvSpPr>
            <a:spLocks xmlns:a="http://schemas.openxmlformats.org/drawingml/2006/main" noGrp="1"/>
          </p:cNvSpPr>
          <p:nvPr/>
        </p:nvSpPr>
        <p:spPr>
          <a:xfrm xmlns:a="http://schemas.openxmlformats.org/drawingml/2006/main">
            <a:off x="1371600" y="4286250"/>
            <a:ext cx="9486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Evaluation comparison</a:t>
            </a:r>
          </a:p>
        </p:txBody>
      </p:sp>
      <p:sp>
        <p:nvSpPr>
          <p:cNvPr id="40" name="">
            <a:extLst xmlns:a="http://schemas.openxmlformats.org/drawingml/2006/main">
              <a:ext uri="{FF2B5EF4-FFF2-40B4-BE49-F238E27FC236}">
                <a16:creationId xmlns:a16="http://schemas.microsoft.com/office/drawing/2014/main" id="{D1A30C3A-1C4C-4D8C-A952-4B3A33883B5B}"/>
              </a:ext>
            </a:extLst>
          </p:cNvPr>
          <p:cNvSpPr>
            <a:spLocks xmlns:a="http://schemas.openxmlformats.org/drawingml/2006/main" noGrp="1"/>
          </p:cNvSpPr>
          <p:nvPr/>
        </p:nvSpPr>
        <p:spPr>
          <a:xfrm xmlns:a="http://schemas.openxmlformats.org/drawingml/2006/main">
            <a:off x="1390650" y="4667250"/>
            <a:ext cx="9429750" cy="933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Baseline path: noisy I/Q features -&gt; AMC classifier.</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Denoising-assisted path: impaired I/Q -&gt; denoising front end -&gt; AMC classifier.</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Both paths are evaluated under the same SNR levels and classes (O'Shea et al., 2018).</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This makes the difference attributable to the denoising front end.</a:t>
            </a:r>
          </a:p>
        </p:txBody>
      </p:sp>
    </p:spTree>
    <p:extLst>
      <p:ext uri="{BB962C8B-B14F-4D97-AF65-F5344CB8AC3E}">
        <p14:creationId xmlns:p14="http://schemas.microsoft.com/office/powerpoint/2010/main" val="210157909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5E8C302-7A7D-4663-9AF8-6F1060E851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A525EAB-BACD-40D0-80B0-A7188381100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CDAF4A6-7A06-4F3E-A969-20A4444BEBA1}"/>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B4797688-1CA2-4730-BDF4-44E521C566D6}"/>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Results</a:t>
            </a:r>
          </a:p>
        </p:txBody>
      </p:sp>
      <p:sp>
        <p:nvSpPr>
          <p:cNvPr id="5" name="">
            <a:extLst xmlns:a="http://schemas.openxmlformats.org/drawingml/2006/main">
              <a:ext uri="{FF2B5EF4-FFF2-40B4-BE49-F238E27FC236}">
                <a16:creationId xmlns:a16="http://schemas.microsoft.com/office/drawing/2014/main" id="{8BDC9703-6963-4171-AF86-DDC1AD441F0F}"/>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8</a:t>
            </a:r>
          </a:p>
        </p:txBody>
      </p:sp>
      <p:sp>
        <p:nvSpPr>
          <p:cNvPr id="6" name="">
            <a:extLst xmlns:a="http://schemas.openxmlformats.org/drawingml/2006/main">
              <a:ext uri="{FF2B5EF4-FFF2-40B4-BE49-F238E27FC236}">
                <a16:creationId xmlns:a16="http://schemas.microsoft.com/office/drawing/2014/main" id="{F291AA80-8D89-4E51-9A4E-BCB2F2D9C151}"/>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RESULTS BASIS</a:t>
            </a:r>
          </a:p>
        </p:txBody>
      </p:sp>
      <p:sp>
        <p:nvSpPr>
          <p:cNvPr id="7" name="">
            <a:extLst xmlns:a="http://schemas.openxmlformats.org/drawingml/2006/main">
              <a:ext uri="{FF2B5EF4-FFF2-40B4-BE49-F238E27FC236}">
                <a16:creationId xmlns:a16="http://schemas.microsoft.com/office/drawing/2014/main" id="{E268082C-B3A2-49B0-A276-FEED7FE13FB1}"/>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Results: Controlled Simulation Setup</a:t>
            </a:r>
          </a:p>
        </p:txBody>
      </p:sp>
      <p:sp>
        <p:nvSpPr>
          <p:cNvPr id="8" name="">
            <a:extLst xmlns:a="http://schemas.openxmlformats.org/drawingml/2006/main">
              <a:ext uri="{FF2B5EF4-FFF2-40B4-BE49-F238E27FC236}">
                <a16:creationId xmlns:a16="http://schemas.microsoft.com/office/drawing/2014/main" id="{3BCC9358-1495-4A27-B27B-A3E28E45FF26}"/>
              </a:ext>
            </a:extLst>
          </p:cNvPr>
          <p:cNvSpPr>
            <a:spLocks xmlns:a="http://schemas.openxmlformats.org/drawingml/2006/main" noGrp="1"/>
          </p:cNvSpPr>
          <p:nvPr/>
        </p:nvSpPr>
        <p:spPr>
          <a:xfrm xmlns:a="http://schemas.openxmlformats.org/drawingml/2006/main">
            <a:off x="800100" y="15811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660C5758-A425-4E94-A777-8404747869F1}"/>
              </a:ext>
            </a:extLst>
          </p:cNvPr>
          <p:cNvSpPr>
            <a:spLocks xmlns:a="http://schemas.openxmlformats.org/drawingml/2006/main" noGrp="1"/>
          </p:cNvSpPr>
          <p:nvPr/>
        </p:nvSpPr>
        <p:spPr>
          <a:xfrm xmlns:a="http://schemas.openxmlformats.org/drawingml/2006/main">
            <a:off x="800100" y="1581150"/>
            <a:ext cx="2381250" cy="7620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672BD47-2B15-45C7-9F20-4D6DF968EF96}"/>
              </a:ext>
            </a:extLst>
          </p:cNvPr>
          <p:cNvSpPr>
            <a:spLocks xmlns:a="http://schemas.openxmlformats.org/drawingml/2006/main" noGrp="1"/>
          </p:cNvSpPr>
          <p:nvPr/>
        </p:nvSpPr>
        <p:spPr>
          <a:xfrm xmlns:a="http://schemas.openxmlformats.org/drawingml/2006/main">
            <a:off x="971550" y="1771650"/>
            <a:ext cx="2038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4</a:t>
            </a:r>
          </a:p>
        </p:txBody>
      </p:sp>
      <p:sp>
        <p:nvSpPr>
          <p:cNvPr id="11" name="">
            <a:extLst xmlns:a="http://schemas.openxmlformats.org/drawingml/2006/main">
              <a:ext uri="{FF2B5EF4-FFF2-40B4-BE49-F238E27FC236}">
                <a16:creationId xmlns:a16="http://schemas.microsoft.com/office/drawing/2014/main" id="{D95D6A9F-7D65-494F-8482-5E66FF3D98C4}"/>
              </a:ext>
            </a:extLst>
          </p:cNvPr>
          <p:cNvSpPr>
            <a:spLocks xmlns:a="http://schemas.openxmlformats.org/drawingml/2006/main" noGrp="1"/>
          </p:cNvSpPr>
          <p:nvPr/>
        </p:nvSpPr>
        <p:spPr>
          <a:xfrm xmlns:a="http://schemas.openxmlformats.org/drawingml/2006/main">
            <a:off x="971550" y="219075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Modulation classes</a:t>
            </a:r>
          </a:p>
        </p:txBody>
      </p:sp>
      <p:sp>
        <p:nvSpPr>
          <p:cNvPr id="12" name="">
            <a:extLst xmlns:a="http://schemas.openxmlformats.org/drawingml/2006/main">
              <a:ext uri="{FF2B5EF4-FFF2-40B4-BE49-F238E27FC236}">
                <a16:creationId xmlns:a16="http://schemas.microsoft.com/office/drawing/2014/main" id="{E1B1BE52-F570-46CA-9E6D-8EEFEE8D3883}"/>
              </a:ext>
            </a:extLst>
          </p:cNvPr>
          <p:cNvSpPr>
            <a:spLocks xmlns:a="http://schemas.openxmlformats.org/drawingml/2006/main" noGrp="1"/>
          </p:cNvSpPr>
          <p:nvPr/>
        </p:nvSpPr>
        <p:spPr>
          <a:xfrm xmlns:a="http://schemas.openxmlformats.org/drawingml/2006/main">
            <a:off x="971550" y="24765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GMSK-like, QPSK, 8PSK, and 16QAM.</a:t>
            </a:r>
          </a:p>
        </p:txBody>
      </p:sp>
      <p:sp>
        <p:nvSpPr>
          <p:cNvPr id="13" name="">
            <a:extLst xmlns:a="http://schemas.openxmlformats.org/drawingml/2006/main">
              <a:ext uri="{FF2B5EF4-FFF2-40B4-BE49-F238E27FC236}">
                <a16:creationId xmlns:a16="http://schemas.microsoft.com/office/drawing/2014/main" id="{433C3BEE-E247-41AA-8205-40B8E2E3E4B7}"/>
              </a:ext>
            </a:extLst>
          </p:cNvPr>
          <p:cNvSpPr>
            <a:spLocks xmlns:a="http://schemas.openxmlformats.org/drawingml/2006/main" noGrp="1"/>
          </p:cNvSpPr>
          <p:nvPr/>
        </p:nvSpPr>
        <p:spPr>
          <a:xfrm xmlns:a="http://schemas.openxmlformats.org/drawingml/2006/main">
            <a:off x="3581400" y="15811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4" name="">
            <a:extLst xmlns:a="http://schemas.openxmlformats.org/drawingml/2006/main">
              <a:ext uri="{FF2B5EF4-FFF2-40B4-BE49-F238E27FC236}">
                <a16:creationId xmlns:a16="http://schemas.microsoft.com/office/drawing/2014/main" id="{73D0EED8-6653-4F2E-94A4-D7CA2F6941F3}"/>
              </a:ext>
            </a:extLst>
          </p:cNvPr>
          <p:cNvSpPr>
            <a:spLocks xmlns:a="http://schemas.openxmlformats.org/drawingml/2006/main" noGrp="1"/>
          </p:cNvSpPr>
          <p:nvPr/>
        </p:nvSpPr>
        <p:spPr>
          <a:xfrm xmlns:a="http://schemas.openxmlformats.org/drawingml/2006/main">
            <a:off x="3581400" y="1581150"/>
            <a:ext cx="2381250" cy="76200"/>
          </a:xfrm>
          <a:prstGeom xmlns:a="http://schemas.openxmlformats.org/drawingml/2006/main" prst="rect">
            <a:avLst/>
          </a:prstGeom>
          <a:solidFill xmlns:a="http://schemas.openxmlformats.org/drawingml/2006/main">
            <a:srgbClr val="E27A1F"/>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AC9AAF4-BB89-42BE-BB12-C70C3E41D92C}"/>
              </a:ext>
            </a:extLst>
          </p:cNvPr>
          <p:cNvSpPr>
            <a:spLocks xmlns:a="http://schemas.openxmlformats.org/drawingml/2006/main" noGrp="1"/>
          </p:cNvSpPr>
          <p:nvPr/>
        </p:nvSpPr>
        <p:spPr>
          <a:xfrm xmlns:a="http://schemas.openxmlformats.org/drawingml/2006/main">
            <a:off x="3752850" y="1771650"/>
            <a:ext cx="2038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4</a:t>
            </a:r>
          </a:p>
        </p:txBody>
      </p:sp>
      <p:sp>
        <p:nvSpPr>
          <p:cNvPr id="16" name="">
            <a:extLst xmlns:a="http://schemas.openxmlformats.org/drawingml/2006/main">
              <a:ext uri="{FF2B5EF4-FFF2-40B4-BE49-F238E27FC236}">
                <a16:creationId xmlns:a16="http://schemas.microsoft.com/office/drawing/2014/main" id="{A483DF4D-7929-4270-91EB-217981A04741}"/>
              </a:ext>
            </a:extLst>
          </p:cNvPr>
          <p:cNvSpPr>
            <a:spLocks xmlns:a="http://schemas.openxmlformats.org/drawingml/2006/main" noGrp="1"/>
          </p:cNvSpPr>
          <p:nvPr/>
        </p:nvSpPr>
        <p:spPr>
          <a:xfrm xmlns:a="http://schemas.openxmlformats.org/drawingml/2006/main">
            <a:off x="3752850" y="219075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SNR levels</a:t>
            </a:r>
          </a:p>
        </p:txBody>
      </p:sp>
      <p:sp>
        <p:nvSpPr>
          <p:cNvPr id="17" name="">
            <a:extLst xmlns:a="http://schemas.openxmlformats.org/drawingml/2006/main">
              <a:ext uri="{FF2B5EF4-FFF2-40B4-BE49-F238E27FC236}">
                <a16:creationId xmlns:a16="http://schemas.microsoft.com/office/drawing/2014/main" id="{DA9D904E-0B2E-4E27-AEF3-C1CA7266D6B0}"/>
              </a:ext>
            </a:extLst>
          </p:cNvPr>
          <p:cNvSpPr>
            <a:spLocks xmlns:a="http://schemas.openxmlformats.org/drawingml/2006/main" noGrp="1"/>
          </p:cNvSpPr>
          <p:nvPr/>
        </p:nvSpPr>
        <p:spPr>
          <a:xfrm xmlns:a="http://schemas.openxmlformats.org/drawingml/2006/main">
            <a:off x="3752850" y="24765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-8, -4, 0, and 4 dB controlled impairment settings.</a:t>
            </a:r>
          </a:p>
        </p:txBody>
      </p:sp>
      <p:sp>
        <p:nvSpPr>
          <p:cNvPr id="18" name="">
            <a:extLst xmlns:a="http://schemas.openxmlformats.org/drawingml/2006/main">
              <a:ext uri="{FF2B5EF4-FFF2-40B4-BE49-F238E27FC236}">
                <a16:creationId xmlns:a16="http://schemas.microsoft.com/office/drawing/2014/main" id="{2545CDD6-74C2-43C5-9615-2445F5107AA8}"/>
              </a:ext>
            </a:extLst>
          </p:cNvPr>
          <p:cNvSpPr>
            <a:spLocks xmlns:a="http://schemas.openxmlformats.org/drawingml/2006/main" noGrp="1"/>
          </p:cNvSpPr>
          <p:nvPr/>
        </p:nvSpPr>
        <p:spPr>
          <a:xfrm xmlns:a="http://schemas.openxmlformats.org/drawingml/2006/main">
            <a:off x="6362700" y="15811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9" name="">
            <a:extLst xmlns:a="http://schemas.openxmlformats.org/drawingml/2006/main">
              <a:ext uri="{FF2B5EF4-FFF2-40B4-BE49-F238E27FC236}">
                <a16:creationId xmlns:a16="http://schemas.microsoft.com/office/drawing/2014/main" id="{F5A5BF55-F827-44B6-8B73-6234404BF4B2}"/>
              </a:ext>
            </a:extLst>
          </p:cNvPr>
          <p:cNvSpPr>
            <a:spLocks xmlns:a="http://schemas.openxmlformats.org/drawingml/2006/main" noGrp="1"/>
          </p:cNvSpPr>
          <p:nvPr/>
        </p:nvSpPr>
        <p:spPr>
          <a:xfrm xmlns:a="http://schemas.openxmlformats.org/drawingml/2006/main">
            <a:off x="6362700" y="1581150"/>
            <a:ext cx="2381250" cy="762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A2A8CD3-4CA8-4F9C-8C09-1CC33A5C342D}"/>
              </a:ext>
            </a:extLst>
          </p:cNvPr>
          <p:cNvSpPr>
            <a:spLocks xmlns:a="http://schemas.openxmlformats.org/drawingml/2006/main" noGrp="1"/>
          </p:cNvSpPr>
          <p:nvPr/>
        </p:nvSpPr>
        <p:spPr>
          <a:xfrm xmlns:a="http://schemas.openxmlformats.org/drawingml/2006/main">
            <a:off x="6534150" y="1771650"/>
            <a:ext cx="2038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1,920</a:t>
            </a:r>
          </a:p>
        </p:txBody>
      </p:sp>
      <p:sp>
        <p:nvSpPr>
          <p:cNvPr id="21" name="">
            <a:extLst xmlns:a="http://schemas.openxmlformats.org/drawingml/2006/main">
              <a:ext uri="{FF2B5EF4-FFF2-40B4-BE49-F238E27FC236}">
                <a16:creationId xmlns:a16="http://schemas.microsoft.com/office/drawing/2014/main" id="{7C6442A5-0895-4171-BCBE-EE860B75EF0C}"/>
              </a:ext>
            </a:extLst>
          </p:cNvPr>
          <p:cNvSpPr>
            <a:spLocks xmlns:a="http://schemas.openxmlformats.org/drawingml/2006/main" noGrp="1"/>
          </p:cNvSpPr>
          <p:nvPr/>
        </p:nvSpPr>
        <p:spPr>
          <a:xfrm xmlns:a="http://schemas.openxmlformats.org/drawingml/2006/main">
            <a:off x="6534150" y="219075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Test windows</a:t>
            </a:r>
          </a:p>
        </p:txBody>
      </p:sp>
      <p:sp>
        <p:nvSpPr>
          <p:cNvPr id="22" name="">
            <a:extLst xmlns:a="http://schemas.openxmlformats.org/drawingml/2006/main">
              <a:ext uri="{FF2B5EF4-FFF2-40B4-BE49-F238E27FC236}">
                <a16:creationId xmlns:a16="http://schemas.microsoft.com/office/drawing/2014/main" id="{9F468685-92B6-41BF-B04D-0966E05200A7}"/>
              </a:ext>
            </a:extLst>
          </p:cNvPr>
          <p:cNvSpPr>
            <a:spLocks xmlns:a="http://schemas.openxmlformats.org/drawingml/2006/main" noGrp="1"/>
          </p:cNvSpPr>
          <p:nvPr/>
        </p:nvSpPr>
        <p:spPr>
          <a:xfrm xmlns:a="http://schemas.openxmlformats.org/drawingml/2006/main">
            <a:off x="6534150" y="24765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240 held-out windows per SNR and pipeline comparison.</a:t>
            </a:r>
          </a:p>
        </p:txBody>
      </p:sp>
      <p:sp>
        <p:nvSpPr>
          <p:cNvPr id="23" name="">
            <a:extLst xmlns:a="http://schemas.openxmlformats.org/drawingml/2006/main">
              <a:ext uri="{FF2B5EF4-FFF2-40B4-BE49-F238E27FC236}">
                <a16:creationId xmlns:a16="http://schemas.microsoft.com/office/drawing/2014/main" id="{AD868923-9E2F-42F2-99FB-72DD18E7A0EA}"/>
              </a:ext>
            </a:extLst>
          </p:cNvPr>
          <p:cNvSpPr>
            <a:spLocks xmlns:a="http://schemas.openxmlformats.org/drawingml/2006/main" noGrp="1"/>
          </p:cNvSpPr>
          <p:nvPr/>
        </p:nvSpPr>
        <p:spPr>
          <a:xfrm xmlns:a="http://schemas.openxmlformats.org/drawingml/2006/main">
            <a:off x="9144000" y="1581150"/>
            <a:ext cx="23812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4" name="">
            <a:extLst xmlns:a="http://schemas.openxmlformats.org/drawingml/2006/main">
              <a:ext uri="{FF2B5EF4-FFF2-40B4-BE49-F238E27FC236}">
                <a16:creationId xmlns:a16="http://schemas.microsoft.com/office/drawing/2014/main" id="{1A11C507-9E99-4B1A-AD9C-A81962A580DA}"/>
              </a:ext>
            </a:extLst>
          </p:cNvPr>
          <p:cNvSpPr>
            <a:spLocks xmlns:a="http://schemas.openxmlformats.org/drawingml/2006/main" noGrp="1"/>
          </p:cNvSpPr>
          <p:nvPr/>
        </p:nvSpPr>
        <p:spPr>
          <a:xfrm xmlns:a="http://schemas.openxmlformats.org/drawingml/2006/main">
            <a:off x="9144000" y="1581150"/>
            <a:ext cx="2381250" cy="7620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8FB54861-55EA-46CE-B845-D20029FDEFEF}"/>
              </a:ext>
            </a:extLst>
          </p:cNvPr>
          <p:cNvSpPr>
            <a:spLocks xmlns:a="http://schemas.openxmlformats.org/drawingml/2006/main" noGrp="1"/>
          </p:cNvSpPr>
          <p:nvPr/>
        </p:nvSpPr>
        <p:spPr>
          <a:xfrm xmlns:a="http://schemas.openxmlformats.org/drawingml/2006/main">
            <a:off x="9315450" y="1771650"/>
            <a:ext cx="20383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20260524</a:t>
            </a:r>
          </a:p>
        </p:txBody>
      </p:sp>
      <p:sp>
        <p:nvSpPr>
          <p:cNvPr id="26" name="">
            <a:extLst xmlns:a="http://schemas.openxmlformats.org/drawingml/2006/main">
              <a:ext uri="{FF2B5EF4-FFF2-40B4-BE49-F238E27FC236}">
                <a16:creationId xmlns:a16="http://schemas.microsoft.com/office/drawing/2014/main" id="{15173A29-0A6F-4330-922E-3DD2B486615D}"/>
              </a:ext>
            </a:extLst>
          </p:cNvPr>
          <p:cNvSpPr>
            <a:spLocks xmlns:a="http://schemas.openxmlformats.org/drawingml/2006/main" noGrp="1"/>
          </p:cNvSpPr>
          <p:nvPr/>
        </p:nvSpPr>
        <p:spPr>
          <a:xfrm xmlns:a="http://schemas.openxmlformats.org/drawingml/2006/main">
            <a:off x="9315450" y="219075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Random seed</a:t>
            </a:r>
          </a:p>
        </p:txBody>
      </p:sp>
      <p:sp>
        <p:nvSpPr>
          <p:cNvPr id="27" name="">
            <a:extLst xmlns:a="http://schemas.openxmlformats.org/drawingml/2006/main">
              <a:ext uri="{FF2B5EF4-FFF2-40B4-BE49-F238E27FC236}">
                <a16:creationId xmlns:a16="http://schemas.microsoft.com/office/drawing/2014/main" id="{7AC4B1AC-A9D3-42F4-B552-915B0EFBDC7F}"/>
              </a:ext>
            </a:extLst>
          </p:cNvPr>
          <p:cNvSpPr>
            <a:spLocks xmlns:a="http://schemas.openxmlformats.org/drawingml/2006/main" noGrp="1"/>
          </p:cNvSpPr>
          <p:nvPr/>
        </p:nvSpPr>
        <p:spPr>
          <a:xfrm xmlns:a="http://schemas.openxmlformats.org/drawingml/2006/main">
            <a:off x="9315450" y="2476500"/>
            <a:ext cx="2038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The run is deterministic and reproducible.</a:t>
            </a:r>
          </a:p>
        </p:txBody>
      </p:sp>
      <p:sp>
        <p:nvSpPr>
          <p:cNvPr id="28" name="">
            <a:extLst xmlns:a="http://schemas.openxmlformats.org/drawingml/2006/main">
              <a:ext uri="{FF2B5EF4-FFF2-40B4-BE49-F238E27FC236}">
                <a16:creationId xmlns:a16="http://schemas.microsoft.com/office/drawing/2014/main" id="{2948486B-87AB-4638-B97F-82B2E7E20537}"/>
              </a:ext>
            </a:extLst>
          </p:cNvPr>
          <p:cNvSpPr>
            <a:spLocks xmlns:a="http://schemas.openxmlformats.org/drawingml/2006/main" noGrp="1"/>
          </p:cNvSpPr>
          <p:nvPr/>
        </p:nvSpPr>
        <p:spPr>
          <a:xfrm xmlns:a="http://schemas.openxmlformats.org/drawingml/2006/main">
            <a:off x="895350" y="3238500"/>
            <a:ext cx="49530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9" name="">
            <a:extLst xmlns:a="http://schemas.openxmlformats.org/drawingml/2006/main">
              <a:ext uri="{FF2B5EF4-FFF2-40B4-BE49-F238E27FC236}">
                <a16:creationId xmlns:a16="http://schemas.microsoft.com/office/drawing/2014/main" id="{29F8F8C7-DB53-4859-BF32-5065CE0D2E5B}"/>
              </a:ext>
            </a:extLst>
          </p:cNvPr>
          <p:cNvSpPr>
            <a:spLocks xmlns:a="http://schemas.openxmlformats.org/drawingml/2006/main" noGrp="1"/>
          </p:cNvSpPr>
          <p:nvPr/>
        </p:nvSpPr>
        <p:spPr>
          <a:xfrm xmlns:a="http://schemas.openxmlformats.org/drawingml/2006/main">
            <a:off x="895350" y="3238500"/>
            <a:ext cx="76200" cy="20955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56F7E5CB-3CEC-4F1C-B223-7E8B3F1A7A60}"/>
              </a:ext>
            </a:extLst>
          </p:cNvPr>
          <p:cNvSpPr>
            <a:spLocks xmlns:a="http://schemas.openxmlformats.org/drawingml/2006/main" noGrp="1"/>
          </p:cNvSpPr>
          <p:nvPr/>
        </p:nvSpPr>
        <p:spPr>
          <a:xfrm xmlns:a="http://schemas.openxmlformats.org/drawingml/2006/main">
            <a:off x="1123950" y="3409950"/>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What was simulated</a:t>
            </a:r>
          </a:p>
        </p:txBody>
      </p:sp>
      <p:sp>
        <p:nvSpPr>
          <p:cNvPr id="31" name="">
            <a:extLst xmlns:a="http://schemas.openxmlformats.org/drawingml/2006/main">
              <a:ext uri="{FF2B5EF4-FFF2-40B4-BE49-F238E27FC236}">
                <a16:creationId xmlns:a16="http://schemas.microsoft.com/office/drawing/2014/main" id="{6FC6CCF6-CE97-4B1E-BE92-DD6C53028EA1}"/>
              </a:ext>
            </a:extLst>
          </p:cNvPr>
          <p:cNvSpPr>
            <a:spLocks xmlns:a="http://schemas.openxmlformats.org/drawingml/2006/main" noGrp="1"/>
          </p:cNvSpPr>
          <p:nvPr/>
        </p:nvSpPr>
        <p:spPr>
          <a:xfrm xmlns:a="http://schemas.openxmlformats.org/drawingml/2006/main">
            <a:off x="1143000" y="3790950"/>
            <a:ext cx="44767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Baseband I/Q windows with GSM-family/proxy modulation structure (DeepSig, 2018).</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Low-SNR AWGN, narrowband interference, mild fading, and phase/frequency offset.</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A denoising-assisted path compared against a noisy baseline path (An &amp; Lee, 2023).</a:t>
            </a:r>
          </a:p>
        </p:txBody>
      </p:sp>
      <p:sp>
        <p:nvSpPr>
          <p:cNvPr id="32" name="">
            <a:extLst xmlns:a="http://schemas.openxmlformats.org/drawingml/2006/main">
              <a:ext uri="{FF2B5EF4-FFF2-40B4-BE49-F238E27FC236}">
                <a16:creationId xmlns:a16="http://schemas.microsoft.com/office/drawing/2014/main" id="{16ADCAD6-A1CC-44FD-A9A8-A677F30AF582}"/>
              </a:ext>
            </a:extLst>
          </p:cNvPr>
          <p:cNvSpPr>
            <a:spLocks xmlns:a="http://schemas.openxmlformats.org/drawingml/2006/main" noGrp="1"/>
          </p:cNvSpPr>
          <p:nvPr/>
        </p:nvSpPr>
        <p:spPr>
          <a:xfrm xmlns:a="http://schemas.openxmlformats.org/drawingml/2006/main">
            <a:off x="6343650" y="3238500"/>
            <a:ext cx="49530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33" name="">
            <a:extLst xmlns:a="http://schemas.openxmlformats.org/drawingml/2006/main">
              <a:ext uri="{FF2B5EF4-FFF2-40B4-BE49-F238E27FC236}">
                <a16:creationId xmlns:a16="http://schemas.microsoft.com/office/drawing/2014/main" id="{507CD4A8-3278-474E-AC62-194490EDDD73}"/>
              </a:ext>
            </a:extLst>
          </p:cNvPr>
          <p:cNvSpPr>
            <a:spLocks xmlns:a="http://schemas.openxmlformats.org/drawingml/2006/main" noGrp="1"/>
          </p:cNvSpPr>
          <p:nvPr/>
        </p:nvSpPr>
        <p:spPr>
          <a:xfrm xmlns:a="http://schemas.openxmlformats.org/drawingml/2006/main">
            <a:off x="6343650" y="3238500"/>
            <a:ext cx="76200" cy="2095500"/>
          </a:xfrm>
          <a:prstGeom xmlns:a="http://schemas.openxmlformats.org/drawingml/2006/main" prst="rect">
            <a:avLst/>
          </a:prstGeom>
          <a:solidFill xmlns:a="http://schemas.openxmlformats.org/drawingml/2006/main">
            <a:srgbClr val="B8464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FA064741-B0DB-4769-8ADE-57B31682119E}"/>
              </a:ext>
            </a:extLst>
          </p:cNvPr>
          <p:cNvSpPr>
            <a:spLocks xmlns:a="http://schemas.openxmlformats.org/drawingml/2006/main" noGrp="1"/>
          </p:cNvSpPr>
          <p:nvPr/>
        </p:nvSpPr>
        <p:spPr>
          <a:xfrm xmlns:a="http://schemas.openxmlformats.org/drawingml/2006/main">
            <a:off x="6572250" y="3409950"/>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What was not claimed</a:t>
            </a:r>
          </a:p>
        </p:txBody>
      </p:sp>
      <p:sp>
        <p:nvSpPr>
          <p:cNvPr id="35" name="">
            <a:extLst xmlns:a="http://schemas.openxmlformats.org/drawingml/2006/main">
              <a:ext uri="{FF2B5EF4-FFF2-40B4-BE49-F238E27FC236}">
                <a16:creationId xmlns:a16="http://schemas.microsoft.com/office/drawing/2014/main" id="{E98D7213-D628-43DC-93FC-A19652A67492}"/>
              </a:ext>
            </a:extLst>
          </p:cNvPr>
          <p:cNvSpPr>
            <a:spLocks xmlns:a="http://schemas.openxmlformats.org/drawingml/2006/main" noGrp="1"/>
          </p:cNvSpPr>
          <p:nvPr/>
        </p:nvSpPr>
        <p:spPr>
          <a:xfrm xmlns:a="http://schemas.openxmlformats.org/drawingml/2006/main">
            <a:off x="6591300" y="3790950"/>
            <a:ext cx="4476750" cy="1409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No field capture result is claimed in this slide deck.</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No live call, SMS, USSD, or Mobile Money improvement is claimed.</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No physical tower range extension is claimed.</a:t>
            </a:r>
          </a:p>
        </p:txBody>
      </p:sp>
    </p:spTree>
    <p:extLst>
      <p:ext uri="{BB962C8B-B14F-4D97-AF65-F5344CB8AC3E}">
        <p14:creationId xmlns:p14="http://schemas.microsoft.com/office/powerpoint/2010/main" val="185412053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48E375D-42A6-4466-BB32-5F8506AB16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611CF6-4B73-473C-B83C-A150CA7BB61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1C37760B-9F45-45A5-A344-FD33692585C4}"/>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0C5C826F-05BF-404A-87AE-E2633CE72BF1}"/>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Results</a:t>
            </a:r>
          </a:p>
        </p:txBody>
      </p:sp>
      <p:sp>
        <p:nvSpPr>
          <p:cNvPr id="5" name="">
            <a:extLst xmlns:a="http://schemas.openxmlformats.org/drawingml/2006/main">
              <a:ext uri="{FF2B5EF4-FFF2-40B4-BE49-F238E27FC236}">
                <a16:creationId xmlns:a16="http://schemas.microsoft.com/office/drawing/2014/main" id="{D9A4E36E-851A-4EFD-866F-CBFB9EDEFE94}"/>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9</a:t>
            </a:r>
          </a:p>
        </p:txBody>
      </p:sp>
      <p:sp>
        <p:nvSpPr>
          <p:cNvPr id="6" name="">
            <a:extLst xmlns:a="http://schemas.openxmlformats.org/drawingml/2006/main">
              <a:ext uri="{FF2B5EF4-FFF2-40B4-BE49-F238E27FC236}">
                <a16:creationId xmlns:a16="http://schemas.microsoft.com/office/drawing/2014/main" id="{415DC5E6-7EB3-4C56-8A0F-E77632866063}"/>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CONTROLLED SIMULATION</a:t>
            </a:r>
          </a:p>
        </p:txBody>
      </p:sp>
      <p:sp>
        <p:nvSpPr>
          <p:cNvPr id="7" name="">
            <a:extLst xmlns:a="http://schemas.openxmlformats.org/drawingml/2006/main">
              <a:ext uri="{FF2B5EF4-FFF2-40B4-BE49-F238E27FC236}">
                <a16:creationId xmlns:a16="http://schemas.microsoft.com/office/drawing/2014/main" id="{64239111-6186-4F88-AB18-3FCBF4561DA8}"/>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Results: Signal Denoising Output</a:t>
            </a:r>
          </a:p>
        </p:txBody>
      </p:sp>
      <p:sp>
        <p:nvSpPr>
          <p:cNvPr id="8" name="">
            <a:extLst xmlns:a="http://schemas.openxmlformats.org/drawingml/2006/main">
              <a:ext uri="{FF2B5EF4-FFF2-40B4-BE49-F238E27FC236}">
                <a16:creationId xmlns:a16="http://schemas.microsoft.com/office/drawing/2014/main" id="{0F8A3EEF-2F31-4877-A245-050F8DDA034C}"/>
              </a:ext>
            </a:extLst>
          </p:cNvPr>
          <p:cNvSpPr>
            <a:spLocks xmlns:a="http://schemas.openxmlformats.org/drawingml/2006/main" noGrp="1"/>
          </p:cNvSpPr>
          <p:nvPr/>
        </p:nvSpPr>
        <p:spPr>
          <a:xfrm xmlns:a="http://schemas.openxmlformats.org/drawingml/2006/main">
            <a:off x="590550" y="1581150"/>
            <a:ext cx="52959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99b109da348432d"/>
          <a:stretch xmlns:a="http://schemas.openxmlformats.org/drawingml/2006/main"/>
        </p:blipFill>
        <p:spPr>
          <a:xfrm xmlns:a="http://schemas.openxmlformats.org/drawingml/2006/main">
            <a:off x="685800" y="2031206"/>
            <a:ext cx="5105400" cy="2871788"/>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6402D9D-CAF8-4419-A967-2196F740DC51}"/>
              </a:ext>
            </a:extLst>
          </p:cNvPr>
          <p:cNvSpPr>
            <a:spLocks xmlns:a="http://schemas.openxmlformats.org/drawingml/2006/main" noGrp="1"/>
          </p:cNvSpPr>
          <p:nvPr/>
        </p:nvSpPr>
        <p:spPr>
          <a:xfrm xmlns:a="http://schemas.openxmlformats.org/drawingml/2006/main">
            <a:off x="742950" y="5314950"/>
            <a:ext cx="4991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C6B75"/>
                </a:solidFill>
                <a:latin typeface="Aptos"/>
                <a:ea typeface="Aptos"/>
                <a:cs typeface="Aptos"/>
              </a:defRPr>
            </a:pPr>
            <a:r>
              <a:rPr sz="1200" b="0">
                <a:solidFill>
                  <a:srgbClr val="5C6B75"/>
                </a:solidFill>
                <a:latin typeface="Aptos"/>
                <a:ea typeface="Aptos"/>
                <a:cs typeface="Aptos"/>
              </a:rPr>
              <a:t>Noisy, denoised, and clean reference waveform comparison</a:t>
            </a:r>
          </a:p>
        </p:txBody>
      </p:sp>
      <p:sp>
        <p:nvSpPr>
          <p:cNvPr id="11" name="">
            <a:extLst xmlns:a="http://schemas.openxmlformats.org/drawingml/2006/main">
              <a:ext uri="{FF2B5EF4-FFF2-40B4-BE49-F238E27FC236}">
                <a16:creationId xmlns:a16="http://schemas.microsoft.com/office/drawing/2014/main" id="{63BA37E2-93FE-49AE-85E2-AFFEB17ED190}"/>
              </a:ext>
            </a:extLst>
          </p:cNvPr>
          <p:cNvSpPr>
            <a:spLocks xmlns:a="http://schemas.openxmlformats.org/drawingml/2006/main" noGrp="1"/>
          </p:cNvSpPr>
          <p:nvPr/>
        </p:nvSpPr>
        <p:spPr>
          <a:xfrm xmlns:a="http://schemas.openxmlformats.org/drawingml/2006/main">
            <a:off x="6324600" y="1581150"/>
            <a:ext cx="52959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a4ab083bf5b4329"/>
          <a:stretch xmlns:a="http://schemas.openxmlformats.org/drawingml/2006/main"/>
        </p:blipFill>
        <p:spPr>
          <a:xfrm xmlns:a="http://schemas.openxmlformats.org/drawingml/2006/main">
            <a:off x="6419850" y="2031206"/>
            <a:ext cx="5105400" cy="287178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D1F67593-9662-4A2B-A56B-77C362B14817}"/>
              </a:ext>
            </a:extLst>
          </p:cNvPr>
          <p:cNvSpPr>
            <a:spLocks xmlns:a="http://schemas.openxmlformats.org/drawingml/2006/main" noGrp="1"/>
          </p:cNvSpPr>
          <p:nvPr/>
        </p:nvSpPr>
        <p:spPr>
          <a:xfrm xmlns:a="http://schemas.openxmlformats.org/drawingml/2006/main">
            <a:off x="6477000" y="5314950"/>
            <a:ext cx="4991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C6B75"/>
                </a:solidFill>
                <a:latin typeface="Aptos"/>
                <a:ea typeface="Aptos"/>
                <a:cs typeface="Aptos"/>
              </a:defRPr>
            </a:pPr>
            <a:r>
              <a:rPr sz="1200" b="0">
                <a:solidFill>
                  <a:srgbClr val="5C6B75"/>
                </a:solidFill>
                <a:latin typeface="Aptos"/>
                <a:ea typeface="Aptos"/>
                <a:cs typeface="Aptos"/>
              </a:rPr>
              <a:t>Constellation comparison at a low-SNR operating point</a:t>
            </a:r>
          </a:p>
        </p:txBody>
      </p:sp>
      <p:sp>
        <p:nvSpPr>
          <p:cNvPr id="14" name="">
            <a:extLst xmlns:a="http://schemas.openxmlformats.org/drawingml/2006/main">
              <a:ext uri="{FF2B5EF4-FFF2-40B4-BE49-F238E27FC236}">
                <a16:creationId xmlns:a16="http://schemas.microsoft.com/office/drawing/2014/main" id="{6511F4BB-F883-4CAC-993C-784C59456D42}"/>
              </a:ext>
            </a:extLst>
          </p:cNvPr>
          <p:cNvSpPr>
            <a:spLocks xmlns:a="http://schemas.openxmlformats.org/drawingml/2006/main" noGrp="1"/>
          </p:cNvSpPr>
          <p:nvPr/>
        </p:nvSpPr>
        <p:spPr>
          <a:xfrm xmlns:a="http://schemas.openxmlformats.org/drawingml/2006/main">
            <a:off x="1143000" y="5753100"/>
            <a:ext cx="9906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102033"/>
                </a:solidFill>
                <a:latin typeface="Aptos"/>
                <a:ea typeface="Aptos"/>
                <a:cs typeface="Aptos"/>
              </a:defRPr>
            </a:pPr>
            <a:r>
              <a:rPr sz="1200" b="0">
                <a:solidFill>
                  <a:srgbClr val="102033"/>
                </a:solidFill>
                <a:latin typeface="Aptos"/>
                <a:ea typeface="Aptos"/>
                <a:cs typeface="Aptos"/>
              </a:rPr>
              <a:t>Interpretation: this controlled simulation is not final DAE performance; it shows why denoising before AMC is worth completing (An &amp; Lee, 2023; Ssemujju &amp; Kisige, 2026).</a:t>
            </a:r>
          </a:p>
        </p:txBody>
      </p:sp>
    </p:spTree>
    <p:extLst>
      <p:ext uri="{BB962C8B-B14F-4D97-AF65-F5344CB8AC3E}">
        <p14:creationId xmlns:p14="http://schemas.microsoft.com/office/powerpoint/2010/main" val="7283428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73774E-B53D-4DDE-881A-735DCC520C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7F722A3-96D9-4112-876C-DCB85CE65B2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82163CF4-181B-4304-B090-7225E9692E25}"/>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45D11247-33D8-47B7-9642-5CF14064B47B}"/>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Results</a:t>
            </a:r>
          </a:p>
        </p:txBody>
      </p:sp>
      <p:sp>
        <p:nvSpPr>
          <p:cNvPr id="5" name="">
            <a:extLst xmlns:a="http://schemas.openxmlformats.org/drawingml/2006/main">
              <a:ext uri="{FF2B5EF4-FFF2-40B4-BE49-F238E27FC236}">
                <a16:creationId xmlns:a16="http://schemas.microsoft.com/office/drawing/2014/main" id="{E7D0579F-3A61-4F58-91F0-AF98F9132EE2}"/>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10</a:t>
            </a:r>
          </a:p>
        </p:txBody>
      </p:sp>
      <p:sp>
        <p:nvSpPr>
          <p:cNvPr id="6" name="">
            <a:extLst xmlns:a="http://schemas.openxmlformats.org/drawingml/2006/main">
              <a:ext uri="{FF2B5EF4-FFF2-40B4-BE49-F238E27FC236}">
                <a16:creationId xmlns:a16="http://schemas.microsoft.com/office/drawing/2014/main" id="{8388D15C-2545-439B-8CEE-59788C7BBDE5}"/>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CONTROLLED SIMULATION</a:t>
            </a:r>
          </a:p>
        </p:txBody>
      </p:sp>
      <p:sp>
        <p:nvSpPr>
          <p:cNvPr id="7" name="">
            <a:extLst xmlns:a="http://schemas.openxmlformats.org/drawingml/2006/main">
              <a:ext uri="{FF2B5EF4-FFF2-40B4-BE49-F238E27FC236}">
                <a16:creationId xmlns:a16="http://schemas.microsoft.com/office/drawing/2014/main" id="{C5EC0D3A-6A48-44FD-A70E-68FC7AE33538}"/>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Results: Classification Performance</a:t>
            </a:r>
          </a:p>
        </p:txBody>
      </p:sp>
      <p:sp>
        <p:nvSpPr>
          <p:cNvPr id="8" name="">
            <a:extLst xmlns:a="http://schemas.openxmlformats.org/drawingml/2006/main">
              <a:ext uri="{FF2B5EF4-FFF2-40B4-BE49-F238E27FC236}">
                <a16:creationId xmlns:a16="http://schemas.microsoft.com/office/drawing/2014/main" id="{8A491DBA-5EA9-458E-9FB7-F09C383C936F}"/>
              </a:ext>
            </a:extLst>
          </p:cNvPr>
          <p:cNvSpPr>
            <a:spLocks xmlns:a="http://schemas.openxmlformats.org/drawingml/2006/main" noGrp="1"/>
          </p:cNvSpPr>
          <p:nvPr/>
        </p:nvSpPr>
        <p:spPr>
          <a:xfrm xmlns:a="http://schemas.openxmlformats.org/drawingml/2006/main">
            <a:off x="571500" y="1428750"/>
            <a:ext cx="7239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611ba87357a74979"/>
          <a:stretch xmlns:a="http://schemas.openxmlformats.org/drawingml/2006/main"/>
        </p:blipFill>
        <p:spPr>
          <a:xfrm xmlns:a="http://schemas.openxmlformats.org/drawingml/2006/main">
            <a:off x="1007533" y="1524000"/>
            <a:ext cx="6366933" cy="3581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58FB888-2C43-4F78-A6F7-69283DD8BE36}"/>
              </a:ext>
            </a:extLst>
          </p:cNvPr>
          <p:cNvSpPr>
            <a:spLocks xmlns:a="http://schemas.openxmlformats.org/drawingml/2006/main" noGrp="1"/>
          </p:cNvSpPr>
          <p:nvPr/>
        </p:nvSpPr>
        <p:spPr>
          <a:xfrm xmlns:a="http://schemas.openxmlformats.org/drawingml/2006/main">
            <a:off x="723900" y="5162550"/>
            <a:ext cx="6934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C6B75"/>
                </a:solidFill>
                <a:latin typeface="Aptos"/>
                <a:ea typeface="Aptos"/>
                <a:cs typeface="Aptos"/>
              </a:defRPr>
            </a:pPr>
            <a:r>
              <a:rPr sz="1200" b="0">
                <a:solidFill>
                  <a:srgbClr val="5C6B75"/>
                </a:solidFill>
                <a:latin typeface="Aptos"/>
                <a:ea typeface="Aptos"/>
                <a:cs typeface="Aptos"/>
              </a:rPr>
              <a:t>Accuracy by SNR: noisy baseline versus denoising-assisted AMC</a:t>
            </a:r>
          </a:p>
        </p:txBody>
      </p:sp>
      <p:sp>
        <p:nvSpPr>
          <p:cNvPr id="11" name="">
            <a:extLst xmlns:a="http://schemas.openxmlformats.org/drawingml/2006/main">
              <a:ext uri="{FF2B5EF4-FFF2-40B4-BE49-F238E27FC236}">
                <a16:creationId xmlns:a16="http://schemas.microsoft.com/office/drawing/2014/main" id="{85F5D9F2-BD3C-48F6-AEB8-50E26EC589F0}"/>
              </a:ext>
            </a:extLst>
          </p:cNvPr>
          <p:cNvSpPr>
            <a:spLocks xmlns:a="http://schemas.openxmlformats.org/drawingml/2006/main" noGrp="1"/>
          </p:cNvSpPr>
          <p:nvPr/>
        </p:nvSpPr>
        <p:spPr>
          <a:xfrm xmlns:a="http://schemas.openxmlformats.org/drawingml/2006/main">
            <a:off x="8172450" y="167640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2" name="">
            <a:extLst xmlns:a="http://schemas.openxmlformats.org/drawingml/2006/main">
              <a:ext uri="{FF2B5EF4-FFF2-40B4-BE49-F238E27FC236}">
                <a16:creationId xmlns:a16="http://schemas.microsoft.com/office/drawing/2014/main" id="{CF92CE25-EA42-4DCA-87EF-86A4D84DD0D6}"/>
              </a:ext>
            </a:extLst>
          </p:cNvPr>
          <p:cNvSpPr>
            <a:spLocks xmlns:a="http://schemas.openxmlformats.org/drawingml/2006/main" noGrp="1"/>
          </p:cNvSpPr>
          <p:nvPr/>
        </p:nvSpPr>
        <p:spPr>
          <a:xfrm xmlns:a="http://schemas.openxmlformats.org/drawingml/2006/main">
            <a:off x="8172450" y="1676400"/>
            <a:ext cx="2857500" cy="76200"/>
          </a:xfrm>
          <a:prstGeom xmlns:a="http://schemas.openxmlformats.org/drawingml/2006/main" prst="rect">
            <a:avLst/>
          </a:prstGeom>
          <a:solidFill xmlns:a="http://schemas.openxmlformats.org/drawingml/2006/main">
            <a:srgbClr val="E27A1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7F7C34FE-F238-4831-A872-44EEF3A10FAA}"/>
              </a:ext>
            </a:extLst>
          </p:cNvPr>
          <p:cNvSpPr>
            <a:spLocks xmlns:a="http://schemas.openxmlformats.org/drawingml/2006/main" noGrp="1"/>
          </p:cNvSpPr>
          <p:nvPr/>
        </p:nvSpPr>
        <p:spPr>
          <a:xfrm xmlns:a="http://schemas.openxmlformats.org/drawingml/2006/main">
            <a:off x="8343900" y="186690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49.4%</a:t>
            </a:r>
          </a:p>
        </p:txBody>
      </p:sp>
      <p:sp>
        <p:nvSpPr>
          <p:cNvPr id="14" name="">
            <a:extLst xmlns:a="http://schemas.openxmlformats.org/drawingml/2006/main">
              <a:ext uri="{FF2B5EF4-FFF2-40B4-BE49-F238E27FC236}">
                <a16:creationId xmlns:a16="http://schemas.microsoft.com/office/drawing/2014/main" id="{CFAEFCD4-35A2-46E6-A0E7-4EDC9FAE2179}"/>
              </a:ext>
            </a:extLst>
          </p:cNvPr>
          <p:cNvSpPr>
            <a:spLocks xmlns:a="http://schemas.openxmlformats.org/drawingml/2006/main" noGrp="1"/>
          </p:cNvSpPr>
          <p:nvPr/>
        </p:nvSpPr>
        <p:spPr>
          <a:xfrm xmlns:a="http://schemas.openxmlformats.org/drawingml/2006/main">
            <a:off x="8343900" y="228600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Noisy baseline</a:t>
            </a:r>
          </a:p>
        </p:txBody>
      </p:sp>
      <p:sp>
        <p:nvSpPr>
          <p:cNvPr id="15" name="">
            <a:extLst xmlns:a="http://schemas.openxmlformats.org/drawingml/2006/main">
              <a:ext uri="{FF2B5EF4-FFF2-40B4-BE49-F238E27FC236}">
                <a16:creationId xmlns:a16="http://schemas.microsoft.com/office/drawing/2014/main" id="{8C049CB1-4395-4976-8247-2663185AE193}"/>
              </a:ext>
            </a:extLst>
          </p:cNvPr>
          <p:cNvSpPr>
            <a:spLocks xmlns:a="http://schemas.openxmlformats.org/drawingml/2006/main" noGrp="1"/>
          </p:cNvSpPr>
          <p:nvPr/>
        </p:nvSpPr>
        <p:spPr>
          <a:xfrm xmlns:a="http://schemas.openxmlformats.org/drawingml/2006/main">
            <a:off x="8343900" y="25717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Mean accuracy across controlled SNR levels.</a:t>
            </a:r>
          </a:p>
        </p:txBody>
      </p:sp>
      <p:sp>
        <p:nvSpPr>
          <p:cNvPr id="16" name="">
            <a:extLst xmlns:a="http://schemas.openxmlformats.org/drawingml/2006/main">
              <a:ext uri="{FF2B5EF4-FFF2-40B4-BE49-F238E27FC236}">
                <a16:creationId xmlns:a16="http://schemas.microsoft.com/office/drawing/2014/main" id="{19799D5E-75EF-4346-9A78-9B12209B3E4D}"/>
              </a:ext>
            </a:extLst>
          </p:cNvPr>
          <p:cNvSpPr>
            <a:spLocks xmlns:a="http://schemas.openxmlformats.org/drawingml/2006/main" noGrp="1"/>
          </p:cNvSpPr>
          <p:nvPr/>
        </p:nvSpPr>
        <p:spPr>
          <a:xfrm xmlns:a="http://schemas.openxmlformats.org/drawingml/2006/main">
            <a:off x="8172450" y="308610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7" name="">
            <a:extLst xmlns:a="http://schemas.openxmlformats.org/drawingml/2006/main">
              <a:ext uri="{FF2B5EF4-FFF2-40B4-BE49-F238E27FC236}">
                <a16:creationId xmlns:a16="http://schemas.microsoft.com/office/drawing/2014/main" id="{63BF92C7-177E-44BD-A9EE-ED068C836A4A}"/>
              </a:ext>
            </a:extLst>
          </p:cNvPr>
          <p:cNvSpPr>
            <a:spLocks xmlns:a="http://schemas.openxmlformats.org/drawingml/2006/main" noGrp="1"/>
          </p:cNvSpPr>
          <p:nvPr/>
        </p:nvSpPr>
        <p:spPr>
          <a:xfrm xmlns:a="http://schemas.openxmlformats.org/drawingml/2006/main">
            <a:off x="8172450" y="3086100"/>
            <a:ext cx="2857500" cy="762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92569AB-640E-4396-A0E1-798FDA40716F}"/>
              </a:ext>
            </a:extLst>
          </p:cNvPr>
          <p:cNvSpPr>
            <a:spLocks xmlns:a="http://schemas.openxmlformats.org/drawingml/2006/main" noGrp="1"/>
          </p:cNvSpPr>
          <p:nvPr/>
        </p:nvSpPr>
        <p:spPr>
          <a:xfrm xmlns:a="http://schemas.openxmlformats.org/drawingml/2006/main">
            <a:off x="8343900" y="327660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52.0%</a:t>
            </a:r>
          </a:p>
        </p:txBody>
      </p:sp>
      <p:sp>
        <p:nvSpPr>
          <p:cNvPr id="19" name="">
            <a:extLst xmlns:a="http://schemas.openxmlformats.org/drawingml/2006/main">
              <a:ext uri="{FF2B5EF4-FFF2-40B4-BE49-F238E27FC236}">
                <a16:creationId xmlns:a16="http://schemas.microsoft.com/office/drawing/2014/main" id="{F7955B7E-7A17-4358-B2AF-352F9D2E0452}"/>
              </a:ext>
            </a:extLst>
          </p:cNvPr>
          <p:cNvSpPr>
            <a:spLocks xmlns:a="http://schemas.openxmlformats.org/drawingml/2006/main" noGrp="1"/>
          </p:cNvSpPr>
          <p:nvPr/>
        </p:nvSpPr>
        <p:spPr>
          <a:xfrm xmlns:a="http://schemas.openxmlformats.org/drawingml/2006/main">
            <a:off x="8343900" y="369570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Denoising-assisted</a:t>
            </a:r>
          </a:p>
        </p:txBody>
      </p:sp>
      <p:sp>
        <p:nvSpPr>
          <p:cNvPr id="20" name="">
            <a:extLst xmlns:a="http://schemas.openxmlformats.org/drawingml/2006/main">
              <a:ext uri="{FF2B5EF4-FFF2-40B4-BE49-F238E27FC236}">
                <a16:creationId xmlns:a16="http://schemas.microsoft.com/office/drawing/2014/main" id="{D8A0CF4F-3E18-4C5A-ADAD-F791ED95C0B8}"/>
              </a:ext>
            </a:extLst>
          </p:cNvPr>
          <p:cNvSpPr>
            <a:spLocks xmlns:a="http://schemas.openxmlformats.org/drawingml/2006/main" noGrp="1"/>
          </p:cNvSpPr>
          <p:nvPr/>
        </p:nvSpPr>
        <p:spPr>
          <a:xfrm xmlns:a="http://schemas.openxmlformats.org/drawingml/2006/main">
            <a:off x="8343900" y="39814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Mean accuracy with the denoising-assisted path.</a:t>
            </a:r>
          </a:p>
        </p:txBody>
      </p:sp>
      <p:sp>
        <p:nvSpPr>
          <p:cNvPr id="21" name="">
            <a:extLst xmlns:a="http://schemas.openxmlformats.org/drawingml/2006/main">
              <a:ext uri="{FF2B5EF4-FFF2-40B4-BE49-F238E27FC236}">
                <a16:creationId xmlns:a16="http://schemas.microsoft.com/office/drawing/2014/main" id="{7AAFE31F-2D1E-4FBF-A7A1-D11EC593B09B}"/>
              </a:ext>
            </a:extLst>
          </p:cNvPr>
          <p:cNvSpPr>
            <a:spLocks xmlns:a="http://schemas.openxmlformats.org/drawingml/2006/main" noGrp="1"/>
          </p:cNvSpPr>
          <p:nvPr/>
        </p:nvSpPr>
        <p:spPr>
          <a:xfrm xmlns:a="http://schemas.openxmlformats.org/drawingml/2006/main">
            <a:off x="8172450" y="4495800"/>
            <a:ext cx="2857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2" name="">
            <a:extLst xmlns:a="http://schemas.openxmlformats.org/drawingml/2006/main">
              <a:ext uri="{FF2B5EF4-FFF2-40B4-BE49-F238E27FC236}">
                <a16:creationId xmlns:a16="http://schemas.microsoft.com/office/drawing/2014/main" id="{BA58092A-E627-4B4E-88AD-F4FF60B012FF}"/>
              </a:ext>
            </a:extLst>
          </p:cNvPr>
          <p:cNvSpPr>
            <a:spLocks xmlns:a="http://schemas.openxmlformats.org/drawingml/2006/main" noGrp="1"/>
          </p:cNvSpPr>
          <p:nvPr/>
        </p:nvSpPr>
        <p:spPr>
          <a:xfrm xmlns:a="http://schemas.openxmlformats.org/drawingml/2006/main">
            <a:off x="8172450" y="4495800"/>
            <a:ext cx="2857500" cy="7620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6D12FF85-1DF5-462A-B7A5-79A8C444E30C}"/>
              </a:ext>
            </a:extLst>
          </p:cNvPr>
          <p:cNvSpPr>
            <a:spLocks xmlns:a="http://schemas.openxmlformats.org/drawingml/2006/main" noGrp="1"/>
          </p:cNvSpPr>
          <p:nvPr/>
        </p:nvSpPr>
        <p:spPr>
          <a:xfrm xmlns:a="http://schemas.openxmlformats.org/drawingml/2006/main">
            <a:off x="8343900" y="468630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+9.2 pts</a:t>
            </a:r>
          </a:p>
        </p:txBody>
      </p:sp>
      <p:sp>
        <p:nvSpPr>
          <p:cNvPr id="24" name="">
            <a:extLst xmlns:a="http://schemas.openxmlformats.org/drawingml/2006/main">
              <a:ext uri="{FF2B5EF4-FFF2-40B4-BE49-F238E27FC236}">
                <a16:creationId xmlns:a16="http://schemas.microsoft.com/office/drawing/2014/main" id="{D2B7F718-FC62-4B71-9B8E-F0A2A5585F0E}"/>
              </a:ext>
            </a:extLst>
          </p:cNvPr>
          <p:cNvSpPr>
            <a:spLocks xmlns:a="http://schemas.openxmlformats.org/drawingml/2006/main" noGrp="1"/>
          </p:cNvSpPr>
          <p:nvPr/>
        </p:nvSpPr>
        <p:spPr>
          <a:xfrm xmlns:a="http://schemas.openxmlformats.org/drawingml/2006/main">
            <a:off x="8343900" y="510540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Largest observed gain</a:t>
            </a:r>
          </a:p>
        </p:txBody>
      </p:sp>
      <p:sp>
        <p:nvSpPr>
          <p:cNvPr id="25" name="">
            <a:extLst xmlns:a="http://schemas.openxmlformats.org/drawingml/2006/main">
              <a:ext uri="{FF2B5EF4-FFF2-40B4-BE49-F238E27FC236}">
                <a16:creationId xmlns:a16="http://schemas.microsoft.com/office/drawing/2014/main" id="{925AE5B5-7E1D-4C51-A8B3-33B30B24D6AA}"/>
              </a:ext>
            </a:extLst>
          </p:cNvPr>
          <p:cNvSpPr>
            <a:spLocks xmlns:a="http://schemas.openxmlformats.org/drawingml/2006/main" noGrp="1"/>
          </p:cNvSpPr>
          <p:nvPr/>
        </p:nvSpPr>
        <p:spPr>
          <a:xfrm xmlns:a="http://schemas.openxmlformats.org/drawingml/2006/main">
            <a:off x="8343900" y="539115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At 0 dB in this preliminary controlled run.</a:t>
            </a:r>
          </a:p>
        </p:txBody>
      </p:sp>
      <p:sp>
        <p:nvSpPr>
          <p:cNvPr id="26" name="">
            <a:extLst xmlns:a="http://schemas.openxmlformats.org/drawingml/2006/main">
              <a:ext uri="{FF2B5EF4-FFF2-40B4-BE49-F238E27FC236}">
                <a16:creationId xmlns:a16="http://schemas.microsoft.com/office/drawing/2014/main" id="{A8CD066D-AA53-4413-BF00-C05385862022}"/>
              </a:ext>
            </a:extLst>
          </p:cNvPr>
          <p:cNvSpPr>
            <a:spLocks xmlns:a="http://schemas.openxmlformats.org/drawingml/2006/main" noGrp="1"/>
          </p:cNvSpPr>
          <p:nvPr/>
        </p:nvSpPr>
        <p:spPr>
          <a:xfrm xmlns:a="http://schemas.openxmlformats.org/drawingml/2006/main">
            <a:off x="762000" y="5753100"/>
            <a:ext cx="10668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B84646"/>
                </a:solidFill>
                <a:latin typeface="Aptos"/>
                <a:ea typeface="Aptos"/>
                <a:cs typeface="Aptos"/>
              </a:defRPr>
            </a:pPr>
            <a:r>
              <a:rPr sz="1500" b="1">
                <a:solidFill>
                  <a:srgbClr val="B84646"/>
                </a:solidFill>
                <a:latin typeface="Aptos"/>
                <a:ea typeface="Aptos"/>
                <a:cs typeface="Aptos"/>
              </a:rPr>
              <a:t>Result status: preliminary controlled simulation, not final field validation (Ssemujju &amp; Kisige, 2026).</a:t>
            </a:r>
          </a:p>
        </p:txBody>
      </p:sp>
    </p:spTree>
    <p:extLst>
      <p:ext uri="{BB962C8B-B14F-4D97-AF65-F5344CB8AC3E}">
        <p14:creationId xmlns:p14="http://schemas.microsoft.com/office/powerpoint/2010/main" val="90027260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0D53C2-65C4-4CA3-84F2-92E37FCDC8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0A90135-C371-498F-9F05-60621259B4C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128C14F-D8AA-4752-B075-A0F001242FE7}"/>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164F313-E9A9-44D2-8930-CD2A966EBF0E}"/>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Discussion of results</a:t>
            </a:r>
          </a:p>
        </p:txBody>
      </p:sp>
      <p:sp>
        <p:nvSpPr>
          <p:cNvPr id="5" name="">
            <a:extLst xmlns:a="http://schemas.openxmlformats.org/drawingml/2006/main">
              <a:ext uri="{FF2B5EF4-FFF2-40B4-BE49-F238E27FC236}">
                <a16:creationId xmlns:a16="http://schemas.microsoft.com/office/drawing/2014/main" id="{CECB006C-931A-49F7-AAEC-C45D333D8907}"/>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11</a:t>
            </a:r>
          </a:p>
        </p:txBody>
      </p:sp>
      <p:sp>
        <p:nvSpPr>
          <p:cNvPr id="6" name="">
            <a:extLst xmlns:a="http://schemas.openxmlformats.org/drawingml/2006/main">
              <a:ext uri="{FF2B5EF4-FFF2-40B4-BE49-F238E27FC236}">
                <a16:creationId xmlns:a16="http://schemas.microsoft.com/office/drawing/2014/main" id="{F55D18DD-D6A8-468A-9922-0CB134EA1E90}"/>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INTERPRETATION</a:t>
            </a:r>
          </a:p>
        </p:txBody>
      </p:sp>
      <p:sp>
        <p:nvSpPr>
          <p:cNvPr id="7" name="">
            <a:extLst xmlns:a="http://schemas.openxmlformats.org/drawingml/2006/main">
              <a:ext uri="{FF2B5EF4-FFF2-40B4-BE49-F238E27FC236}">
                <a16:creationId xmlns:a16="http://schemas.microsoft.com/office/drawing/2014/main" id="{948F61D2-0EF6-40ED-8029-522E1D02E708}"/>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Discussion of Results</a:t>
            </a:r>
          </a:p>
        </p:txBody>
      </p:sp>
      <p:sp>
        <p:nvSpPr>
          <p:cNvPr id="8" name="">
            <a:extLst xmlns:a="http://schemas.openxmlformats.org/drawingml/2006/main">
              <a:ext uri="{FF2B5EF4-FFF2-40B4-BE49-F238E27FC236}">
                <a16:creationId xmlns:a16="http://schemas.microsoft.com/office/drawing/2014/main" id="{5594C5E5-361E-441E-A5B7-F4F6EF4C6496}"/>
              </a:ext>
            </a:extLst>
          </p:cNvPr>
          <p:cNvSpPr>
            <a:spLocks xmlns:a="http://schemas.openxmlformats.org/drawingml/2006/main" noGrp="1"/>
          </p:cNvSpPr>
          <p:nvPr/>
        </p:nvSpPr>
        <p:spPr>
          <a:xfrm xmlns:a="http://schemas.openxmlformats.org/drawingml/2006/main">
            <a:off x="666750" y="1524000"/>
            <a:ext cx="4953000" cy="37147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80c9becc9394e7b"/>
          <a:stretch xmlns:a="http://schemas.openxmlformats.org/drawingml/2006/main"/>
        </p:blipFill>
        <p:spPr>
          <a:xfrm xmlns:a="http://schemas.openxmlformats.org/drawingml/2006/main">
            <a:off x="762000" y="1688646"/>
            <a:ext cx="4762500" cy="3061607"/>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CB284EC-EB22-4E7C-9F52-D47FEA56C8BD}"/>
              </a:ext>
            </a:extLst>
          </p:cNvPr>
          <p:cNvSpPr>
            <a:spLocks xmlns:a="http://schemas.openxmlformats.org/drawingml/2006/main" noGrp="1"/>
          </p:cNvSpPr>
          <p:nvPr/>
        </p:nvSpPr>
        <p:spPr>
          <a:xfrm xmlns:a="http://schemas.openxmlformats.org/drawingml/2006/main">
            <a:off x="819150" y="4876800"/>
            <a:ext cx="46482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5C6B75"/>
                </a:solidFill>
                <a:latin typeface="Aptos"/>
                <a:ea typeface="Aptos"/>
                <a:cs typeface="Aptos"/>
              </a:defRPr>
            </a:pPr>
            <a:r>
              <a:rPr sz="1200" b="0">
                <a:solidFill>
                  <a:srgbClr val="5C6B75"/>
                </a:solidFill>
                <a:latin typeface="Aptos"/>
                <a:ea typeface="Aptos"/>
                <a:cs typeface="Aptos"/>
              </a:rPr>
              <a:t>Denoising-assisted confusion matrix across controlled SNR levels</a:t>
            </a:r>
          </a:p>
        </p:txBody>
      </p:sp>
      <p:sp>
        <p:nvSpPr>
          <p:cNvPr id="11" name="">
            <a:extLst xmlns:a="http://schemas.openxmlformats.org/drawingml/2006/main">
              <a:ext uri="{FF2B5EF4-FFF2-40B4-BE49-F238E27FC236}">
                <a16:creationId xmlns:a16="http://schemas.microsoft.com/office/drawing/2014/main" id="{4FFB7662-79EF-4907-A8E7-61B8F55B920A}"/>
              </a:ext>
            </a:extLst>
          </p:cNvPr>
          <p:cNvSpPr>
            <a:spLocks xmlns:a="http://schemas.openxmlformats.org/drawingml/2006/main" noGrp="1"/>
          </p:cNvSpPr>
          <p:nvPr/>
        </p:nvSpPr>
        <p:spPr>
          <a:xfrm xmlns:a="http://schemas.openxmlformats.org/drawingml/2006/main">
            <a:off x="6096000" y="1619250"/>
            <a:ext cx="4953000" cy="1571625"/>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2" name="">
            <a:extLst xmlns:a="http://schemas.openxmlformats.org/drawingml/2006/main">
              <a:ext uri="{FF2B5EF4-FFF2-40B4-BE49-F238E27FC236}">
                <a16:creationId xmlns:a16="http://schemas.microsoft.com/office/drawing/2014/main" id="{80477562-5693-41B9-976F-8F0DDDF7AD85}"/>
              </a:ext>
            </a:extLst>
          </p:cNvPr>
          <p:cNvSpPr>
            <a:spLocks xmlns:a="http://schemas.openxmlformats.org/drawingml/2006/main" noGrp="1"/>
          </p:cNvSpPr>
          <p:nvPr/>
        </p:nvSpPr>
        <p:spPr>
          <a:xfrm xmlns:a="http://schemas.openxmlformats.org/drawingml/2006/main">
            <a:off x="6096000" y="1619250"/>
            <a:ext cx="76200" cy="1571625"/>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36C8272-75D5-4897-ADA1-70FBB4B652B5}"/>
              </a:ext>
            </a:extLst>
          </p:cNvPr>
          <p:cNvSpPr>
            <a:spLocks xmlns:a="http://schemas.openxmlformats.org/drawingml/2006/main" noGrp="1"/>
          </p:cNvSpPr>
          <p:nvPr/>
        </p:nvSpPr>
        <p:spPr>
          <a:xfrm xmlns:a="http://schemas.openxmlformats.org/drawingml/2006/main">
            <a:off x="6324600" y="1790700"/>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Observed pattern</a:t>
            </a:r>
          </a:p>
        </p:txBody>
      </p:sp>
      <p:sp>
        <p:nvSpPr>
          <p:cNvPr id="14" name="">
            <a:extLst xmlns:a="http://schemas.openxmlformats.org/drawingml/2006/main">
              <a:ext uri="{FF2B5EF4-FFF2-40B4-BE49-F238E27FC236}">
                <a16:creationId xmlns:a16="http://schemas.microsoft.com/office/drawing/2014/main" id="{9587A093-FFC1-4A42-97DB-362C05772219}"/>
              </a:ext>
            </a:extLst>
          </p:cNvPr>
          <p:cNvSpPr>
            <a:spLocks xmlns:a="http://schemas.openxmlformats.org/drawingml/2006/main" noGrp="1"/>
          </p:cNvSpPr>
          <p:nvPr/>
        </p:nvSpPr>
        <p:spPr>
          <a:xfrm xmlns:a="http://schemas.openxmlformats.org/drawingml/2006/main">
            <a:off x="6343650" y="2171700"/>
            <a:ext cx="4476750" cy="8858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denoising-assisted path improves the controlled run overall (Ssemujju &amp; Kisige, 2026).</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clearest gain appears around the difficult 0 dB condition.</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Cleaner SNR conditions do not require aggressive denoising, so adaptive bypass is sensible (An &amp; Lee, 2023).</a:t>
            </a:r>
          </a:p>
        </p:txBody>
      </p:sp>
      <p:sp>
        <p:nvSpPr>
          <p:cNvPr id="15" name="">
            <a:extLst xmlns:a="http://schemas.openxmlformats.org/drawingml/2006/main">
              <a:ext uri="{FF2B5EF4-FFF2-40B4-BE49-F238E27FC236}">
                <a16:creationId xmlns:a16="http://schemas.microsoft.com/office/drawing/2014/main" id="{D8F37D5D-487F-40B9-BF7D-E71281BA10E3}"/>
              </a:ext>
            </a:extLst>
          </p:cNvPr>
          <p:cNvSpPr>
            <a:spLocks xmlns:a="http://schemas.openxmlformats.org/drawingml/2006/main" noGrp="1"/>
          </p:cNvSpPr>
          <p:nvPr/>
        </p:nvSpPr>
        <p:spPr>
          <a:xfrm xmlns:a="http://schemas.openxmlformats.org/drawingml/2006/main">
            <a:off x="6096000" y="3600450"/>
            <a:ext cx="4953000" cy="163830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6" name="">
            <a:extLst xmlns:a="http://schemas.openxmlformats.org/drawingml/2006/main">
              <a:ext uri="{FF2B5EF4-FFF2-40B4-BE49-F238E27FC236}">
                <a16:creationId xmlns:a16="http://schemas.microsoft.com/office/drawing/2014/main" id="{3D1D3493-6D9D-4ED5-A750-487630BABE04}"/>
              </a:ext>
            </a:extLst>
          </p:cNvPr>
          <p:cNvSpPr>
            <a:spLocks xmlns:a="http://schemas.openxmlformats.org/drawingml/2006/main" noGrp="1"/>
          </p:cNvSpPr>
          <p:nvPr/>
        </p:nvSpPr>
        <p:spPr>
          <a:xfrm xmlns:a="http://schemas.openxmlformats.org/drawingml/2006/main">
            <a:off x="6096000" y="3600450"/>
            <a:ext cx="76200" cy="1638300"/>
          </a:xfrm>
          <a:prstGeom xmlns:a="http://schemas.openxmlformats.org/drawingml/2006/main" prst="rect">
            <a:avLst/>
          </a:prstGeom>
          <a:solidFill xmlns:a="http://schemas.openxmlformats.org/drawingml/2006/main">
            <a:srgbClr val="B84646"/>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3415259-B539-4835-AAEF-31631281E684}"/>
              </a:ext>
            </a:extLst>
          </p:cNvPr>
          <p:cNvSpPr>
            <a:spLocks xmlns:a="http://schemas.openxmlformats.org/drawingml/2006/main" noGrp="1"/>
          </p:cNvSpPr>
          <p:nvPr/>
        </p:nvSpPr>
        <p:spPr>
          <a:xfrm xmlns:a="http://schemas.openxmlformats.org/drawingml/2006/main">
            <a:off x="6324600" y="3771900"/>
            <a:ext cx="45339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Limitations</a:t>
            </a:r>
          </a:p>
        </p:txBody>
      </p:sp>
      <p:sp>
        <p:nvSpPr>
          <p:cNvPr id="18" name="">
            <a:extLst xmlns:a="http://schemas.openxmlformats.org/drawingml/2006/main">
              <a:ext uri="{FF2B5EF4-FFF2-40B4-BE49-F238E27FC236}">
                <a16:creationId xmlns:a16="http://schemas.microsoft.com/office/drawing/2014/main" id="{89DA3A99-5A77-443B-AF81-11541A145097}"/>
              </a:ext>
            </a:extLst>
          </p:cNvPr>
          <p:cNvSpPr>
            <a:spLocks xmlns:a="http://schemas.openxmlformats.org/drawingml/2006/main" noGrp="1"/>
          </p:cNvSpPr>
          <p:nvPr/>
        </p:nvSpPr>
        <p:spPr>
          <a:xfrm xmlns:a="http://schemas.openxmlformats.org/drawingml/2006/main">
            <a:off x="6343650" y="4152900"/>
            <a:ext cx="4476750" cy="952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samples are synthetic and should be replaced or supplemented with stronger datasets.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denoising block is preliminary; final DAE training remains the next technical step.</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results do not prove live service improvement or physical coverage extension.</a:t>
            </a:r>
          </a:p>
        </p:txBody>
      </p:sp>
    </p:spTree>
    <p:extLst>
      <p:ext uri="{BB962C8B-B14F-4D97-AF65-F5344CB8AC3E}">
        <p14:creationId xmlns:p14="http://schemas.microsoft.com/office/powerpoint/2010/main" val="105165344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6D6E7C-426C-4776-82A2-4D68A01386E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D06259D-EE7F-45CB-ABCE-8BEBECE60C9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E5C21E48-FAF9-40B9-96E6-733B945AB2D9}"/>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23150FB-62C2-4351-B584-A99E44AB1684}"/>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Conclusion and recommendations</a:t>
            </a:r>
          </a:p>
        </p:txBody>
      </p:sp>
      <p:sp>
        <p:nvSpPr>
          <p:cNvPr id="5" name="">
            <a:extLst xmlns:a="http://schemas.openxmlformats.org/drawingml/2006/main">
              <a:ext uri="{FF2B5EF4-FFF2-40B4-BE49-F238E27FC236}">
                <a16:creationId xmlns:a16="http://schemas.microsoft.com/office/drawing/2014/main" id="{15581419-F198-41BC-AAF0-EFC8C28AEC2E}"/>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12</a:t>
            </a:r>
          </a:p>
        </p:txBody>
      </p:sp>
      <p:sp>
        <p:nvSpPr>
          <p:cNvPr id="6" name="">
            <a:extLst xmlns:a="http://schemas.openxmlformats.org/drawingml/2006/main">
              <a:ext uri="{FF2B5EF4-FFF2-40B4-BE49-F238E27FC236}">
                <a16:creationId xmlns:a16="http://schemas.microsoft.com/office/drawing/2014/main" id="{16179510-1A6E-48A4-A57D-0C8D1EFE22E8}"/>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FINAL POSITION</a:t>
            </a:r>
          </a:p>
        </p:txBody>
      </p:sp>
      <p:sp>
        <p:nvSpPr>
          <p:cNvPr id="7" name="">
            <a:extLst xmlns:a="http://schemas.openxmlformats.org/drawingml/2006/main">
              <a:ext uri="{FF2B5EF4-FFF2-40B4-BE49-F238E27FC236}">
                <a16:creationId xmlns:a16="http://schemas.microsoft.com/office/drawing/2014/main" id="{C41501F7-DEFA-4311-9B3C-C02BCFA40B9C}"/>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Conclusion and recommendations</a:t>
            </a:r>
          </a:p>
        </p:txBody>
      </p:sp>
      <p:sp>
        <p:nvSpPr>
          <p:cNvPr id="8" name="">
            <a:extLst xmlns:a="http://schemas.openxmlformats.org/drawingml/2006/main">
              <a:ext uri="{FF2B5EF4-FFF2-40B4-BE49-F238E27FC236}">
                <a16:creationId xmlns:a16="http://schemas.microsoft.com/office/drawing/2014/main" id="{6B831481-85D6-4F36-9851-17F8763EC69A}"/>
              </a:ext>
            </a:extLst>
          </p:cNvPr>
          <p:cNvSpPr>
            <a:spLocks xmlns:a="http://schemas.openxmlformats.org/drawingml/2006/main" noGrp="1"/>
          </p:cNvSpPr>
          <p:nvPr/>
        </p:nvSpPr>
        <p:spPr>
          <a:xfrm xmlns:a="http://schemas.openxmlformats.org/drawingml/2006/main">
            <a:off x="723900" y="1600200"/>
            <a:ext cx="51435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0EC1CAF5-6F08-42C0-9F91-7D18D8AF2A04}"/>
              </a:ext>
            </a:extLst>
          </p:cNvPr>
          <p:cNvSpPr>
            <a:spLocks xmlns:a="http://schemas.openxmlformats.org/drawingml/2006/main" noGrp="1"/>
          </p:cNvSpPr>
          <p:nvPr/>
        </p:nvSpPr>
        <p:spPr>
          <a:xfrm xmlns:a="http://schemas.openxmlformats.org/drawingml/2006/main">
            <a:off x="723900" y="1600200"/>
            <a:ext cx="76200" cy="238125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F2FD43F-D494-4ECC-8956-94652171A23C}"/>
              </a:ext>
            </a:extLst>
          </p:cNvPr>
          <p:cNvSpPr>
            <a:spLocks xmlns:a="http://schemas.openxmlformats.org/drawingml/2006/main" noGrp="1"/>
          </p:cNvSpPr>
          <p:nvPr/>
        </p:nvSpPr>
        <p:spPr>
          <a:xfrm xmlns:a="http://schemas.openxmlformats.org/drawingml/2006/main">
            <a:off x="952500" y="1771650"/>
            <a:ext cx="4724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Conclusion</a:t>
            </a:r>
          </a:p>
        </p:txBody>
      </p:sp>
      <p:sp>
        <p:nvSpPr>
          <p:cNvPr id="11" name="">
            <a:extLst xmlns:a="http://schemas.openxmlformats.org/drawingml/2006/main">
              <a:ext uri="{FF2B5EF4-FFF2-40B4-BE49-F238E27FC236}">
                <a16:creationId xmlns:a16="http://schemas.microsoft.com/office/drawing/2014/main" id="{F2E58E6E-57D4-4D38-88E3-751066183F2A}"/>
              </a:ext>
            </a:extLst>
          </p:cNvPr>
          <p:cNvSpPr>
            <a:spLocks xmlns:a="http://schemas.openxmlformats.org/drawingml/2006/main" noGrp="1"/>
          </p:cNvSpPr>
          <p:nvPr/>
        </p:nvSpPr>
        <p:spPr>
          <a:xfrm xmlns:a="http://schemas.openxmlformats.org/drawingml/2006/main">
            <a:off x="971550" y="2152650"/>
            <a:ext cx="46672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Weak rural GSM service can be studied through noisy I/Q signal interpretation, not only through coverage-map labels.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The proposed DAE-AMC chain is technically coherent: denoise first, classify second, evaluate across SNR (O'Shea et al., 2018; An &amp; Lee, 2023).</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Preliminary controlled simulation results support continuing the denoising-assisted AMC implementation (Ssemujju &amp; Kisige, 2026).</a:t>
            </a:r>
          </a:p>
        </p:txBody>
      </p:sp>
      <p:sp>
        <p:nvSpPr>
          <p:cNvPr id="12" name="">
            <a:extLst xmlns:a="http://schemas.openxmlformats.org/drawingml/2006/main">
              <a:ext uri="{FF2B5EF4-FFF2-40B4-BE49-F238E27FC236}">
                <a16:creationId xmlns:a16="http://schemas.microsoft.com/office/drawing/2014/main" id="{AE83BAD8-84CD-4E3F-8018-539791DFC0EA}"/>
              </a:ext>
            </a:extLst>
          </p:cNvPr>
          <p:cNvSpPr>
            <a:spLocks xmlns:a="http://schemas.openxmlformats.org/drawingml/2006/main" noGrp="1"/>
          </p:cNvSpPr>
          <p:nvPr/>
        </p:nvSpPr>
        <p:spPr>
          <a:xfrm xmlns:a="http://schemas.openxmlformats.org/drawingml/2006/main">
            <a:off x="6343650" y="1600200"/>
            <a:ext cx="514350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3" name="">
            <a:extLst xmlns:a="http://schemas.openxmlformats.org/drawingml/2006/main">
              <a:ext uri="{FF2B5EF4-FFF2-40B4-BE49-F238E27FC236}">
                <a16:creationId xmlns:a16="http://schemas.microsoft.com/office/drawing/2014/main" id="{BC7F0960-27C0-4FF1-99EA-1BAF22E80413}"/>
              </a:ext>
            </a:extLst>
          </p:cNvPr>
          <p:cNvSpPr>
            <a:spLocks xmlns:a="http://schemas.openxmlformats.org/drawingml/2006/main" noGrp="1"/>
          </p:cNvSpPr>
          <p:nvPr/>
        </p:nvSpPr>
        <p:spPr>
          <a:xfrm xmlns:a="http://schemas.openxmlformats.org/drawingml/2006/main">
            <a:off x="6343650" y="1600200"/>
            <a:ext cx="76200" cy="2381250"/>
          </a:xfrm>
          <a:prstGeom xmlns:a="http://schemas.openxmlformats.org/drawingml/2006/main" prst="rect">
            <a:avLst/>
          </a:prstGeom>
          <a:solidFill xmlns:a="http://schemas.openxmlformats.org/drawingml/2006/main">
            <a:srgbClr val="2563A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1AD95BD-8EDA-4052-A337-74C889909A89}"/>
              </a:ext>
            </a:extLst>
          </p:cNvPr>
          <p:cNvSpPr>
            <a:spLocks xmlns:a="http://schemas.openxmlformats.org/drawingml/2006/main" noGrp="1"/>
          </p:cNvSpPr>
          <p:nvPr/>
        </p:nvSpPr>
        <p:spPr>
          <a:xfrm xmlns:a="http://schemas.openxmlformats.org/drawingml/2006/main">
            <a:off x="6572250" y="1771650"/>
            <a:ext cx="47244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071D3B"/>
                </a:solidFill>
                <a:latin typeface="Aptos"/>
                <a:ea typeface="Aptos"/>
                <a:cs typeface="Aptos"/>
              </a:defRPr>
            </a:pPr>
            <a:r>
              <a:rPr sz="1650" b="1">
                <a:solidFill>
                  <a:srgbClr val="071D3B"/>
                </a:solidFill>
                <a:latin typeface="Aptos"/>
                <a:ea typeface="Aptos"/>
                <a:cs typeface="Aptos"/>
              </a:rPr>
              <a:t>Recommendations</a:t>
            </a:r>
          </a:p>
        </p:txBody>
      </p:sp>
      <p:sp>
        <p:nvSpPr>
          <p:cNvPr id="15" name="">
            <a:extLst xmlns:a="http://schemas.openxmlformats.org/drawingml/2006/main">
              <a:ext uri="{FF2B5EF4-FFF2-40B4-BE49-F238E27FC236}">
                <a16:creationId xmlns:a16="http://schemas.microsoft.com/office/drawing/2014/main" id="{70C97C33-4758-44A8-86B4-66CC5A62F650}"/>
              </a:ext>
            </a:extLst>
          </p:cNvPr>
          <p:cNvSpPr>
            <a:spLocks xmlns:a="http://schemas.openxmlformats.org/drawingml/2006/main" noGrp="1"/>
          </p:cNvSpPr>
          <p:nvPr/>
        </p:nvSpPr>
        <p:spPr>
          <a:xfrm xmlns:a="http://schemas.openxmlformats.org/drawingml/2006/main">
            <a:off x="6591300" y="2152650"/>
            <a:ext cx="46672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Complete the full trained DAE and AMC implementation with stronger dataset coverage.</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Report results by SNR band using accuracy, macro F1, confusion matrices, and signal-quality plots.</a:t>
            </a:r>
          </a:p>
          <a:p xmlns:a="http://schemas.openxmlformats.org/drawingml/2006/main">
            <a:pPr algn="l">
              <a:defRPr sz="1350" b="0">
                <a:solidFill>
                  <a:srgbClr val="102033"/>
                </a:solidFill>
                <a:latin typeface="Aptos"/>
                <a:ea typeface="Aptos"/>
                <a:cs typeface="Aptos"/>
              </a:defRPr>
            </a:pPr>
            <a:r>
              <a:rPr sz="1350" b="0">
                <a:solidFill>
                  <a:srgbClr val="102033"/>
                </a:solidFill>
                <a:latin typeface="Aptos"/>
                <a:ea typeface="Aptos"/>
                <a:cs typeface="Aptos"/>
              </a:rPr>
              <a:t>• Use receive-only validation only; do not transmit, decode private content, or claim live-service gains without evidence.</a:t>
            </a:r>
          </a:p>
        </p:txBody>
      </p:sp>
      <p:sp>
        <p:nvSpPr>
          <p:cNvPr id="16" name="">
            <a:extLst xmlns:a="http://schemas.openxmlformats.org/drawingml/2006/main">
              <a:ext uri="{FF2B5EF4-FFF2-40B4-BE49-F238E27FC236}">
                <a16:creationId xmlns:a16="http://schemas.microsoft.com/office/drawing/2014/main" id="{E871AED4-533F-4CD2-B8AB-275E11CC0BD6}"/>
              </a:ext>
            </a:extLst>
          </p:cNvPr>
          <p:cNvSpPr>
            <a:spLocks xmlns:a="http://schemas.openxmlformats.org/drawingml/2006/main" noGrp="1"/>
          </p:cNvSpPr>
          <p:nvPr/>
        </p:nvSpPr>
        <p:spPr>
          <a:xfrm xmlns:a="http://schemas.openxmlformats.org/drawingml/2006/main">
            <a:off x="1333500" y="4552950"/>
            <a:ext cx="2857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17" name="">
            <a:extLst xmlns:a="http://schemas.openxmlformats.org/drawingml/2006/main">
              <a:ext uri="{FF2B5EF4-FFF2-40B4-BE49-F238E27FC236}">
                <a16:creationId xmlns:a16="http://schemas.microsoft.com/office/drawing/2014/main" id="{35CF6A33-CC28-4442-A0BF-C7AA752448C0}"/>
              </a:ext>
            </a:extLst>
          </p:cNvPr>
          <p:cNvSpPr>
            <a:spLocks xmlns:a="http://schemas.openxmlformats.org/drawingml/2006/main" noGrp="1"/>
          </p:cNvSpPr>
          <p:nvPr/>
        </p:nvSpPr>
        <p:spPr>
          <a:xfrm xmlns:a="http://schemas.openxmlformats.org/drawingml/2006/main">
            <a:off x="1333500" y="4552950"/>
            <a:ext cx="2857500" cy="7620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6588742E-51F5-4D76-840D-74461DB652E7}"/>
              </a:ext>
            </a:extLst>
          </p:cNvPr>
          <p:cNvSpPr>
            <a:spLocks xmlns:a="http://schemas.openxmlformats.org/drawingml/2006/main" noGrp="1"/>
          </p:cNvSpPr>
          <p:nvPr/>
        </p:nvSpPr>
        <p:spPr>
          <a:xfrm xmlns:a="http://schemas.openxmlformats.org/drawingml/2006/main">
            <a:off x="1504950" y="474345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Next 4 weeks</a:t>
            </a:r>
          </a:p>
        </p:txBody>
      </p:sp>
      <p:sp>
        <p:nvSpPr>
          <p:cNvPr id="19" name="">
            <a:extLst xmlns:a="http://schemas.openxmlformats.org/drawingml/2006/main">
              <a:ext uri="{FF2B5EF4-FFF2-40B4-BE49-F238E27FC236}">
                <a16:creationId xmlns:a16="http://schemas.microsoft.com/office/drawing/2014/main" id="{8ACC6B1B-8FED-4C3F-8A11-0F50FB364020}"/>
              </a:ext>
            </a:extLst>
          </p:cNvPr>
          <p:cNvSpPr>
            <a:spLocks xmlns:a="http://schemas.openxmlformats.org/drawingml/2006/main" noGrp="1"/>
          </p:cNvSpPr>
          <p:nvPr/>
        </p:nvSpPr>
        <p:spPr>
          <a:xfrm xmlns:a="http://schemas.openxmlformats.org/drawingml/2006/main">
            <a:off x="1504950" y="516255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Implementation focus</a:t>
            </a:r>
          </a:p>
        </p:txBody>
      </p:sp>
      <p:sp>
        <p:nvSpPr>
          <p:cNvPr id="20" name="">
            <a:extLst xmlns:a="http://schemas.openxmlformats.org/drawingml/2006/main">
              <a:ext uri="{FF2B5EF4-FFF2-40B4-BE49-F238E27FC236}">
                <a16:creationId xmlns:a16="http://schemas.microsoft.com/office/drawing/2014/main" id="{A8C498EC-5DF8-4242-8F79-26F64474D612}"/>
              </a:ext>
            </a:extLst>
          </p:cNvPr>
          <p:cNvSpPr>
            <a:spLocks xmlns:a="http://schemas.openxmlformats.org/drawingml/2006/main" noGrp="1"/>
          </p:cNvSpPr>
          <p:nvPr/>
        </p:nvSpPr>
        <p:spPr>
          <a:xfrm xmlns:a="http://schemas.openxmlformats.org/drawingml/2006/main">
            <a:off x="1504950" y="544830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DAE training, AMC benchmarking, final report update, and presentation rehearsal.</a:t>
            </a:r>
          </a:p>
        </p:txBody>
      </p:sp>
      <p:sp>
        <p:nvSpPr>
          <p:cNvPr id="21" name="">
            <a:extLst xmlns:a="http://schemas.openxmlformats.org/drawingml/2006/main">
              <a:ext uri="{FF2B5EF4-FFF2-40B4-BE49-F238E27FC236}">
                <a16:creationId xmlns:a16="http://schemas.microsoft.com/office/drawing/2014/main" id="{9454655C-C8B1-4248-92D1-21E6867BCDC4}"/>
              </a:ext>
            </a:extLst>
          </p:cNvPr>
          <p:cNvSpPr>
            <a:spLocks xmlns:a="http://schemas.openxmlformats.org/drawingml/2006/main" noGrp="1"/>
          </p:cNvSpPr>
          <p:nvPr/>
        </p:nvSpPr>
        <p:spPr>
          <a:xfrm xmlns:a="http://schemas.openxmlformats.org/drawingml/2006/main">
            <a:off x="4667250" y="4552950"/>
            <a:ext cx="2857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2" name="">
            <a:extLst xmlns:a="http://schemas.openxmlformats.org/drawingml/2006/main">
              <a:ext uri="{FF2B5EF4-FFF2-40B4-BE49-F238E27FC236}">
                <a16:creationId xmlns:a16="http://schemas.microsoft.com/office/drawing/2014/main" id="{977973CA-E58F-424A-A0D7-EB26C97B8EB7}"/>
              </a:ext>
            </a:extLst>
          </p:cNvPr>
          <p:cNvSpPr>
            <a:spLocks xmlns:a="http://schemas.openxmlformats.org/drawingml/2006/main" noGrp="1"/>
          </p:cNvSpPr>
          <p:nvPr/>
        </p:nvSpPr>
        <p:spPr>
          <a:xfrm xmlns:a="http://schemas.openxmlformats.org/drawingml/2006/main">
            <a:off x="4667250" y="4552950"/>
            <a:ext cx="2857500" cy="76200"/>
          </a:xfrm>
          <a:prstGeom xmlns:a="http://schemas.openxmlformats.org/drawingml/2006/main" prst="rect">
            <a:avLst/>
          </a:prstGeom>
          <a:solidFill xmlns:a="http://schemas.openxmlformats.org/drawingml/2006/main">
            <a:srgbClr val="008A7A"/>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0EF4EA63-591C-4E9D-875A-2681955FA561}"/>
              </a:ext>
            </a:extLst>
          </p:cNvPr>
          <p:cNvSpPr>
            <a:spLocks xmlns:a="http://schemas.openxmlformats.org/drawingml/2006/main" noGrp="1"/>
          </p:cNvSpPr>
          <p:nvPr/>
        </p:nvSpPr>
        <p:spPr>
          <a:xfrm xmlns:a="http://schemas.openxmlformats.org/drawingml/2006/main">
            <a:off x="4838700" y="474345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Final output</a:t>
            </a:r>
          </a:p>
        </p:txBody>
      </p:sp>
      <p:sp>
        <p:nvSpPr>
          <p:cNvPr id="24" name="">
            <a:extLst xmlns:a="http://schemas.openxmlformats.org/drawingml/2006/main">
              <a:ext uri="{FF2B5EF4-FFF2-40B4-BE49-F238E27FC236}">
                <a16:creationId xmlns:a16="http://schemas.microsoft.com/office/drawing/2014/main" id="{6AE38764-1391-48E3-824D-F889BAEB415B}"/>
              </a:ext>
            </a:extLst>
          </p:cNvPr>
          <p:cNvSpPr>
            <a:spLocks xmlns:a="http://schemas.openxmlformats.org/drawingml/2006/main" noGrp="1"/>
          </p:cNvSpPr>
          <p:nvPr/>
        </p:nvSpPr>
        <p:spPr>
          <a:xfrm xmlns:a="http://schemas.openxmlformats.org/drawingml/2006/main">
            <a:off x="4838700" y="516255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Expected deliverable</a:t>
            </a:r>
          </a:p>
        </p:txBody>
      </p:sp>
      <p:sp>
        <p:nvSpPr>
          <p:cNvPr id="25" name="">
            <a:extLst xmlns:a="http://schemas.openxmlformats.org/drawingml/2006/main">
              <a:ext uri="{FF2B5EF4-FFF2-40B4-BE49-F238E27FC236}">
                <a16:creationId xmlns:a16="http://schemas.microsoft.com/office/drawing/2014/main" id="{48D101D3-BD15-4E3E-A99F-C26B1B0DF0A1}"/>
              </a:ext>
            </a:extLst>
          </p:cNvPr>
          <p:cNvSpPr>
            <a:spLocks xmlns:a="http://schemas.openxmlformats.org/drawingml/2006/main" noGrp="1"/>
          </p:cNvSpPr>
          <p:nvPr/>
        </p:nvSpPr>
        <p:spPr>
          <a:xfrm xmlns:a="http://schemas.openxmlformats.org/drawingml/2006/main">
            <a:off x="4838700" y="544830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A reproducible denoising-assisted AMC evaluation for weak GSM-family signals.</a:t>
            </a:r>
          </a:p>
        </p:txBody>
      </p:sp>
      <p:sp>
        <p:nvSpPr>
          <p:cNvPr id="26" name="">
            <a:extLst xmlns:a="http://schemas.openxmlformats.org/drawingml/2006/main">
              <a:ext uri="{FF2B5EF4-FFF2-40B4-BE49-F238E27FC236}">
                <a16:creationId xmlns:a16="http://schemas.microsoft.com/office/drawing/2014/main" id="{2A66F7DC-2C46-4CB1-9D6B-394616A44EBA}"/>
              </a:ext>
            </a:extLst>
          </p:cNvPr>
          <p:cNvSpPr>
            <a:spLocks xmlns:a="http://schemas.openxmlformats.org/drawingml/2006/main" noGrp="1"/>
          </p:cNvSpPr>
          <p:nvPr/>
        </p:nvSpPr>
        <p:spPr>
          <a:xfrm xmlns:a="http://schemas.openxmlformats.org/drawingml/2006/main">
            <a:off x="8001000" y="4552950"/>
            <a:ext cx="2857500" cy="1123950"/>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27" name="">
            <a:extLst xmlns:a="http://schemas.openxmlformats.org/drawingml/2006/main">
              <a:ext uri="{FF2B5EF4-FFF2-40B4-BE49-F238E27FC236}">
                <a16:creationId xmlns:a16="http://schemas.microsoft.com/office/drawing/2014/main" id="{843FF730-1E1A-453E-A691-F7ACA9F1EB4F}"/>
              </a:ext>
            </a:extLst>
          </p:cNvPr>
          <p:cNvSpPr>
            <a:spLocks xmlns:a="http://schemas.openxmlformats.org/drawingml/2006/main" noGrp="1"/>
          </p:cNvSpPr>
          <p:nvPr/>
        </p:nvSpPr>
        <p:spPr>
          <a:xfrm xmlns:a="http://schemas.openxmlformats.org/drawingml/2006/main">
            <a:off x="8001000" y="4552950"/>
            <a:ext cx="2857500" cy="76200"/>
          </a:xfrm>
          <a:prstGeom xmlns:a="http://schemas.openxmlformats.org/drawingml/2006/main" prst="rect">
            <a:avLst/>
          </a:prstGeom>
          <a:solidFill xmlns:a="http://schemas.openxmlformats.org/drawingml/2006/main">
            <a:srgbClr val="E27A1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C031D49B-85D3-407E-81D5-DFCF279358BA}"/>
              </a:ext>
            </a:extLst>
          </p:cNvPr>
          <p:cNvSpPr>
            <a:spLocks xmlns:a="http://schemas.openxmlformats.org/drawingml/2006/main" noGrp="1"/>
          </p:cNvSpPr>
          <p:nvPr/>
        </p:nvSpPr>
        <p:spPr>
          <a:xfrm xmlns:a="http://schemas.openxmlformats.org/drawingml/2006/main">
            <a:off x="8172450" y="4743450"/>
            <a:ext cx="25146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325" b="1">
                <a:solidFill>
                  <a:srgbClr val="071D3B"/>
                </a:solidFill>
                <a:latin typeface="Aptos"/>
                <a:ea typeface="Aptos"/>
                <a:cs typeface="Aptos"/>
              </a:defRPr>
            </a:pPr>
            <a:r>
              <a:rPr sz="2325" b="1">
                <a:solidFill>
                  <a:srgbClr val="071D3B"/>
                </a:solidFill>
                <a:latin typeface="Aptos"/>
                <a:ea typeface="Aptos"/>
                <a:cs typeface="Aptos"/>
              </a:rPr>
              <a:t>Safety</a:t>
            </a:r>
          </a:p>
        </p:txBody>
      </p:sp>
      <p:sp>
        <p:nvSpPr>
          <p:cNvPr id="29" name="">
            <a:extLst xmlns:a="http://schemas.openxmlformats.org/drawingml/2006/main">
              <a:ext uri="{FF2B5EF4-FFF2-40B4-BE49-F238E27FC236}">
                <a16:creationId xmlns:a16="http://schemas.microsoft.com/office/drawing/2014/main" id="{A6492CF4-9843-4924-9DC9-B1BE42B9F408}"/>
              </a:ext>
            </a:extLst>
          </p:cNvPr>
          <p:cNvSpPr>
            <a:spLocks xmlns:a="http://schemas.openxmlformats.org/drawingml/2006/main" noGrp="1"/>
          </p:cNvSpPr>
          <p:nvPr/>
        </p:nvSpPr>
        <p:spPr>
          <a:xfrm xmlns:a="http://schemas.openxmlformats.org/drawingml/2006/main">
            <a:off x="8172450" y="5162550"/>
            <a:ext cx="2514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02033"/>
                </a:solidFill>
                <a:latin typeface="Aptos"/>
                <a:ea typeface="Aptos"/>
                <a:cs typeface="Aptos"/>
              </a:defRPr>
            </a:pPr>
            <a:r>
              <a:rPr sz="1275" b="1">
                <a:solidFill>
                  <a:srgbClr val="102033"/>
                </a:solidFill>
                <a:latin typeface="Aptos"/>
                <a:ea typeface="Aptos"/>
                <a:cs typeface="Aptos"/>
              </a:rPr>
              <a:t>Operating boundary</a:t>
            </a:r>
          </a:p>
        </p:txBody>
      </p:sp>
      <p:sp>
        <p:nvSpPr>
          <p:cNvPr id="30" name="">
            <a:extLst xmlns:a="http://schemas.openxmlformats.org/drawingml/2006/main">
              <a:ext uri="{FF2B5EF4-FFF2-40B4-BE49-F238E27FC236}">
                <a16:creationId xmlns:a16="http://schemas.microsoft.com/office/drawing/2014/main" id="{668EA3FD-C3E3-47B9-82FD-AF401EDFB6C8}"/>
              </a:ext>
            </a:extLst>
          </p:cNvPr>
          <p:cNvSpPr>
            <a:spLocks xmlns:a="http://schemas.openxmlformats.org/drawingml/2006/main" noGrp="1"/>
          </p:cNvSpPr>
          <p:nvPr/>
        </p:nvSpPr>
        <p:spPr>
          <a:xfrm xmlns:a="http://schemas.openxmlformats.org/drawingml/2006/main">
            <a:off x="8172450" y="5448300"/>
            <a:ext cx="2514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5C6B75"/>
                </a:solidFill>
                <a:latin typeface="Aptos"/>
                <a:ea typeface="Aptos"/>
                <a:cs typeface="Aptos"/>
              </a:defRPr>
            </a:pPr>
            <a:r>
              <a:rPr sz="1050" b="0">
                <a:solidFill>
                  <a:srgbClr val="5C6B75"/>
                </a:solidFill>
                <a:latin typeface="Aptos"/>
                <a:ea typeface="Aptos"/>
                <a:cs typeface="Aptos"/>
              </a:rPr>
              <a:t>Receive-only, offline-first validation unless formal approval changes the scope.</a:t>
            </a:r>
          </a:p>
        </p:txBody>
      </p:sp>
    </p:spTree>
    <p:extLst>
      <p:ext uri="{BB962C8B-B14F-4D97-AF65-F5344CB8AC3E}">
        <p14:creationId xmlns:p14="http://schemas.microsoft.com/office/powerpoint/2010/main" val="16413030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A78B2CB-CCD0-4529-A8C3-EC87906830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2F8F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C3CE344-8C77-421A-9C1B-B14313CFDB1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F76878E-4FB6-4020-8679-B205BF07086F}"/>
              </a:ext>
            </a:extLst>
          </p:cNvPr>
          <p:cNvSpPr>
            <a:spLocks xmlns:a="http://schemas.openxmlformats.org/drawingml/2006/main" noGrp="1"/>
          </p:cNvSpPr>
          <p:nvPr/>
        </p:nvSpPr>
        <p:spPr>
          <a:xfrm xmlns:a="http://schemas.openxmlformats.org/drawingml/2006/main">
            <a:off x="0" y="6724650"/>
            <a:ext cx="12192000" cy="133350"/>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E61B974-B626-4E7B-B5E7-4BFC48BF9B4D}"/>
              </a:ext>
            </a:extLst>
          </p:cNvPr>
          <p:cNvSpPr>
            <a:spLocks xmlns:a="http://schemas.openxmlformats.org/drawingml/2006/main" noGrp="1"/>
          </p:cNvSpPr>
          <p:nvPr/>
        </p:nvSpPr>
        <p:spPr>
          <a:xfrm xmlns:a="http://schemas.openxmlformats.org/drawingml/2006/main">
            <a:off x="552450" y="6286500"/>
            <a:ext cx="7239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C6B75"/>
                </a:solidFill>
                <a:latin typeface="Aptos"/>
                <a:ea typeface="Aptos"/>
                <a:cs typeface="Aptos"/>
              </a:defRPr>
            </a:pPr>
            <a:r>
              <a:rPr sz="1125" b="0">
                <a:solidFill>
                  <a:srgbClr val="5C6B75"/>
                </a:solidFill>
                <a:latin typeface="Aptos"/>
                <a:ea typeface="Aptos"/>
                <a:cs typeface="Aptos"/>
              </a:rPr>
              <a:t>References</a:t>
            </a:r>
          </a:p>
        </p:txBody>
      </p:sp>
      <p:sp>
        <p:nvSpPr>
          <p:cNvPr id="5" name="">
            <a:extLst xmlns:a="http://schemas.openxmlformats.org/drawingml/2006/main">
              <a:ext uri="{FF2B5EF4-FFF2-40B4-BE49-F238E27FC236}">
                <a16:creationId xmlns:a16="http://schemas.microsoft.com/office/drawing/2014/main" id="{696377A3-4C3C-42C9-A4D4-5E24A2186088}"/>
              </a:ext>
            </a:extLst>
          </p:cNvPr>
          <p:cNvSpPr>
            <a:spLocks xmlns:a="http://schemas.openxmlformats.org/drawingml/2006/main" noGrp="1"/>
          </p:cNvSpPr>
          <p:nvPr/>
        </p:nvSpPr>
        <p:spPr>
          <a:xfrm xmlns:a="http://schemas.openxmlformats.org/drawingml/2006/main">
            <a:off x="9620250" y="6286500"/>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125" b="0">
                <a:solidFill>
                  <a:srgbClr val="5C6B75"/>
                </a:solidFill>
                <a:latin typeface="Aptos"/>
                <a:ea typeface="Aptos"/>
                <a:cs typeface="Aptos"/>
              </a:defRPr>
            </a:pPr>
            <a:r>
              <a:rPr sz="1125" b="0">
                <a:solidFill>
                  <a:srgbClr val="5C6B75"/>
                </a:solidFill>
                <a:latin typeface="Aptos"/>
                <a:ea typeface="Aptos"/>
                <a:cs typeface="Aptos"/>
              </a:rPr>
              <a:t>Final Year Project | 13</a:t>
            </a:r>
          </a:p>
        </p:txBody>
      </p:sp>
      <p:sp>
        <p:nvSpPr>
          <p:cNvPr id="6" name="">
            <a:extLst xmlns:a="http://schemas.openxmlformats.org/drawingml/2006/main">
              <a:ext uri="{FF2B5EF4-FFF2-40B4-BE49-F238E27FC236}">
                <a16:creationId xmlns:a16="http://schemas.microsoft.com/office/drawing/2014/main" id="{253D2BB3-1918-4317-A5DE-8F31D2EFF24E}"/>
              </a:ext>
            </a:extLst>
          </p:cNvPr>
          <p:cNvSpPr>
            <a:spLocks xmlns:a="http://schemas.openxmlformats.org/drawingml/2006/main" noGrp="1"/>
          </p:cNvSpPr>
          <p:nvPr/>
        </p:nvSpPr>
        <p:spPr>
          <a:xfrm xmlns:a="http://schemas.openxmlformats.org/drawingml/2006/main">
            <a:off x="552450" y="419100"/>
            <a:ext cx="800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08A7A"/>
                </a:solidFill>
                <a:latin typeface="Aptos"/>
                <a:ea typeface="Aptos"/>
                <a:cs typeface="Aptos"/>
              </a:defRPr>
            </a:pPr>
            <a:r>
              <a:rPr sz="1200" b="1">
                <a:solidFill>
                  <a:srgbClr val="008A7A"/>
                </a:solidFill>
                <a:latin typeface="Aptos"/>
                <a:ea typeface="Aptos"/>
                <a:cs typeface="Aptos"/>
              </a:rPr>
              <a:t>KEY SOURCES AND PROVENANCE</a:t>
            </a:r>
          </a:p>
        </p:txBody>
      </p:sp>
      <p:sp>
        <p:nvSpPr>
          <p:cNvPr id="7" name="">
            <a:extLst xmlns:a="http://schemas.openxmlformats.org/drawingml/2006/main">
              <a:ext uri="{FF2B5EF4-FFF2-40B4-BE49-F238E27FC236}">
                <a16:creationId xmlns:a16="http://schemas.microsoft.com/office/drawing/2014/main" id="{907F431C-210A-44A2-B6B3-0249598C35CA}"/>
              </a:ext>
            </a:extLst>
          </p:cNvPr>
          <p:cNvSpPr>
            <a:spLocks xmlns:a="http://schemas.openxmlformats.org/drawingml/2006/main" noGrp="1"/>
          </p:cNvSpPr>
          <p:nvPr/>
        </p:nvSpPr>
        <p:spPr>
          <a:xfrm xmlns:a="http://schemas.openxmlformats.org/drawingml/2006/main">
            <a:off x="552450" y="704850"/>
            <a:ext cx="100965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71D3B"/>
                </a:solidFill>
                <a:latin typeface="Aptos Display"/>
                <a:ea typeface="Aptos Display"/>
                <a:cs typeface="Aptos Display"/>
              </a:defRPr>
            </a:pPr>
            <a:r>
              <a:rPr sz="2550" b="1">
                <a:solidFill>
                  <a:srgbClr val="071D3B"/>
                </a:solidFill>
                <a:latin typeface="Aptos Display"/>
                <a:ea typeface="Aptos Display"/>
                <a:cs typeface="Aptos Display"/>
              </a:rPr>
              <a:t>References</a:t>
            </a:r>
          </a:p>
        </p:txBody>
      </p:sp>
      <p:sp>
        <p:nvSpPr>
          <p:cNvPr id="8" name="">
            <a:extLst xmlns:a="http://schemas.openxmlformats.org/drawingml/2006/main">
              <a:ext uri="{FF2B5EF4-FFF2-40B4-BE49-F238E27FC236}">
                <a16:creationId xmlns:a16="http://schemas.microsoft.com/office/drawing/2014/main" id="{4D00D429-D422-44D3-8032-BA09FF6C1682}"/>
              </a:ext>
            </a:extLst>
          </p:cNvPr>
          <p:cNvSpPr>
            <a:spLocks xmlns:a="http://schemas.openxmlformats.org/drawingml/2006/main" noGrp="1"/>
          </p:cNvSpPr>
          <p:nvPr/>
        </p:nvSpPr>
        <p:spPr>
          <a:xfrm xmlns:a="http://schemas.openxmlformats.org/drawingml/2006/main">
            <a:off x="666750" y="1476375"/>
            <a:ext cx="10858500" cy="3286125"/>
          </a:xfrm>
          <a:prstGeom xmlns:a="http://schemas.openxmlformats.org/drawingml/2006/main" prst="rect">
            <a:avLst/>
          </a:prstGeom>
          <a:solidFill xmlns:a="http://schemas.openxmlformats.org/drawingml/2006/main">
            <a:srgbClr val="FFFFFF"/>
          </a:solidFill>
          <a:ln xmlns:a="http://schemas.openxmlformats.org/drawingml/2006/main" w="9525">
            <a:solidFill>
              <a:srgbClr val="BCD7E2"/>
            </a:solidFill>
            <a:prstDash val="solid"/>
          </a:ln>
        </p:spPr>
      </p:sp>
      <p:sp>
        <p:nvSpPr>
          <p:cNvPr id="9" name="">
            <a:extLst xmlns:a="http://schemas.openxmlformats.org/drawingml/2006/main">
              <a:ext uri="{FF2B5EF4-FFF2-40B4-BE49-F238E27FC236}">
                <a16:creationId xmlns:a16="http://schemas.microsoft.com/office/drawing/2014/main" id="{064F6D09-244B-4C82-BCF5-906F9F347A32}"/>
              </a:ext>
            </a:extLst>
          </p:cNvPr>
          <p:cNvSpPr>
            <a:spLocks xmlns:a="http://schemas.openxmlformats.org/drawingml/2006/main" noGrp="1"/>
          </p:cNvSpPr>
          <p:nvPr/>
        </p:nvSpPr>
        <p:spPr>
          <a:xfrm xmlns:a="http://schemas.openxmlformats.org/drawingml/2006/main">
            <a:off x="666750" y="1476375"/>
            <a:ext cx="76200" cy="3286125"/>
          </a:xfrm>
          <a:prstGeom xmlns:a="http://schemas.openxmlformats.org/drawingml/2006/main" prst="rect">
            <a:avLst/>
          </a:prstGeom>
          <a:solidFill xmlns:a="http://schemas.openxmlformats.org/drawingml/2006/main">
            <a:srgbClr val="071D3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9149F8C-EE35-4927-9FB3-4E399FE8A4DB}"/>
              </a:ext>
            </a:extLst>
          </p:cNvPr>
          <p:cNvSpPr>
            <a:spLocks xmlns:a="http://schemas.openxmlformats.org/drawingml/2006/main" noGrp="1"/>
          </p:cNvSpPr>
          <p:nvPr/>
        </p:nvSpPr>
        <p:spPr>
          <a:xfrm xmlns:a="http://schemas.openxmlformats.org/drawingml/2006/main">
            <a:off x="952500" y="1695450"/>
            <a:ext cx="10191750" cy="2800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Uganda Communications Commission. (2025). UCC market report for Q4 2024.</a:t>
            </a:r>
          </a:p>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Uganda Communications Commission. (2024). UCC cracks down on illegal and non-compliant broadcasters.</a:t>
            </a:r>
          </a:p>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Uganda Communications Commission. (2022). QoS publication: December 2021 mobile voice/data benchmark measurements.</a:t>
            </a:r>
          </a:p>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O'Shea, T. J., Roy, T., &amp; Clancy, T. C. (2018). Over-the-air deep learning based radio signal classification. IEEE Journal of Selected Topics in Signal Processing, 12(1), 168-179. https://doi.org/10.1109/JSTSP.2018.2797022</a:t>
            </a:r>
          </a:p>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DeepSig. (2018). RadioML 2018.01A [Data set]. Kaggle.</a:t>
            </a:r>
          </a:p>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An, T. T., &amp; Lee, B. M. (2023). Robust automatic modulation classification in low signal to noise ratio. IEEE Access, 11, 7860-7872. https://doi.org/10.1109/ACCESS.2023.3238995</a:t>
            </a:r>
          </a:p>
          <a:p xmlns:a="http://schemas.openxmlformats.org/drawingml/2006/main">
            <a:pPr algn="l">
              <a:defRPr sz="1200" b="0">
                <a:solidFill>
                  <a:srgbClr val="102033"/>
                </a:solidFill>
                <a:latin typeface="Aptos"/>
                <a:ea typeface="Aptos"/>
                <a:cs typeface="Aptos"/>
              </a:defRPr>
            </a:pPr>
            <a:r>
              <a:rPr sz="1200" b="0">
                <a:solidFill>
                  <a:srgbClr val="102033"/>
                </a:solidFill>
                <a:latin typeface="Aptos"/>
                <a:ea typeface="Aptos"/>
                <a:cs typeface="Aptos"/>
              </a:rPr>
              <a:t>• Ssemujju, S. A., &amp; Kisige, T. D. (2026). Preliminary controlled DAE-AMC simulation artifacts. final-year-project/reports/preliminary_simulation_2026_05_24.</a:t>
            </a:r>
          </a:p>
        </p:txBody>
      </p:sp>
      <p:sp>
        <p:nvSpPr>
          <p:cNvPr id="11" name="">
            <a:extLst xmlns:a="http://schemas.openxmlformats.org/drawingml/2006/main">
              <a:ext uri="{FF2B5EF4-FFF2-40B4-BE49-F238E27FC236}">
                <a16:creationId xmlns:a16="http://schemas.microsoft.com/office/drawing/2014/main" id="{40194751-393C-4D39-B7D1-AD01D66F13C9}"/>
              </a:ext>
            </a:extLst>
          </p:cNvPr>
          <p:cNvSpPr>
            <a:spLocks xmlns:a="http://schemas.openxmlformats.org/drawingml/2006/main" noGrp="1"/>
          </p:cNvSpPr>
          <p:nvPr/>
        </p:nvSpPr>
        <p:spPr>
          <a:xfrm xmlns:a="http://schemas.openxmlformats.org/drawingml/2006/main">
            <a:off x="1447800" y="5000625"/>
            <a:ext cx="9296400" cy="704850"/>
          </a:xfrm>
          <a:prstGeom xmlns:a="http://schemas.openxmlformats.org/drawingml/2006/main" prst="rect">
            <a:avLst/>
          </a:prstGeom>
          <a:solidFill xmlns:a="http://schemas.openxmlformats.org/drawingml/2006/main">
            <a:srgbClr val="DDF4F0"/>
          </a:solidFill>
          <a:ln xmlns:a="http://schemas.openxmlformats.org/drawingml/2006/main" w="9525">
            <a:solidFill>
              <a:srgbClr val="BCD7E2"/>
            </a:solidFill>
            <a:prstDash val="solid"/>
          </a:ln>
        </p:spPr>
      </p:sp>
      <p:sp>
        <p:nvSpPr>
          <p:cNvPr id="12" name="">
            <a:extLst xmlns:a="http://schemas.openxmlformats.org/drawingml/2006/main">
              <a:ext uri="{FF2B5EF4-FFF2-40B4-BE49-F238E27FC236}">
                <a16:creationId xmlns:a16="http://schemas.microsoft.com/office/drawing/2014/main" id="{B45DBE03-9ECB-4FB9-8ADF-F7454C85FCD2}"/>
              </a:ext>
            </a:extLst>
          </p:cNvPr>
          <p:cNvSpPr>
            <a:spLocks xmlns:a="http://schemas.openxmlformats.org/drawingml/2006/main" noGrp="1"/>
          </p:cNvSpPr>
          <p:nvPr/>
        </p:nvSpPr>
        <p:spPr>
          <a:xfrm xmlns:a="http://schemas.openxmlformats.org/drawingml/2006/main">
            <a:off x="1714500" y="5200650"/>
            <a:ext cx="876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071D3B"/>
                </a:solidFill>
                <a:latin typeface="Aptos"/>
                <a:ea typeface="Aptos"/>
                <a:cs typeface="Aptos"/>
              </a:defRPr>
            </a:pPr>
            <a:r>
              <a:rPr sz="1350" b="1">
                <a:solidFill>
                  <a:srgbClr val="071D3B"/>
                </a:solidFill>
                <a:latin typeface="Aptos"/>
                <a:ea typeface="Aptos"/>
                <a:cs typeface="Aptos"/>
              </a:rPr>
              <a:t>Provenance note: result slides use controlled simulation outputs from the project workspace. They are not presented as field deployment, live-service, or tower-range-extension evidence.</a:t>
            </a:r>
          </a:p>
        </p:txBody>
      </p:sp>
      <p:sp>
        <p:nvSpPr>
          <p:cNvPr id="13" name="">
            <a:extLst xmlns:a="http://schemas.openxmlformats.org/drawingml/2006/main">
              <a:ext uri="{FF2B5EF4-FFF2-40B4-BE49-F238E27FC236}">
                <a16:creationId xmlns:a16="http://schemas.microsoft.com/office/drawing/2014/main" id="{4FFC322A-0F21-43A2-A689-5C47E4B18418}"/>
              </a:ext>
            </a:extLst>
          </p:cNvPr>
          <p:cNvSpPr>
            <a:spLocks xmlns:a="http://schemas.openxmlformats.org/drawingml/2006/main" noGrp="1"/>
          </p:cNvSpPr>
          <p:nvPr/>
        </p:nvSpPr>
        <p:spPr>
          <a:xfrm xmlns:a="http://schemas.openxmlformats.org/drawingml/2006/main">
            <a:off x="4286250" y="5810250"/>
            <a:ext cx="3619500" cy="428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071D3B"/>
                </a:solidFill>
                <a:latin typeface="Aptos"/>
                <a:ea typeface="Aptos"/>
                <a:cs typeface="Aptos"/>
              </a:defRPr>
            </a:pPr>
            <a:r>
              <a:rPr sz="2400" b="1">
                <a:solidFill>
                  <a:srgbClr val="071D3B"/>
                </a:solidFill>
                <a:latin typeface="Aptos"/>
                <a:ea typeface="Aptos"/>
                <a:cs typeface="Aptos"/>
              </a:rPr>
              <a:t>Thank you.</a:t>
            </a:r>
          </a:p>
        </p:txBody>
      </p:sp>
    </p:spTree>
    <p:extLst>
      <p:ext uri="{BB962C8B-B14F-4D97-AF65-F5344CB8AC3E}">
        <p14:creationId xmlns:p14="http://schemas.microsoft.com/office/powerpoint/2010/main" val="17770469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2026-05-24T21:34:49.8140000Z</dcterms:created>
  <dcterms:modified xsi:type="dcterms:W3CDTF">2026-05-24T21:34:49.8140000Z</dcterms:modified>
</coreProperties>
</file>