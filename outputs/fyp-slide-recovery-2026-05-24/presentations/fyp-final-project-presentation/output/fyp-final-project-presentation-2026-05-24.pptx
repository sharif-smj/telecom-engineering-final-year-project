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c50d5ab6b4fb5" /><Relationship Type="http://schemas.openxmlformats.org/officeDocument/2006/relationships/extended-properties" Target="/docProps/app.xml" Id="R1f6f44994c0f47f4" /><Relationship Type="http://schemas.openxmlformats.org/officeDocument/2006/relationships/officeDocument" Target="/ppt/presentation.xml" Id="R71756ae1e4e8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086766a75486e"/>
  </p:sldMasterIdLst>
  <p:notesMasterIdLst>
    <p:notesMasterId xmlns:r="http://schemas.openxmlformats.org/officeDocument/2006/relationships" r:id="Re4bdf67f3526454a"/>
  </p:notesMasterIdLst>
  <p:sldIdLst>
    <p:sldId xmlns:r="http://schemas.openxmlformats.org/officeDocument/2006/relationships" id="256" r:id="R993d9cbf5f2541fd"/>
    <p:sldId xmlns:r="http://schemas.openxmlformats.org/officeDocument/2006/relationships" id="257" r:id="R77ed335c9d3746f6"/>
    <p:sldId xmlns:r="http://schemas.openxmlformats.org/officeDocument/2006/relationships" id="258" r:id="Rec69f7f25ed54e22"/>
    <p:sldId xmlns:r="http://schemas.openxmlformats.org/officeDocument/2006/relationships" id="259" r:id="Rebbd5b7468484d83"/>
    <p:sldId xmlns:r="http://schemas.openxmlformats.org/officeDocument/2006/relationships" id="260" r:id="R4d135649a87e4d4f"/>
    <p:sldId xmlns:r="http://schemas.openxmlformats.org/officeDocument/2006/relationships" id="261" r:id="R1cdf7a9d67c44181"/>
    <p:sldId xmlns:r="http://schemas.openxmlformats.org/officeDocument/2006/relationships" id="262" r:id="Rcbf4d20217c34da6"/>
    <p:sldId xmlns:r="http://schemas.openxmlformats.org/officeDocument/2006/relationships" id="263" r:id="R28125c80e3c842bc"/>
    <p:sldId xmlns:r="http://schemas.openxmlformats.org/officeDocument/2006/relationships" id="264" r:id="R9f981e8ace6e42a2"/>
    <p:sldId xmlns:r="http://schemas.openxmlformats.org/officeDocument/2006/relationships" id="265" r:id="Rd0968fa99a854aa5"/>
    <p:sldId xmlns:r="http://schemas.openxmlformats.org/officeDocument/2006/relationships" id="266" r:id="Rd53b3c7543334b98"/>
    <p:sldId xmlns:r="http://schemas.openxmlformats.org/officeDocument/2006/relationships" id="267" r:id="R78039f1d02ef4e55"/>
    <p:sldId xmlns:r="http://schemas.openxmlformats.org/officeDocument/2006/relationships" id="268" r:id="Rc76d6d37a074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086766a75486e" /><Relationship Type="http://schemas.openxmlformats.org/officeDocument/2006/relationships/theme" Target="/ppt/theme/theme1.xml" Id="R3708690e928049ac" /><Relationship Type="http://schemas.openxmlformats.org/officeDocument/2006/relationships/notesMaster" Target="/ppt/notesMasters/notesMaster1.xml" Id="Re4bdf67f3526454a" /><Relationship Type="http://schemas.openxmlformats.org/officeDocument/2006/relationships/presProps" Target="/ppt/presProps.xml" Id="R4763edb2a157406b" /><Relationship Type="http://schemas.openxmlformats.org/officeDocument/2006/relationships/viewProps" Target="/ppt/viewProps.xml" Id="R401a2411e2e94f5e" /><Relationship Type="http://schemas.openxmlformats.org/officeDocument/2006/relationships/tableStyles" Target="/ppt/tableStyles.xml" Id="R4937362952704726" /><Relationship Type="http://schemas.openxmlformats.org/officeDocument/2006/relationships/slide" Target="/ppt/slides/slide1.xml" Id="R993d9cbf5f2541fd" /><Relationship Type="http://schemas.openxmlformats.org/officeDocument/2006/relationships/slide" Target="/ppt/slides/slide2.xml" Id="R77ed335c9d3746f6" /><Relationship Type="http://schemas.openxmlformats.org/officeDocument/2006/relationships/slide" Target="/ppt/slides/slide3.xml" Id="Rec69f7f25ed54e22" /><Relationship Type="http://schemas.openxmlformats.org/officeDocument/2006/relationships/slide" Target="/ppt/slides/slide4.xml" Id="Rebbd5b7468484d83" /><Relationship Type="http://schemas.openxmlformats.org/officeDocument/2006/relationships/slide" Target="/ppt/slides/slide5.xml" Id="R4d135649a87e4d4f" /><Relationship Type="http://schemas.openxmlformats.org/officeDocument/2006/relationships/slide" Target="/ppt/slides/slide6.xml" Id="R1cdf7a9d67c44181" /><Relationship Type="http://schemas.openxmlformats.org/officeDocument/2006/relationships/slide" Target="/ppt/slides/slide7.xml" Id="Rcbf4d20217c34da6" /><Relationship Type="http://schemas.openxmlformats.org/officeDocument/2006/relationships/slide" Target="/ppt/slides/slide8.xml" Id="R28125c80e3c842bc" /><Relationship Type="http://schemas.openxmlformats.org/officeDocument/2006/relationships/slide" Target="/ppt/slides/slide9.xml" Id="R9f981e8ace6e42a2" /><Relationship Type="http://schemas.openxmlformats.org/officeDocument/2006/relationships/slide" Target="/ppt/slides/slide10.xml" Id="Rd0968fa99a854aa5" /><Relationship Type="http://schemas.openxmlformats.org/officeDocument/2006/relationships/slide" Target="/ppt/slides/slide11.xml" Id="Rd53b3c7543334b98" /><Relationship Type="http://schemas.openxmlformats.org/officeDocument/2006/relationships/slide" Target="/ppt/slides/slide12.xml" Id="R78039f1d02ef4e55" /><Relationship Type="http://schemas.openxmlformats.org/officeDocument/2006/relationships/slide" Target="/ppt/slides/slide13.xml" Id="Rc76d6d37a074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369074c9ca4f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66f205503b425d" /><Relationship Type="http://schemas.openxmlformats.org/officeDocument/2006/relationships/notesMaster" Target="/ppt/notesMasters/notesMaster1.xml" Id="R118450423f3a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d9d0b3a3e482d" /><Relationship Type="http://schemas.openxmlformats.org/officeDocument/2006/relationships/notesMaster" Target="/ppt/notesMasters/notesMaster1.xml" Id="R32d9a603a212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1b98ef8644bdb" /><Relationship Type="http://schemas.openxmlformats.org/officeDocument/2006/relationships/notesMaster" Target="/ppt/notesMasters/notesMaster1.xml" Id="R11f2ee8deb0c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fad84ea3c34cc6" /><Relationship Type="http://schemas.openxmlformats.org/officeDocument/2006/relationships/notesMaster" Target="/ppt/notesMasters/notesMaster1.xml" Id="Rb28e3daf037840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f1d630cba4a21" /><Relationship Type="http://schemas.openxmlformats.org/officeDocument/2006/relationships/notesMaster" Target="/ppt/notesMasters/notesMaster1.xml" Id="R413d04f8846048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e65c50d686470c" /><Relationship Type="http://schemas.openxmlformats.org/officeDocument/2006/relationships/notesMaster" Target="/ppt/notesMasters/notesMaster1.xml" Id="Rf5609f62c7ac48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516709ff654d29" /><Relationship Type="http://schemas.openxmlformats.org/officeDocument/2006/relationships/notesMaster" Target="/ppt/notesMasters/notesMaster1.xml" Id="Raeded53de23c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c156d3ad84a64" /><Relationship Type="http://schemas.openxmlformats.org/officeDocument/2006/relationships/notesMaster" Target="/ppt/notesMasters/notesMaster1.xml" Id="Rf947f501af614d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978f929364185" /><Relationship Type="http://schemas.openxmlformats.org/officeDocument/2006/relationships/notesMaster" Target="/ppt/notesMasters/notesMaster1.xml" Id="R039b744e28b54f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93aab705c4440" /><Relationship Type="http://schemas.openxmlformats.org/officeDocument/2006/relationships/notesMaster" Target="/ppt/notesMasters/notesMaster1.xml" Id="Re51b0a47b1d945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b95da266c149c0" /><Relationship Type="http://schemas.openxmlformats.org/officeDocument/2006/relationships/notesMaster" Target="/ppt/notesMasters/notesMaster1.xml" Id="Rc27d0048c71542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faeecceabb44e9" /><Relationship Type="http://schemas.openxmlformats.org/officeDocument/2006/relationships/notesMaster" Target="/ppt/notesMasters/notesMaster1.xml" Id="Rc82475aa603142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6881c11634de8" /><Relationship Type="http://schemas.openxmlformats.org/officeDocument/2006/relationships/notesMaster" Target="/ppt/notesMasters/notesMaster1.xml" Id="R8423a20154e5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36822734b416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56f7785c2943a4" /><Relationship Type="http://schemas.openxmlformats.org/officeDocument/2006/relationships/slideLayout" Target="/ppt/slideLayouts/slideLayout2.xml" Id="R904fec6df09549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fec6df095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83fec1036458a" /><Relationship Type="http://schemas.openxmlformats.org/officeDocument/2006/relationships/notesSlide" Target="/ppt/notesSlides/notesSlide1.xml" Id="R08565a20aba8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f16d2a2daf4dcc" /><Relationship Type="http://schemas.openxmlformats.org/officeDocument/2006/relationships/notesSlide" Target="/ppt/notesSlides/notesSlide2.xml" Id="R99159dd249db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50706966f4810" /><Relationship Type="http://schemas.openxmlformats.org/officeDocument/2006/relationships/notesSlide" Target="/ppt/notesSlides/notesSlide3.xml" Id="Rfc6d3f985fab4b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52c4588694abf" /><Relationship Type="http://schemas.openxmlformats.org/officeDocument/2006/relationships/notesSlide" Target="/ppt/notesSlides/notesSlide4.xml" Id="R4ceada5227f3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81fc79fbed46c4" /><Relationship Type="http://schemas.openxmlformats.org/officeDocument/2006/relationships/notesSlide" Target="/ppt/notesSlides/notesSlide5.xml" Id="R4f8b3e9b9d654a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00439f2d248e8" /><Relationship Type="http://schemas.openxmlformats.org/officeDocument/2006/relationships/notesSlide" Target="/ppt/notesSlides/notesSlide6.xml" Id="R5992e6b9cb18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7825fe8f84378" /><Relationship Type="http://schemas.openxmlformats.org/officeDocument/2006/relationships/notesSlide" Target="/ppt/notesSlides/notesSlide7.xml" Id="Rb69e60b8bfa94f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5b04524d43424f" /><Relationship Type="http://schemas.openxmlformats.org/officeDocument/2006/relationships/notesSlide" Target="/ppt/notesSlides/notesSlide8.xml" Id="R4b0b4cb34b3c48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0ced65c444323" /><Relationship Type="http://schemas.openxmlformats.org/officeDocument/2006/relationships/image" Target="/ppt/media/image.png" Id="R70c3199e6b434850" /><Relationship Type="http://schemas.openxmlformats.org/officeDocument/2006/relationships/image" Target="/ppt/media/image2.png" Id="Rfc56a23e2db5420c" /><Relationship Type="http://schemas.openxmlformats.org/officeDocument/2006/relationships/notesSlide" Target="/ppt/notesSlides/notesSlide9.xml" Id="Rf8c6bb5027ab42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c72cc1c7a4b2e" /><Relationship Type="http://schemas.openxmlformats.org/officeDocument/2006/relationships/image" Target="/ppt/media/image3.png" Id="R642d98c80cb54505" /><Relationship Type="http://schemas.openxmlformats.org/officeDocument/2006/relationships/notesSlide" Target="/ppt/notesSlides/notesSlide10.xml" Id="R2c450e01312f43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b55791cf854ade" /><Relationship Type="http://schemas.openxmlformats.org/officeDocument/2006/relationships/image" Target="/ppt/media/image4.png" Id="Rb9ce0f6a15a24b27" /><Relationship Type="http://schemas.openxmlformats.org/officeDocument/2006/relationships/notesSlide" Target="/ppt/notesSlides/notesSlide11.xml" Id="Radb7a04bf6984d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64ee0804d41df" /><Relationship Type="http://schemas.openxmlformats.org/officeDocument/2006/relationships/notesSlide" Target="/ppt/notesSlides/notesSlide12.xml" Id="R4cd9b5b6898a40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1cbdefa117469b" /><Relationship Type="http://schemas.openxmlformats.org/officeDocument/2006/relationships/notesSlide" Target="/ppt/notesSlides/notesSlide13.xml" Id="R3163a19d1a5249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17EA2-77D6-4A3E-BCB3-C907535D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A030A-0F05-4184-913C-A4475BF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B6967-9219-43A9-A035-0213883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C2E5E-5050-423B-84A0-82EA5F3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Project 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E54C0-6008-45D1-8D9A-B4253C68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2B6D4-4115-493D-8AB3-83FCD65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GSM Signal Denoising and Modulation Classification for Rural Uganda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2FE7A-3706-42D0-98D7-F017834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819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056C8-7163-4E90-BBBD-B7B322C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08A7A"/>
                </a:solidFill>
                <a:latin typeface="Aptos"/>
                <a:ea typeface="Aptos"/>
                <a:cs typeface="Aptos"/>
              </a:rPr>
              <a:t>Final Year 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6B0A-5D3E-4E7C-A2F6-EBE5ECB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Department of Electrical and Electronics Engineering</a:t>
            </a:r>
          </a:p>
          <a:p xmlns:a="http://schemas.openxmlformats.org/drawingml/2006/main">
            <a:pPr algn="ctr">
              <a:defRPr sz="18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Kyambogo University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0D6FE-0AD3-4E5C-ADED-ECCCD3F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0F826-95AD-40DA-ABB1-3422DA1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800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71D3B"/>
                </a:solidFill>
                <a:latin typeface="Aptos"/>
                <a:ea typeface="Aptos"/>
                <a:cs typeface="Aptos"/>
              </a:rPr>
              <a:t>Ssemujju Sharif Abdukarim  |  18/U/ETD/181/GV</a:t>
            </a:r>
          </a:p>
          <a:p xmlns:a="http://schemas.openxmlformats.org/drawingml/2006/main">
            <a:pPr algn="ctr">
              <a:defRPr sz="1650" b="0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71D3B"/>
                </a:solidFill>
                <a:latin typeface="Aptos"/>
                <a:ea typeface="Aptos"/>
                <a:cs typeface="Aptos"/>
              </a:rPr>
              <a:t>Kisige Tom Derrick  |  22/U/ETD/0953/GV</a:t>
            </a:r>
          </a:p>
          <a:p xmlns:a="http://schemas.openxmlformats.org/drawingml/2006/main">
            <a:pPr algn="ctr">
              <a:defRPr sz="1650" b="0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71D3B"/>
                </a:solidFill>
                <a:latin typeface="Aptos"/>
                <a:ea typeface="Aptos"/>
                <a:cs typeface="Aptos"/>
              </a:rPr>
              <a:t>Supervisor: Dr. Dickson Mugerwa</a:t>
            </a:r>
          </a:p>
        </p:txBody>
      </p:sp>
    </p:spTree>
    <p:extLst>
      <p:ext uri="{BB962C8B-B14F-4D97-AF65-F5344CB8AC3E}">
        <p14:creationId xmlns:p14="http://schemas.microsoft.com/office/powerpoint/2010/main" val="14872136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96981-AC89-46B2-928B-8AC1D656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FFDB0-83EF-4802-AE3D-6645B70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315A3-8690-463C-88EB-41DA4606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BBB3A-5C86-4064-AA0A-846BE107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Introduction /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47343-1008-40F6-8403-9521E3F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D6249-A8CF-433B-A1BE-9735C44C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A61A0-4B22-464D-90E3-63646904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Rural mobile service is often present, but still too weak to depend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D9642-AE4E-4A30-BC27-8E5E8C3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143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C94F6-F6E7-43A3-8AB5-B5B17C8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99E24-C42A-4FC7-A688-39C1BDE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Local service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877A-6819-487B-B0A4-A51434B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667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Basic GSM services still matter: voice, SMS, USSD, and Mobile Money.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At the cell edge, a phone may show signal bars but still suffer noisy or unstable service.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Weak I/Q structure makes reliable modulation interpretation difficult under low SNR.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79632-A392-485E-94F4-8B43860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5143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98C92-3A19-43B6-BBD5-C9329E3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BE8A9-16B5-464B-B0AC-B5A8F8DA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Engineering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CDDD3-4DEC-4732-B4E9-23333012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667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project treats weak service as a signal-quality problem, not only a coverage-map problem.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Denoising is placed before classification so the AMC stage sees a cleaner signal representation.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same logic can support troubleshooting, spectrum monitoring, and rural service planning.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5994B-0822-4FDC-9425-6B03573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45EF5-2B2B-467D-AEA1-99184A7D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49DEC-C012-4328-BED2-AC0DA42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GSM-family I/Q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3FE3B-5152-4140-B1A9-A9ADCCC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Working signal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22C75-4DF7-4E94-AB56-0C420D6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Baseband windows test noisy edge-of-coverage conditions.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AA6AE-53CA-4B98-B8B9-D02D2A5D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053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A618E-046A-4397-9DB7-92C3F63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05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6ED0B-31DD-4A00-A4F9-75C0261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9585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DAE + AMC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93109-A9EB-402C-9BF9-14A37DE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14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Core technical 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3BCA-DFE4-4B38-91B8-A0920155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0070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Denoising front end followed by automatic modulation classification.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11DA0-CE1C-4089-84FE-38071F1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053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868BB-0214-48E2-8281-C1AF55FE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05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33C4E-9536-4A2F-A340-7434E0CF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9585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Rural use case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5E747-5B11-49B5-87D8-7BCACF28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Project motivation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A361E-176A-442C-AA68-728E9BE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0070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Weak-signal interpretation can support practical network decisions.</a:t>
            </a:r>
          </a:p>
        </p:txBody>
      </p:sp>
    </p:spTree>
    <p:extLst>
      <p:ext uri="{BB962C8B-B14F-4D97-AF65-F5344CB8AC3E}">
        <p14:creationId xmlns:p14="http://schemas.microsoft.com/office/powerpoint/2010/main" val="20978313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16385-6470-406E-B6E2-F20C3E7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6527B-F0D3-4A53-847B-9143A3A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0378B-1CA1-4542-BB45-A191113F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9735E-B84F-4F29-9719-DD3C14E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48992-E9A8-41DF-A2EC-7E1F0290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33A8A-0352-4A8F-96A7-66A8510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WHAT THE PROJECT ADDRESSES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CDB3-0F43-4E0F-B427-6530057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3D7B-FAA7-4808-8D1C-2D5B978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BA832-8B8E-429E-B452-9AA015F3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005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Rural GSM users may experience unreliable service even where a network signal is visible. At the edge of coverage, received I/Q samples are degraded by low SNR, interference, fading, and unstable propagation. Conventional AMC methods can misclassify such noisy signals, making it harder to interpret the real service condition.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1EAE2-8E95-41BE-9DB9-C6CC62BF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FC071-4111-4A7E-A4A4-40DF8355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83F36-2CA5-452D-B494-251054C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Technical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ECC21-A2C8-40DE-A475-9D26A8FD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476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Classical signal-processing filters are useful, but are usually fixed to known noise assumptions.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Deep-learning AMC can classify raw I/Q samples, but low-SNR interference still reduces reliability.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A denoising front end may recover useful signal structure before classification.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7CC60-16BF-4384-85F0-3016465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D8735-C05D-4748-8BB1-C0704E0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AA4EE-E206-4727-A010-528EC75F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Project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F67E3-5A43-48CA-8C1F-9B1DA16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57700"/>
            <a:ext cx="4476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Can denoising improve modulation classification under controlled low-SNR GSM-family conditions?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Which SNR ranges benefit most from denoising-assisted classification?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How should the results be interpreted for rural weak-service analysis?</a:t>
            </a:r>
          </a:p>
        </p:txBody>
      </p:sp>
    </p:spTree>
    <p:extLst>
      <p:ext uri="{BB962C8B-B14F-4D97-AF65-F5344CB8AC3E}">
        <p14:creationId xmlns:p14="http://schemas.microsoft.com/office/powerpoint/2010/main" val="16988616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EBFDF-F7C8-4030-B502-A54E45F5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3CB05-833F-447F-980F-618DE9E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9C420-EAAA-42A5-9548-4CB025AA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4B53A-C45A-4951-B0D7-6C2E0F2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393D9-5788-469F-9D22-03A48C71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A1AFB-F2DB-4C51-A3EB-F115B17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MAIN AND SPECIFIC OBJECTIVES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DAE65-5638-4C3F-94F1-4F455DE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Aim and objectives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141B8-1D3C-4131-AC17-C274BBA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782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71D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C7C92-564E-46BB-A010-4D84347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1013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objective: design and evaluate a denoising-assisted automatic modulation classification pipeline for noisy GSM-family I/Q signals in rural Uganda weak-service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7548-D74A-45C3-BBD5-CD1C535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0287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E9D5B-499E-44F3-A18B-E2FD956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6209E-405D-4CB9-88DC-0AC0DC2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986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Specific objectives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16519-AB60-4F7E-B234-B1948869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9810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Define GSM-family low-SNR and interference scenarios for controlled evaluation.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Design a denoising front end that reconstructs cleaner I/Q representations.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Train and evaluate an AMC stage on raw noisy and denoised signal features.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Compare baseline and denoising-assisted performance using accuracy, macro F1, confusion behavior, and signal plots.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Interpret the findings for weak-service troubleshooting and rural connectivity planning.</a:t>
            </a:r>
          </a:p>
        </p:txBody>
      </p:sp>
    </p:spTree>
    <p:extLst>
      <p:ext uri="{BB962C8B-B14F-4D97-AF65-F5344CB8AC3E}">
        <p14:creationId xmlns:p14="http://schemas.microsoft.com/office/powerpoint/2010/main" val="689708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65C081-AD6B-48EF-9246-F976C86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39C1F-4107-457A-9864-CA53CF5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0FAD-EAD8-4F83-8C1A-C7C17A4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9F426-A7A2-487B-9086-18585B9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Justification, significance, and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1D50F-9E77-449F-ADAF-D21B06F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AFFEC-0349-47A9-B548-4B0E849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JUSTIFICATION AND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EFD18-D720-49C1-9D76-AEA1F78A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Why this project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CE393-4C08-445B-8D3C-E13A083A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69900-FD03-4EC1-80A0-A5F65140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432B9-547A-45E1-88DA-2F69AC7C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Justification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6B410-AC14-46A1-A5B9-0E17AE56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952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Rural weak service is a practical problem for ordinary users and for network planning.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Denoising before classification gives a measurable way to test whether useful signal structure can be recovered.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method is software-side and can be evaluated without transmitting or interfering with licensed networks.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FE29B-3E23-4D71-B5FF-48C7D5C3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FCC0E-4CF1-4A7C-9FC4-9F5EA7C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FB0F3-4D73-4749-90AC-C829BE0A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Significance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53C2C-06CB-497F-B2C7-FC1C00CA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952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Supports better interpretation of noisy edge-of-coverage signals.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Gives supervisors and reviewers visible before/after signal evidence.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Creates a foundation for future Android/SDR receive-only prototype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BBCA-6FDD-43EF-8B62-A522484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F3069-676F-4A00-B4AE-6C16D6D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6A4D8-4BED-46EE-B7E6-4986AA1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36183-6E6D-4696-BF38-9B3F47C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952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Controlled simulation and offline I/Q evaluation.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GSM-family/proxy modulation classes used for AMC validation.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No claim of completed field deployment or live service improvement.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4D19D-5B1F-4A54-8831-228DF098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A5B16-854F-43D3-ABEC-BE8E5E3D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C6ABC-8BC5-4FBB-9ACB-3F4AC02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Receive-only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3D338-7FB7-47F1-A106-65BB4ABD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72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DF4D7-341C-4640-B2B5-F8547DA3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The project does not transmit into licensed spectrum.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FEB02-57F5-48B5-A037-65238442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17171-2801-432A-9144-30EFAFF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4AA1F-1B1A-4C2E-9715-16026BA7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530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Offline first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DA210-E520-4789-AE86-3FBB111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72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Evaluation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4970C-855F-4101-A92C-273C463F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578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The current results are controlled simulation outputs.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8CC77-4543-4D0C-A1B3-A2711401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ED8C8-B58E-4768-AC68-801DA3CF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EC317-D750-4E72-8D9C-806423AA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F953CF-DDA6-401F-A65A-606217A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C96A1-3FBB-4591-9297-F283D001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Android/SDR demonstration remains a future validation pathway.</a:t>
            </a:r>
          </a:p>
        </p:txBody>
      </p:sp>
    </p:spTree>
    <p:extLst>
      <p:ext uri="{BB962C8B-B14F-4D97-AF65-F5344CB8AC3E}">
        <p14:creationId xmlns:p14="http://schemas.microsoft.com/office/powerpoint/2010/main" val="1138294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9246A-FB27-4865-B620-51465BC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86AFF-EEE7-409B-8EBE-7D1C08F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912BD-4E11-44FC-9A75-6CCE799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AC62-81DA-47E0-8405-AC738BD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00EC-38E9-4882-86B0-F6027774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E8C33-275E-459C-A477-73EC666E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EVIDENCE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63A0B-0204-4FB7-A0B4-CB398CF4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Literature review: where the gap sits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72008-DD74-4045-8D03-A23D3C9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81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9EBF3-3FF9-4028-8B33-22BE615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FB8E1-3048-4E3E-A652-C3801349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962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Classical AMC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DFBB-5C99-40DD-BD37-1C88875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9051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Uses likelihood rules, moments, cyclostationary features, and engineered descriptors.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Can be interpretable, but becomes fragile when assumptions about noise and channel conditions break.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Useful as a baseline for explaining what the ML pipeline improves.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6D4F4-E9FE-4B07-A3ED-4FC3A93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381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3DFE0-F255-4F7F-B652-A24EFCF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F1053-99BE-4C92-ACAD-89AE3FD7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62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Deep-learning AMC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997BF-37CD-4D1A-91AF-FA55F3C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9051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Learns discriminative patterns directly from raw or transformed I/Q samples.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Modern CNN and sequence models perform well when trained on representative SNR conditions.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Performance still drops when signal structure is buried under low-SNR and interference.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BE69D-02D1-4B02-A598-9E58687B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38300"/>
            <a:ext cx="3381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6C3B6-C898-44E4-9380-2E89A84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DD47D-B109-4665-9983-30712CA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2962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Denoising front ends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B5F20-46F1-4C00-9466-CD378C6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90750"/>
            <a:ext cx="29051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Denoising autoencoders and related methods reconstruct cleaner signals before downstream tasks.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key research question is not only whether the signal looks cleaner, but whether classification improves.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This project evaluates denoising as a preprocessing block for AMC under weak-service conditions.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2F0CE-E50C-4AB9-B902-78F738A7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D1152-750A-48F0-8679-CF8AE900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Gap: few student-level implementations connect denoising, AMC metrics, and rural GSM weak-service interpretation in one reproducible pipeline.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EE6E4-6AC7-4452-8FA4-26B1FCD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Sources: ProjectReport.md literature review; DeepSig/RadioML datasets; low-SNR AMC and denoising references captured in reports/.</a:t>
            </a:r>
          </a:p>
        </p:txBody>
      </p:sp>
    </p:spTree>
    <p:extLst>
      <p:ext uri="{BB962C8B-B14F-4D97-AF65-F5344CB8AC3E}">
        <p14:creationId xmlns:p14="http://schemas.microsoft.com/office/powerpoint/2010/main" val="15651492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00754-4F31-4C2E-9679-DC3826F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7D305-6018-4B53-B196-29C4DC1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416E0-820B-4FAF-B7BE-7F5E50FB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3173E-63A0-4BD7-AB36-083F0A4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CFC02-02CC-4B2A-B90B-F8EB51A8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37B2A-79C9-40A2-A686-B2B9596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EA28B-761F-40DB-BB32-8929351C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Methodology: denoising-assisted AMC signal 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20022-3AFC-46C6-8DD8-F1C1F54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0A50C-2F3C-447C-8FE5-DE50D27F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03A71-EFA2-4079-BFA3-F28B460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9849E-4432-4B14-B0F7-B4A863D4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I/Q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73363-FD81-4E1E-9656-8255A11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Synthetic GSM-family or public I/Q windows.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665C3-FD0B-4A2A-B096-7B9DD0F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1460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B2CFA-BF0D-4548-B125-E704A2A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145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79884-EEF8-464D-B596-695DE899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BB2E5-6B31-444E-A8AA-416338B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955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F8872-B425-4907-94A4-9A1ACF1F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Impairment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EEFCE-30BD-46EE-A11A-EA7D559C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Low SNR, narrowband interference, fading, phase/frequency offset.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1C27F-46C9-4519-9ECD-52D6333D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A3962-0B91-4228-B9B7-8E008B0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59EDE-93AD-4FE1-9786-24895244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AFB80-02E1-4CB5-9C0C-D649018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955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61506-AD81-423B-A9E6-C9BD32C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79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Denoising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556AB-2A46-49B3-8484-3B7EF273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Reconstruct cleaner signal representation before classification.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D3FEE-C2F1-4573-B2ED-1625D6EB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AB08B-D287-47AA-9105-28E47D8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A1348-97EA-4DF2-A1B0-5EE92D0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7976B-8040-4609-8DAB-54B2C5E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955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2CD2A-38E5-4476-A6E9-0BC38CD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AMC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F8434D-C3F3-48A4-A569-E714C30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Classify modulation from raw/noisy or denoised features.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9FBF7-4AB2-4DB1-96E3-903AFE48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14600"/>
            <a:ext cx="323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B306D-16EE-4823-ABEC-AE4F821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8EB2F9-EC21-4A13-B3CF-40E9994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00321-C5D9-414D-BE90-86F479A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955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70B8CC-C052-4A12-9FAD-565F916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479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C2CDE1-6ED3-4147-A4F8-7408A41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Accuracy, macro F1, confusion matrix, and signal plots.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437042-7563-47F4-9E3C-330ECF4F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90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55065-9323-4CE1-83F4-BF6F54D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C43550-E43D-43D8-83A5-1A527B3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948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Evaluation comparison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887C6E-9AD1-4D3F-9943-6857F28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942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Baseline path: noisy I/Q features -&gt; AMC classifier.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Denoising-assisted path: impaired I/Q -&gt; denoising front end -&gt; AMC classifier.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Both paths are evaluated under the same SNR levels and classes.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This makes the difference attributable to the denoising front end.</a:t>
            </a:r>
          </a:p>
        </p:txBody>
      </p:sp>
    </p:spTree>
    <p:extLst>
      <p:ext uri="{BB962C8B-B14F-4D97-AF65-F5344CB8AC3E}">
        <p14:creationId xmlns:p14="http://schemas.microsoft.com/office/powerpoint/2010/main" val="584723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513FC-E483-4606-8E72-D06D0AA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BBED-D9E7-4496-8403-425A2441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10658-906B-4CFA-96C8-97937C51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19697-AE51-4546-A691-3BD81C6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Preliminary controlled simulation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859E4-CA23-4858-9FD0-8DF07863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15748-17F7-438D-B4A3-083B2FD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RESULTS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15F3-64B0-4D00-934B-A441D49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Preliminary controlled simulation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E1CDC-45C9-4BBF-89FC-1AA8033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CEE68-5E62-4834-8ED9-F5A0FB9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2D071-308F-4AED-B3C4-9335EE7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897A3-350E-4371-B251-80DB0997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Modulation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6F669-53B0-4ED0-A9B2-1B37F07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GMSK-like, QPSK, 8PSK, and 16QAM.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3D64D-DB54-4B90-B9FD-375481C3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74F63-D18C-4693-8866-5EFB599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705BC-024B-41AC-B927-A657C4C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FF505-5B04-4831-A62C-B55C071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SNR levels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C356E-B8C9-464A-B9B7-CC0C66E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-8, -4, 0, and 4 dB controlled impairment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F543-5FB1-4291-B315-395F47D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FA6D9-5068-418B-BADB-A41DB78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8BE2E-C505-43FD-B911-079458C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1,920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CD121-444C-46D0-AE68-CC747D17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 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BF44A-5676-48E0-A3AE-43B4BE7D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240 held-out windows per SNR and pipeline comparison.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22B2E-8450-44AA-8E43-5E5046B3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811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9B5B2-0191-4C9A-8F9A-0348FBE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8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A1B14-5FCD-4821-B28E-8A4694E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20260524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BA534-3812-4810-992D-F1CF6EED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Random seed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C91FF-DB93-4260-9B39-4443F6F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The run is deterministic and reproducible.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847F0-87AB-49BF-92FD-DD2E2189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BB87A-B4EC-42FC-99FB-18AE4DB6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97AA0-4B23-4BF6-874E-D4E96A6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What was simulated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6D314-C6E2-4779-8C75-A4818B04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Baseband I/Q windows with GSM-family/proxy modulation structure.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Low-SNR AWGN, narrowband interference, mild fading, and phase/frequency offset.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A denoising-assisted path compared against a noisy baseline path.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8A791-D577-4C8D-A476-BD1C4B4F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00C4B-7EA5-4002-B466-617263B8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037C4B-8790-498A-BFDB-C5B34AEC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What was not claimed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FC59B-D0E5-46C2-801A-217DC8D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No field capture result is claimed in this slide deck.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No live call, SMS, USSD, or Mobile Money improvement is claimed.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No physical tower range extension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7076384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366CA-898D-4F8F-96BD-0632621B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6CA1B-E981-4F63-AD04-A6C56DB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3992-6A94-4F2C-B16C-024F608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D313C-5BF6-44DA-9A6F-A8C1F290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Preliminary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0289A-F560-4461-8F00-E403571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07421-6BA3-4FE7-BED0-BDC961F0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CONTROLLED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B1D8-07DC-46C1-A690-FD2B491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Preliminary result: denoising makes weak signal structure easier to inspect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7FCB0-CB2B-4214-9D55-983738F6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5295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3199e6b434850"/>
          <a:stretch xmlns:a="http://schemas.openxmlformats.org/drawingml/2006/main"/>
        </p:blipFill>
        <p:spPr>
          <a:xfrm xmlns:a="http://schemas.openxmlformats.org/drawingml/2006/main">
            <a:off x="685800" y="2031206"/>
            <a:ext cx="5105400" cy="287178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37475-0467-48F4-8BC3-6BA579A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Noisy, denoised, and clean reference waveform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D546D-20C8-4020-B1BD-F2D8ECB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295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6a23e2db5420c"/>
          <a:stretch xmlns:a="http://schemas.openxmlformats.org/drawingml/2006/main"/>
        </p:blipFill>
        <p:spPr>
          <a:xfrm xmlns:a="http://schemas.openxmlformats.org/drawingml/2006/main">
            <a:off x="6419850" y="2031206"/>
            <a:ext cx="5105400" cy="28717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0C2C8-DE91-49B0-8463-EBF3CE7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Constellation comparison at a low-SNR operating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8D2CE-9660-4657-8187-22BD77A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Interpretation: the preliminary denoising stage is not presented as final DAE performance. It is a controlled signal-processing validation layer that shows why denoising before AMC is worth completing.</a:t>
            </a:r>
          </a:p>
        </p:txBody>
      </p:sp>
    </p:spTree>
    <p:extLst>
      <p:ext uri="{BB962C8B-B14F-4D97-AF65-F5344CB8AC3E}">
        <p14:creationId xmlns:p14="http://schemas.microsoft.com/office/powerpoint/2010/main" val="21243921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1A3A5-2A75-4F2C-84F9-BBB2DC03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C7186-46B0-4F5C-9269-C4CDBF05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833BD-629C-49F4-914C-12CDF40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3AD1-6AB5-49CF-BA8B-AC4F302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Preliminary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801BA-662C-4F05-B6AA-AE3AA10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F4F0-0C19-4397-AAE0-932A4194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CONTROLLED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7BC34-9430-4FFC-8E96-A46B0003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Preliminary result: denoising-assisted AMC improves low-SNR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DD3DF-7444-448E-9258-1855AC3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d98c80cb54505"/>
          <a:stretch xmlns:a="http://schemas.openxmlformats.org/drawingml/2006/main"/>
        </p:blipFill>
        <p:spPr>
          <a:xfrm xmlns:a="http://schemas.openxmlformats.org/drawingml/2006/main">
            <a:off x="1007533" y="1524000"/>
            <a:ext cx="6366933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6D5D4-CB77-4E56-9EDE-8B75D8DC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693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Accuracy by SNR: noisy baseline versus denoising-assisted AMC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E587-022F-48E0-BF00-69199D95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90A0E-D6D3-4779-ABC7-0BC0AF1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60A65-4822-4883-9933-285E51CF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49.4%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ACC46-F992-4091-846F-A5241CF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Noisy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96B92-A882-417F-8BA8-ADFD216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Mean accuracy across controlled SNR levels.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719C7-417A-4436-A2CE-5EF9030A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853A8-3F51-4DB4-B1DD-D33EE90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1DD14-887A-42EC-9078-56C6DC72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52.0%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34D8B-29F1-4B68-86C0-DEEE3362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Denoising-assisted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883E0-D22D-4CDF-B809-ECE892AF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Mean accuracy with the denoising-assisted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16A6F-F001-438B-80FA-EFD24FB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45981-8031-42BE-B1D6-34C88279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57ED2-11E5-41BE-A4CE-023B70CB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863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+9.2 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60D92-5E52-4690-A8E0-851CE0C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054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Largest observed gain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4F7AA-34B8-42A3-8B55-E0E36FE7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At 0 dB in this preliminary controlled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7C9AA-AFCC-42AD-A4EB-CD29CFCA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46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4646"/>
                </a:solidFill>
                <a:latin typeface="Aptos"/>
                <a:ea typeface="Aptos"/>
                <a:cs typeface="Aptos"/>
              </a:rPr>
              <a:t>Result status: preliminary controlled simulation, not final field validation.</a:t>
            </a:r>
          </a:p>
        </p:txBody>
      </p:sp>
    </p:spTree>
    <p:extLst>
      <p:ext uri="{BB962C8B-B14F-4D97-AF65-F5344CB8AC3E}">
        <p14:creationId xmlns:p14="http://schemas.microsoft.com/office/powerpoint/2010/main" val="754416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6B672-5189-4168-9DA6-8482E4FF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20537-F2E1-4763-94FE-E61D053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79D3-CFE7-4F2C-8F98-ACC7F4F8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F991-3075-4C05-9431-09D68A9B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Discussion of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B90C6-87D1-4AF5-864B-89B4DF78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69237-4A09-431C-991E-EBC3BA8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36AA1-A889-43E6-BF45-C2A823A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Discussion: what the preliminary results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EE48C-8161-4E9C-8428-D2A85B6D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e0f6a15a24b27"/>
          <a:stretch xmlns:a="http://schemas.openxmlformats.org/drawingml/2006/main"/>
        </p:blipFill>
        <p:spPr>
          <a:xfrm xmlns:a="http://schemas.openxmlformats.org/drawingml/2006/main">
            <a:off x="762000" y="1688646"/>
            <a:ext cx="4762500" cy="306160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D675F-F24D-4EA5-AA4D-31D0B29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Denoising-assisted confusion matrix across controlled SNR levels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0446C-5EE8-4817-ADE6-0F8D30D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953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7F2F-99C5-45DF-A271-D702340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14369-CD02-4F76-A8A6-FDE85B0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Observed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6B011-545A-4406-A031-4E652D6E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4767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denoising-assisted path improves the controlled run overall.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clearest gain appears around the difficult 0 dB condition.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Cleaner SNR conditions do not require aggressive denoising, so adaptive bypass is sensible.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092EF-487F-4644-9887-C91B786B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AA6E9-4FC2-468A-977D-A2690D0A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5DE8E-5127-40A6-9041-8AE082F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2D736-BE23-4CB5-9BB6-47FDEB9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samples are synthetic and should be replaced or supplemented with stronger datasets.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denoising block is preliminary; final DAE training remains the next technical step.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results do not prove live service improvement or physical coverage extension.</a:t>
            </a:r>
          </a:p>
        </p:txBody>
      </p:sp>
    </p:spTree>
    <p:extLst>
      <p:ext uri="{BB962C8B-B14F-4D97-AF65-F5344CB8AC3E}">
        <p14:creationId xmlns:p14="http://schemas.microsoft.com/office/powerpoint/2010/main" val="16207079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E4C0A-F2F6-4C94-82C3-49C04A2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BE896-81C1-449C-8FDF-812163D6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F042D-0E0E-4C7B-91C0-A65A867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C88F-B8FD-4CDC-8758-19CACCC8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Conclusion and recommendations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FF5E9-212A-490C-8AEB-D42E87D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7D81D-1F6A-4B15-B2A1-EC059DE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FINAL 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3BC4E-AB7E-426E-BEEE-4B6EE0F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Conclusion and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1534B-456E-4BA9-9CE5-FEDF034E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143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FF8D5-F6A3-4F8C-8766-30ACAF8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11813-025F-494A-9AC3-02CFBD52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9F0C7-A46C-48E5-A9D6-FFA733C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4667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Weak rural GSM service can be studied through noisy I/Q signal interpretation, not only through coverage-map labels.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The proposed DAE-AMC chain is technically coherent: denoise first, classify second, evaluate across SNR.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Preliminary controlled simulation results support continuing the denoising-assisted AMC implementation.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B7655-2B62-4E19-B798-DCA889C9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5143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EF06E-554A-4B33-A04E-CA8B72C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36FB6-DA66-4E72-AA59-B539402B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F5C69-2CB5-4A59-8007-99E6401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667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Complete the full trained DAE and AMC implementation with stronger dataset coverage.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Report results by SNR band using accuracy, macro F1, confusion matrices, and signal-quality plots.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Use receive-only validation only; do not transmit, decode private content, or claim live-service gains without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4D13D-D185-4CA9-AB0B-CDFEF6CD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784E5-C4C0-4337-A547-89B6FD50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13804-9776-4221-B696-A10A2EB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Next 4 weeks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AD8A5-1393-4BE7-80F9-93D800D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62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Implementation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2B12B-161F-466E-B73D-7146CD2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48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DAE training, AMC benchmarking, final report update, and presentation rehearsal.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5D8AE-7DD1-4A43-8ED0-EB9FFADF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9AAC4-C152-49E8-9B3A-10BC7290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112AE-3CA2-41F4-9A1B-3E85853C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434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Final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F89F0-3AAF-4DAF-903E-61899E4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62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Expected deliverable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80550-4773-4BE9-AB76-6673A053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48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A reproducible denoising-assisted AMC evaluation for weak GSM-family signals.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89360-73A2-4F0A-AE73-98422A24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9D768-E992-4851-8B08-633D45B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4DE1A-BD22-4BAF-80BA-E9A3D4FD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0777E-8925-446B-846F-3949D893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Operating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B5EFB-7AA9-4E5B-9EFF-2BBC631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48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Receive-only, offline-first validation unless formal approval changes the scope.</a:t>
            </a:r>
          </a:p>
        </p:txBody>
      </p:sp>
    </p:spTree>
    <p:extLst>
      <p:ext uri="{BB962C8B-B14F-4D97-AF65-F5344CB8AC3E}">
        <p14:creationId xmlns:p14="http://schemas.microsoft.com/office/powerpoint/2010/main" val="2699775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EBB88-9301-477A-8E98-238A64F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6E763-C8D0-4002-9C7D-8BBC354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AF17C-88F2-4D6D-A824-F2A406E1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91C9D-DEE4-4287-B027-47B6FBDD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5A068-A75F-4E66-9573-70F49240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B75"/>
                </a:solidFill>
                <a:latin typeface="Aptos"/>
                <a:ea typeface="Aptos"/>
                <a:cs typeface="Aptos"/>
              </a:rPr>
              <a:t>Final Year Project |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6539A-06BF-4251-A103-A631367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A7A"/>
                </a:solidFill>
                <a:latin typeface="Aptos"/>
                <a:ea typeface="Aptos"/>
                <a:cs typeface="Aptos"/>
              </a:rPr>
              <a:t>SOURCES 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2AD32-FB0C-4EF6-9962-84EB4AB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D3B"/>
                </a:solidFill>
                <a:latin typeface="Aptos Display"/>
                <a:ea typeface="Aptos Display"/>
                <a:cs typeface="Aptos Display"/>
              </a:rPr>
              <a:t>References and artifact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AED2D-60DC-46E7-8ED3-E5B248C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38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7A775-9B72-49F4-A18F-7253315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008F6-5F1E-433B-9617-95AC5231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996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Selected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E41F8-5128-4A29-8E1D-3EF0AF62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990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Uganda Communications Commission reports and service-quality materials referenced in ProjectReport.md.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DeepSig / RadioML I/Q dataset literature for AMC evaluation framing.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Low-SNR AMC and denoising-autoencoder papers summarized in reports/LowSNR_AMC_Denoising_Research.md.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Project report manuscript: ProjectReport.md, final-year project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9CE0E-1A6B-4182-8970-05D5FAD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AC5FC-454D-42A3-A491-1119A66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204B9-3AF4-470E-98DD-CECD70C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996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Preliminary simulation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DEBD3-2E38-412B-B614-E1B12068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Script: reports/preliminary_simulation_2026_05_24/run_preliminary_dae_amc.py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Metrics: reports/preliminary_simulation_2026_05_24/results.csv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Figures: signal_comparison.png, constellation_comparison.png, accuracy_by_snr.png, confusion_denoised.png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• Status: controlled simulation artifacts generated for presentation submission, not field deployment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B8BB3-8BD6-4C84-B8F9-2C52611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24550"/>
            <a:ext cx="3619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D3B"/>
                </a:solidFill>
                <a:latin typeface="Aptos"/>
                <a:ea typeface="Aptos"/>
                <a:cs typeface="Aptos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536653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2026-05-24T10:40:57.0420000Z</dcterms:created>
  <dcterms:modified xsi:type="dcterms:W3CDTF">2026-05-24T10:40:57.0420000Z</dcterms:modified>
</coreProperties>
</file>