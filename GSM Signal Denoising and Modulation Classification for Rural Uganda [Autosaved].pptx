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9" r:id="rId2"/>
  </p:sldMasterIdLst>
  <p:notesMasterIdLst>
    <p:notesMasterId r:id="rId24"/>
  </p:notesMasterIdLst>
  <p:sldIdLst>
    <p:sldId id="256" r:id="rId3"/>
    <p:sldId id="285" r:id="rId4"/>
    <p:sldId id="286" r:id="rId5"/>
    <p:sldId id="258" r:id="rId6"/>
    <p:sldId id="260" r:id="rId7"/>
    <p:sldId id="261" r:id="rId8"/>
    <p:sldId id="262" r:id="rId9"/>
    <p:sldId id="264" r:id="rId10"/>
    <p:sldId id="288" r:id="rId11"/>
    <p:sldId id="265" r:id="rId12"/>
    <p:sldId id="293" r:id="rId13"/>
    <p:sldId id="268" r:id="rId14"/>
    <p:sldId id="269" r:id="rId15"/>
    <p:sldId id="273" r:id="rId16"/>
    <p:sldId id="274" r:id="rId17"/>
    <p:sldId id="276" r:id="rId18"/>
    <p:sldId id="278" r:id="rId19"/>
    <p:sldId id="289" r:id="rId20"/>
    <p:sldId id="290" r:id="rId21"/>
    <p:sldId id="291" r:id="rId22"/>
    <p:sldId id="292" r:id="rId23"/>
  </p:sldIdLst>
  <p:sldSz cx="14630400" cy="8229600"/>
  <p:notesSz cx="8229600" cy="14630400"/>
  <p:embeddedFontLst>
    <p:embeddedFont>
      <p:font typeface="Nunito" pitchFamily="2" charset="0"/>
      <p:regular r:id="rId25"/>
      <p:bold r:id="rId26"/>
      <p:italic r:id="rId27"/>
      <p:boldItalic r:id="rId28"/>
    </p:embeddedFont>
    <p:embeddedFont>
      <p:font typeface="Nunito Sans" pitchFamily="2" charset="0"/>
      <p:regular r:id="rId29"/>
      <p:bold r:id="rId30"/>
      <p:italic r:id="rId31"/>
      <p:boldItalic r:id="rId32"/>
    </p:embeddedFont>
    <p:embeddedFont>
      <p:font typeface="Nunito Sans Bold" charset="0"/>
      <p:bold r:id="rId33"/>
    </p:embeddedFont>
    <p:embeddedFont>
      <p:font typeface="Nunito Sans Light" pitchFamily="2" charset="0"/>
      <p:regular r:id="rId34"/>
      <p: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A60"/>
    <a:srgbClr val="E6F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71" d="100"/>
          <a:sy n="71" d="100"/>
        </p:scale>
        <p:origin x="59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10.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767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261AE-2625-C732-8C62-CB40263E9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590CB-9BAD-AB42-C950-D364A23D6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3FD06-F27B-491F-A38A-61A23C62DE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3A9AAA-10E5-B252-AA02-98C1530E8A3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57031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F9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2" r:id="rId1"/>
    <p:sldLayoutId id="2147483671" r:id="rId2"/>
    <p:sldLayoutId id="2147483670" r:id="rId3"/>
    <p:sldLayoutId id="2147483669" r:id="rId4"/>
    <p:sldLayoutId id="2147483668" r:id="rId5"/>
    <p:sldLayoutId id="2147483667" r:id="rId6"/>
    <p:sldLayoutId id="2147483666" r:id="rId7"/>
    <p:sldLayoutId id="2147483665" r:id="rId8"/>
    <p:sldLayoutId id="2147483664" r:id="rId9"/>
    <p:sldLayoutId id="2147483663" r:id="rId10"/>
    <p:sldLayoutId id="2147483662" r:id="rId11"/>
    <p:sldLayoutId id="2147483661" r:id="rId12"/>
    <p:sldLayoutId id="2147483660"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9.xml"/><Relationship Id="rId16" Type="http://schemas.openxmlformats.org/officeDocument/2006/relationships/image" Target="../media/image20.svg"/><Relationship Id="rId1" Type="http://schemas.openxmlformats.org/officeDocument/2006/relationships/slideLayout" Target="../slideLayouts/slideLayout12.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hyperlink" Target="https://arxiv.org/abs/2312.02298" TargetMode="External"/><Relationship Id="rId2" Type="http://schemas.openxmlformats.org/officeDocument/2006/relationships/hyperlink" Target="https://www.atomiccouncil.go.ug/non-ionizing-radiation-radiofrequency/" TargetMode="Externa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33845" y="2643325"/>
            <a:ext cx="8235834" cy="1471475"/>
          </a:xfrm>
          <a:prstGeom prst="rect">
            <a:avLst/>
          </a:prstGeom>
          <a:noFill/>
          <a:ln/>
        </p:spPr>
        <p:txBody>
          <a:bodyPr wrap="square" lIns="0" tIns="0" rIns="0" bIns="0" rtlCol="0" anchor="t"/>
          <a:lstStyle/>
          <a:p>
            <a:pPr algn="ctr">
              <a:lnSpc>
                <a:spcPts val="5550"/>
              </a:lnSpc>
            </a:pPr>
            <a:r>
              <a:rPr lang="en-US" sz="3600" b="1" dirty="0">
                <a:solidFill>
                  <a:srgbClr val="006A60"/>
                </a:solidFill>
                <a:latin typeface="Nunito Sans" pitchFamily="2" charset="0"/>
              </a:rPr>
              <a:t>GSM Signal Denoising and Modulation Classification for Rural Uganda</a:t>
            </a:r>
          </a:p>
          <a:p>
            <a:pPr marL="0" indent="0" algn="ctr">
              <a:lnSpc>
                <a:spcPts val="5550"/>
              </a:lnSpc>
              <a:buNone/>
            </a:pPr>
            <a:endParaRPr lang="en-US" sz="3600" dirty="0">
              <a:latin typeface="Nunito Sans" pitchFamily="2" charset="0"/>
            </a:endParaRPr>
          </a:p>
        </p:txBody>
      </p:sp>
      <p:sp>
        <p:nvSpPr>
          <p:cNvPr id="4" name="Text 1"/>
          <p:cNvSpPr/>
          <p:nvPr/>
        </p:nvSpPr>
        <p:spPr>
          <a:xfrm>
            <a:off x="793790" y="1610445"/>
            <a:ext cx="8075890" cy="721824"/>
          </a:xfrm>
          <a:prstGeom prst="rect">
            <a:avLst/>
          </a:prstGeom>
          <a:noFill/>
          <a:ln/>
        </p:spPr>
        <p:txBody>
          <a:bodyPr wrap="none" lIns="0" tIns="0" rIns="0" bIns="0" rtlCol="0" anchor="t"/>
          <a:lstStyle/>
          <a:p>
            <a:pPr marL="0" indent="0" algn="ctr">
              <a:lnSpc>
                <a:spcPts val="2850"/>
              </a:lnSpc>
              <a:buNone/>
            </a:pPr>
            <a:r>
              <a:rPr lang="en-US" sz="1750" b="1" dirty="0">
                <a:solidFill>
                  <a:srgbClr val="272525"/>
                </a:solidFill>
                <a:latin typeface="Nunito" pitchFamily="34" charset="0"/>
                <a:ea typeface="Nunito" pitchFamily="34" charset="-122"/>
                <a:cs typeface="Nunito" pitchFamily="34" charset="-120"/>
              </a:rPr>
              <a:t>Final Year Project: </a:t>
            </a:r>
          </a:p>
          <a:p>
            <a:pPr marL="0" indent="0" algn="ctr">
              <a:lnSpc>
                <a:spcPts val="2850"/>
              </a:lnSpc>
              <a:buNone/>
            </a:pPr>
            <a:r>
              <a:rPr lang="en-US" sz="1750" dirty="0">
                <a:solidFill>
                  <a:srgbClr val="272525"/>
                </a:solidFill>
                <a:latin typeface="Nunito" pitchFamily="34" charset="0"/>
                <a:ea typeface="Nunito" pitchFamily="34" charset="-122"/>
                <a:cs typeface="Nunito" pitchFamily="34" charset="-120"/>
              </a:rPr>
              <a:t>Department of Electrical and Electronics Engineering</a:t>
            </a:r>
            <a:endParaRPr lang="en-US" sz="1750" dirty="0"/>
          </a:p>
        </p:txBody>
      </p:sp>
      <p:sp>
        <p:nvSpPr>
          <p:cNvPr id="5" name="Shape 2"/>
          <p:cNvSpPr/>
          <p:nvPr/>
        </p:nvSpPr>
        <p:spPr>
          <a:xfrm>
            <a:off x="785904" y="5044440"/>
            <a:ext cx="8092208" cy="1315879"/>
          </a:xfrm>
          <a:prstGeom prst="roundRect">
            <a:avLst>
              <a:gd name="adj" fmla="val 15514"/>
            </a:avLst>
          </a:prstGeom>
          <a:noFill/>
          <a:ln w="7620">
            <a:solidFill>
              <a:srgbClr val="000000">
                <a:alpha val="8000"/>
              </a:srgbClr>
            </a:solidFill>
            <a:prstDash val="solid"/>
          </a:ln>
        </p:spPr>
        <p:txBody>
          <a:bodyPr/>
          <a:lstStyle/>
          <a:p>
            <a:endParaRPr lang="en-US"/>
          </a:p>
        </p:txBody>
      </p:sp>
      <p:sp>
        <p:nvSpPr>
          <p:cNvPr id="6" name="Shape 3"/>
          <p:cNvSpPr/>
          <p:nvPr/>
        </p:nvSpPr>
        <p:spPr>
          <a:xfrm>
            <a:off x="793792" y="5052060"/>
            <a:ext cx="8075888" cy="650319"/>
          </a:xfrm>
          <a:prstGeom prst="rect">
            <a:avLst/>
          </a:prstGeom>
          <a:solidFill>
            <a:srgbClr val="FFFFFF">
              <a:alpha val="4000"/>
            </a:srgbClr>
          </a:solidFill>
          <a:ln/>
        </p:spPr>
        <p:txBody>
          <a:bodyPr/>
          <a:lstStyle/>
          <a:p>
            <a:endParaRPr lang="en-US"/>
          </a:p>
        </p:txBody>
      </p:sp>
      <p:sp>
        <p:nvSpPr>
          <p:cNvPr id="7" name="Text 4"/>
          <p:cNvSpPr/>
          <p:nvPr/>
        </p:nvSpPr>
        <p:spPr>
          <a:xfrm>
            <a:off x="1094785" y="5195768"/>
            <a:ext cx="354807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 Ssemujju Sharif Abdukarim</a:t>
            </a:r>
            <a:endParaRPr lang="en-US" sz="1750" dirty="0"/>
          </a:p>
        </p:txBody>
      </p:sp>
      <p:sp>
        <p:nvSpPr>
          <p:cNvPr id="8" name="Text 5"/>
          <p:cNvSpPr/>
          <p:nvPr/>
        </p:nvSpPr>
        <p:spPr>
          <a:xfrm>
            <a:off x="4869185" y="5195768"/>
            <a:ext cx="354807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18/U/ETD/181/GV</a:t>
            </a:r>
            <a:endParaRPr lang="en-US" sz="1750" dirty="0"/>
          </a:p>
        </p:txBody>
      </p:sp>
      <p:sp>
        <p:nvSpPr>
          <p:cNvPr id="9" name="Shape 6"/>
          <p:cNvSpPr/>
          <p:nvPr/>
        </p:nvSpPr>
        <p:spPr>
          <a:xfrm>
            <a:off x="793792" y="5702379"/>
            <a:ext cx="8075888" cy="650319"/>
          </a:xfrm>
          <a:prstGeom prst="rect">
            <a:avLst/>
          </a:prstGeom>
          <a:solidFill>
            <a:srgbClr val="000000">
              <a:alpha val="4000"/>
            </a:srgbClr>
          </a:solidFill>
          <a:ln/>
        </p:spPr>
        <p:txBody>
          <a:bodyPr/>
          <a:lstStyle/>
          <a:p>
            <a:endParaRPr lang="en-US"/>
          </a:p>
        </p:txBody>
      </p:sp>
      <p:sp>
        <p:nvSpPr>
          <p:cNvPr id="10" name="Text 7"/>
          <p:cNvSpPr/>
          <p:nvPr/>
        </p:nvSpPr>
        <p:spPr>
          <a:xfrm>
            <a:off x="1094785" y="5846088"/>
            <a:ext cx="354807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Kisige Tom Derrick</a:t>
            </a:r>
            <a:endParaRPr lang="en-US" sz="1750" dirty="0"/>
          </a:p>
        </p:txBody>
      </p:sp>
      <p:sp>
        <p:nvSpPr>
          <p:cNvPr id="11" name="Text 8"/>
          <p:cNvSpPr/>
          <p:nvPr/>
        </p:nvSpPr>
        <p:spPr>
          <a:xfrm>
            <a:off x="4869185" y="5846088"/>
            <a:ext cx="354807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22/U/ETD/0953/GV</a:t>
            </a:r>
            <a:endParaRPr lang="en-US" sz="1750" dirty="0"/>
          </a:p>
        </p:txBody>
      </p:sp>
      <p:sp>
        <p:nvSpPr>
          <p:cNvPr id="12" name="Text 9"/>
          <p:cNvSpPr/>
          <p:nvPr/>
        </p:nvSpPr>
        <p:spPr>
          <a:xfrm>
            <a:off x="793790" y="6615470"/>
            <a:ext cx="8092208"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Nunito" pitchFamily="34" charset="0"/>
                <a:ea typeface="Nunito" pitchFamily="34" charset="-122"/>
                <a:cs typeface="Nunito" pitchFamily="34" charset="-120"/>
              </a:rPr>
              <a:t>Supervisor: Dr. Dickson Mugerwa</a:t>
            </a:r>
            <a:endParaRPr lang="en-US" sz="1750" dirty="0"/>
          </a:p>
        </p:txBody>
      </p:sp>
      <p:sp>
        <p:nvSpPr>
          <p:cNvPr id="13" name="Title 1">
            <a:extLst>
              <a:ext uri="{FF2B5EF4-FFF2-40B4-BE49-F238E27FC236}">
                <a16:creationId xmlns:a16="http://schemas.microsoft.com/office/drawing/2014/main" id="{D964EA8A-902D-2E35-3505-0C30F118C9F8}"/>
              </a:ext>
            </a:extLst>
          </p:cNvPr>
          <p:cNvSpPr>
            <a:spLocks noGrp="1"/>
          </p:cNvSpPr>
          <p:nvPr/>
        </p:nvSpPr>
        <p:spPr>
          <a:xfrm>
            <a:off x="793791" y="635046"/>
            <a:ext cx="8075890" cy="721824"/>
          </a:xfrm>
          <a:prstGeom prst="rect">
            <a:avLst/>
          </a:prstGeom>
        </p:spPr>
        <p:txBody>
          <a:bodyPr vert="horz" lIns="91440" tIns="45720" rIns="91440" bIns="45720" rtlCol="0" anchor="b">
            <a:normAutofit/>
          </a:bodyPr>
          <a:lstStyle>
            <a:lvl1pPr marL="0" algn="ctr" defTabSz="914400" rtl="0" eaLnBrk="1" latinLnBrk="0" hangingPunct="1">
              <a:lnSpc>
                <a:spcPct val="85000"/>
              </a:lnSpc>
              <a:spcBef>
                <a:spcPct val="0"/>
              </a:spcBef>
              <a:buNone/>
              <a:defRPr sz="3600" kern="1200" spc="-50" baseline="0">
                <a:solidFill>
                  <a:schemeClr val="tx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defRPr>
            </a:lvl1pPr>
          </a:lstStyle>
          <a:p>
            <a:r>
              <a:rPr lang="en-US" b="1" dirty="0">
                <a:solidFill>
                  <a:srgbClr val="006A60"/>
                </a:solidFill>
                <a:latin typeface="Nunito Sans" pitchFamily="2" charset="0"/>
              </a:rPr>
              <a:t>KYAMBOGO           UNIVERSITY</a:t>
            </a:r>
          </a:p>
        </p:txBody>
      </p:sp>
      <p:pic>
        <p:nvPicPr>
          <p:cNvPr id="1026" name="Picture 2" descr="Students Portal">
            <a:extLst>
              <a:ext uri="{FF2B5EF4-FFF2-40B4-BE49-F238E27FC236}">
                <a16:creationId xmlns:a16="http://schemas.microsoft.com/office/drawing/2014/main" id="{F41F80AE-0220-0A45-31B7-DC3C8D8ED8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5833" y="431016"/>
            <a:ext cx="1061897" cy="83400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BB2E8161-650A-DFF3-DEF4-C42D800BC4D1}"/>
              </a:ext>
            </a:extLst>
          </p:cNvPr>
          <p:cNvSpPr txBox="1"/>
          <p:nvPr/>
        </p:nvSpPr>
        <p:spPr>
          <a:xfrm>
            <a:off x="1461646" y="4098696"/>
            <a:ext cx="6732292" cy="646331"/>
          </a:xfrm>
          <a:prstGeom prst="rect">
            <a:avLst/>
          </a:prstGeom>
          <a:noFill/>
        </p:spPr>
        <p:txBody>
          <a:bodyPr wrap="none" rtlCol="0">
            <a:spAutoFit/>
          </a:bodyPr>
          <a:lstStyle/>
          <a:p>
            <a:r>
              <a:rPr lang="en-US" dirty="0">
                <a:solidFill>
                  <a:schemeClr val="bg1">
                    <a:lumMod val="50000"/>
                  </a:schemeClr>
                </a:solidFill>
              </a:rPr>
              <a:t>Improving Connectivity in Underserved Areas Using Machine Learning</a:t>
            </a:r>
          </a:p>
          <a:p>
            <a:endParaRPr lang="en-US"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245195" y="835183"/>
            <a:ext cx="12356505" cy="846415"/>
          </a:xfrm>
          <a:prstGeom prst="rect">
            <a:avLst/>
          </a:prstGeom>
          <a:noFill/>
          <a:ln/>
        </p:spPr>
        <p:txBody>
          <a:bodyPr wrap="none" lIns="0" tIns="0" rIns="0" bIns="0" rtlCol="0" anchor="t"/>
          <a:lstStyle/>
          <a:p>
            <a:pPr marL="0" indent="0">
              <a:lnSpc>
                <a:spcPts val="2750"/>
              </a:lnSpc>
              <a:buNone/>
            </a:pPr>
            <a:r>
              <a:rPr lang="en-US" sz="4800" b="1" dirty="0">
                <a:solidFill>
                  <a:srgbClr val="006A60"/>
                </a:solidFill>
                <a:latin typeface="Nunito Sans" pitchFamily="2" charset="0"/>
                <a:ea typeface="Nunito Sans Bold" pitchFamily="34" charset="-122"/>
                <a:cs typeface="Nunito Sans Bold" pitchFamily="34" charset="-120"/>
              </a:rPr>
              <a:t>Proposal Outline</a:t>
            </a:r>
            <a:endParaRPr lang="en-US" sz="4800" dirty="0">
              <a:latin typeface="Nunito Sans" pitchFamily="2" charset="0"/>
            </a:endParaRPr>
          </a:p>
        </p:txBody>
      </p:sp>
      <p:sp>
        <p:nvSpPr>
          <p:cNvPr id="4" name="Shape 2"/>
          <p:cNvSpPr/>
          <p:nvPr/>
        </p:nvSpPr>
        <p:spPr>
          <a:xfrm>
            <a:off x="1229956" y="1825585"/>
            <a:ext cx="4227120" cy="680442"/>
          </a:xfrm>
          <a:prstGeom prst="roundRect">
            <a:avLst>
              <a:gd name="adj" fmla="val 15001"/>
            </a:avLst>
          </a:prstGeom>
          <a:solidFill>
            <a:srgbClr val="E5F9FF">
              <a:alpha val="95000"/>
            </a:srgbClr>
          </a:solidFill>
          <a:ln w="15240">
            <a:solidFill>
              <a:srgbClr val="F1E79A"/>
            </a:solidFill>
            <a:prstDash val="solid"/>
          </a:ln>
        </p:spPr>
        <p:txBody>
          <a:bodyPr/>
          <a:lstStyle/>
          <a:p>
            <a:endParaRPr lang="en-US">
              <a:latin typeface="Nunito Sans" pitchFamily="2" charset="0"/>
            </a:endParaRPr>
          </a:p>
        </p:txBody>
      </p:sp>
      <p:sp>
        <p:nvSpPr>
          <p:cNvPr id="5" name="Shape 3"/>
          <p:cNvSpPr/>
          <p:nvPr/>
        </p:nvSpPr>
        <p:spPr>
          <a:xfrm>
            <a:off x="1245195" y="1840825"/>
            <a:ext cx="453628" cy="649962"/>
          </a:xfrm>
          <a:prstGeom prst="roundRect">
            <a:avLst>
              <a:gd name="adj" fmla="val 18470"/>
            </a:avLst>
          </a:prstGeom>
          <a:solidFill>
            <a:srgbClr val="F1E79A"/>
          </a:solidFill>
          <a:ln/>
        </p:spPr>
        <p:txBody>
          <a:bodyPr/>
          <a:lstStyle/>
          <a:p>
            <a:endParaRPr lang="en-US">
              <a:latin typeface="Nunito Sans" pitchFamily="2" charset="0"/>
            </a:endParaRPr>
          </a:p>
        </p:txBody>
      </p:sp>
      <p:sp>
        <p:nvSpPr>
          <p:cNvPr id="6" name="Text 4"/>
          <p:cNvSpPr/>
          <p:nvPr/>
        </p:nvSpPr>
        <p:spPr>
          <a:xfrm>
            <a:off x="1383189" y="205942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1</a:t>
            </a:r>
            <a:endParaRPr lang="en-US" sz="1300" dirty="0">
              <a:latin typeface="Nunito Sans" pitchFamily="2" charset="0"/>
            </a:endParaRPr>
          </a:p>
        </p:txBody>
      </p:sp>
      <p:sp>
        <p:nvSpPr>
          <p:cNvPr id="7" name="Text 5"/>
          <p:cNvSpPr/>
          <p:nvPr/>
        </p:nvSpPr>
        <p:spPr>
          <a:xfrm>
            <a:off x="1812171" y="195417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Background</a:t>
            </a:r>
            <a:endParaRPr lang="en-US" sz="1100" dirty="0">
              <a:latin typeface="Nunito Sans" pitchFamily="2" charset="0"/>
            </a:endParaRPr>
          </a:p>
        </p:txBody>
      </p:sp>
      <p:sp>
        <p:nvSpPr>
          <p:cNvPr id="8" name="Shape 6"/>
          <p:cNvSpPr/>
          <p:nvPr/>
        </p:nvSpPr>
        <p:spPr>
          <a:xfrm>
            <a:off x="1229956" y="2619375"/>
            <a:ext cx="4227120" cy="680442"/>
          </a:xfrm>
          <a:prstGeom prst="roundRect">
            <a:avLst>
              <a:gd name="adj" fmla="val 15001"/>
            </a:avLst>
          </a:prstGeom>
          <a:solidFill>
            <a:srgbClr val="E5F9FF">
              <a:alpha val="95000"/>
            </a:srgbClr>
          </a:solidFill>
          <a:ln w="15240">
            <a:solidFill>
              <a:srgbClr val="429A92"/>
            </a:solidFill>
            <a:prstDash val="solid"/>
          </a:ln>
        </p:spPr>
        <p:txBody>
          <a:bodyPr/>
          <a:lstStyle/>
          <a:p>
            <a:endParaRPr lang="en-US">
              <a:latin typeface="Nunito Sans" pitchFamily="2" charset="0"/>
            </a:endParaRPr>
          </a:p>
        </p:txBody>
      </p:sp>
      <p:sp>
        <p:nvSpPr>
          <p:cNvPr id="9" name="Shape 7"/>
          <p:cNvSpPr/>
          <p:nvPr/>
        </p:nvSpPr>
        <p:spPr>
          <a:xfrm>
            <a:off x="1245195" y="2634615"/>
            <a:ext cx="453628" cy="649962"/>
          </a:xfrm>
          <a:prstGeom prst="roundRect">
            <a:avLst>
              <a:gd name="adj" fmla="val 18470"/>
            </a:avLst>
          </a:prstGeom>
          <a:solidFill>
            <a:srgbClr val="429A92"/>
          </a:solidFill>
          <a:ln/>
        </p:spPr>
        <p:txBody>
          <a:bodyPr/>
          <a:lstStyle/>
          <a:p>
            <a:endParaRPr lang="en-US">
              <a:latin typeface="Nunito Sans" pitchFamily="2" charset="0"/>
            </a:endParaRPr>
          </a:p>
        </p:txBody>
      </p:sp>
      <p:sp>
        <p:nvSpPr>
          <p:cNvPr id="10" name="Text 8"/>
          <p:cNvSpPr/>
          <p:nvPr/>
        </p:nvSpPr>
        <p:spPr>
          <a:xfrm>
            <a:off x="1383189" y="285321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FFFFFF"/>
                </a:solidFill>
                <a:latin typeface="Nunito Sans" pitchFamily="2" charset="0"/>
                <a:ea typeface="Nunito Sans Bold" pitchFamily="34" charset="-122"/>
                <a:cs typeface="Nunito Sans Bold" pitchFamily="34" charset="-120"/>
              </a:rPr>
              <a:t>2</a:t>
            </a:r>
            <a:endParaRPr lang="en-US" sz="1300" dirty="0">
              <a:latin typeface="Nunito Sans" pitchFamily="2" charset="0"/>
            </a:endParaRPr>
          </a:p>
        </p:txBody>
      </p:sp>
      <p:sp>
        <p:nvSpPr>
          <p:cNvPr id="11" name="Text 9"/>
          <p:cNvSpPr/>
          <p:nvPr/>
        </p:nvSpPr>
        <p:spPr>
          <a:xfrm>
            <a:off x="1812171" y="274796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Problem Statement</a:t>
            </a:r>
            <a:endParaRPr lang="en-US" sz="1100" dirty="0">
              <a:latin typeface="Nunito Sans" pitchFamily="2" charset="0"/>
            </a:endParaRPr>
          </a:p>
        </p:txBody>
      </p:sp>
      <p:sp>
        <p:nvSpPr>
          <p:cNvPr id="12" name="Shape 10"/>
          <p:cNvSpPr/>
          <p:nvPr/>
        </p:nvSpPr>
        <p:spPr>
          <a:xfrm>
            <a:off x="1229956" y="3413165"/>
            <a:ext cx="4227120" cy="680442"/>
          </a:xfrm>
          <a:prstGeom prst="roundRect">
            <a:avLst>
              <a:gd name="adj" fmla="val 15001"/>
            </a:avLst>
          </a:prstGeom>
          <a:solidFill>
            <a:srgbClr val="E5F9FF">
              <a:alpha val="95000"/>
            </a:srgbClr>
          </a:solidFill>
          <a:ln w="15240">
            <a:solidFill>
              <a:srgbClr val="A4ECF9"/>
            </a:solidFill>
            <a:prstDash val="solid"/>
          </a:ln>
        </p:spPr>
        <p:txBody>
          <a:bodyPr/>
          <a:lstStyle/>
          <a:p>
            <a:endParaRPr lang="en-US">
              <a:latin typeface="Nunito Sans" pitchFamily="2" charset="0"/>
            </a:endParaRPr>
          </a:p>
        </p:txBody>
      </p:sp>
      <p:sp>
        <p:nvSpPr>
          <p:cNvPr id="13" name="Shape 11"/>
          <p:cNvSpPr/>
          <p:nvPr/>
        </p:nvSpPr>
        <p:spPr>
          <a:xfrm>
            <a:off x="1245195" y="3428405"/>
            <a:ext cx="453628" cy="649962"/>
          </a:xfrm>
          <a:prstGeom prst="roundRect">
            <a:avLst>
              <a:gd name="adj" fmla="val 18470"/>
            </a:avLst>
          </a:prstGeom>
          <a:solidFill>
            <a:srgbClr val="A4ECF9"/>
          </a:solidFill>
          <a:ln/>
        </p:spPr>
        <p:txBody>
          <a:bodyPr/>
          <a:lstStyle/>
          <a:p>
            <a:endParaRPr lang="en-US">
              <a:latin typeface="Nunito Sans" pitchFamily="2" charset="0"/>
            </a:endParaRPr>
          </a:p>
        </p:txBody>
      </p:sp>
      <p:sp>
        <p:nvSpPr>
          <p:cNvPr id="14" name="Text 12"/>
          <p:cNvSpPr/>
          <p:nvPr/>
        </p:nvSpPr>
        <p:spPr>
          <a:xfrm>
            <a:off x="1383189" y="364700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3</a:t>
            </a:r>
            <a:endParaRPr lang="en-US" sz="1300" dirty="0">
              <a:latin typeface="Nunito Sans" pitchFamily="2" charset="0"/>
            </a:endParaRPr>
          </a:p>
        </p:txBody>
      </p:sp>
      <p:sp>
        <p:nvSpPr>
          <p:cNvPr id="15" name="Text 13"/>
          <p:cNvSpPr/>
          <p:nvPr/>
        </p:nvSpPr>
        <p:spPr>
          <a:xfrm>
            <a:off x="1812171" y="354175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Objectives</a:t>
            </a:r>
            <a:endParaRPr lang="en-US" sz="1100" dirty="0">
              <a:latin typeface="Nunito Sans" pitchFamily="2" charset="0"/>
            </a:endParaRPr>
          </a:p>
        </p:txBody>
      </p:sp>
      <p:sp>
        <p:nvSpPr>
          <p:cNvPr id="16" name="Shape 14"/>
          <p:cNvSpPr/>
          <p:nvPr/>
        </p:nvSpPr>
        <p:spPr>
          <a:xfrm>
            <a:off x="1229955" y="4206954"/>
            <a:ext cx="4227121" cy="680442"/>
          </a:xfrm>
          <a:prstGeom prst="roundRect">
            <a:avLst>
              <a:gd name="adj" fmla="val 15001"/>
            </a:avLst>
          </a:prstGeom>
          <a:solidFill>
            <a:srgbClr val="E5F9FF">
              <a:alpha val="95000"/>
            </a:srgbClr>
          </a:solidFill>
          <a:ln w="15240">
            <a:solidFill>
              <a:srgbClr val="F9A7A7"/>
            </a:solidFill>
            <a:prstDash val="solid"/>
          </a:ln>
        </p:spPr>
        <p:txBody>
          <a:bodyPr/>
          <a:lstStyle/>
          <a:p>
            <a:endParaRPr lang="en-US">
              <a:latin typeface="Nunito Sans" pitchFamily="2" charset="0"/>
            </a:endParaRPr>
          </a:p>
        </p:txBody>
      </p:sp>
      <p:sp>
        <p:nvSpPr>
          <p:cNvPr id="17" name="Shape 15"/>
          <p:cNvSpPr/>
          <p:nvPr/>
        </p:nvSpPr>
        <p:spPr>
          <a:xfrm>
            <a:off x="1245195" y="4222194"/>
            <a:ext cx="453628" cy="649962"/>
          </a:xfrm>
          <a:prstGeom prst="roundRect">
            <a:avLst>
              <a:gd name="adj" fmla="val 18470"/>
            </a:avLst>
          </a:prstGeom>
          <a:solidFill>
            <a:srgbClr val="F9A7A7"/>
          </a:solidFill>
          <a:ln/>
        </p:spPr>
        <p:txBody>
          <a:bodyPr/>
          <a:lstStyle/>
          <a:p>
            <a:endParaRPr lang="en-US">
              <a:latin typeface="Nunito Sans" pitchFamily="2" charset="0"/>
            </a:endParaRPr>
          </a:p>
        </p:txBody>
      </p:sp>
      <p:sp>
        <p:nvSpPr>
          <p:cNvPr id="18" name="Text 16"/>
          <p:cNvSpPr/>
          <p:nvPr/>
        </p:nvSpPr>
        <p:spPr>
          <a:xfrm>
            <a:off x="1383189" y="444079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4</a:t>
            </a:r>
            <a:endParaRPr lang="en-US" sz="1300" dirty="0">
              <a:latin typeface="Nunito Sans" pitchFamily="2" charset="0"/>
            </a:endParaRPr>
          </a:p>
        </p:txBody>
      </p:sp>
      <p:sp>
        <p:nvSpPr>
          <p:cNvPr id="19" name="Text 17"/>
          <p:cNvSpPr/>
          <p:nvPr/>
        </p:nvSpPr>
        <p:spPr>
          <a:xfrm>
            <a:off x="1812171" y="433554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Justification</a:t>
            </a:r>
            <a:endParaRPr lang="en-US" sz="1100" dirty="0">
              <a:latin typeface="Nunito Sans" pitchFamily="2" charset="0"/>
            </a:endParaRPr>
          </a:p>
        </p:txBody>
      </p:sp>
      <p:sp>
        <p:nvSpPr>
          <p:cNvPr id="20" name="Shape 18"/>
          <p:cNvSpPr/>
          <p:nvPr/>
        </p:nvSpPr>
        <p:spPr>
          <a:xfrm>
            <a:off x="1229955" y="5000744"/>
            <a:ext cx="4227121" cy="680442"/>
          </a:xfrm>
          <a:prstGeom prst="roundRect">
            <a:avLst>
              <a:gd name="adj" fmla="val 15001"/>
            </a:avLst>
          </a:prstGeom>
          <a:solidFill>
            <a:srgbClr val="E5F9FF">
              <a:alpha val="95000"/>
            </a:srgbClr>
          </a:solidFill>
          <a:ln w="15240">
            <a:solidFill>
              <a:srgbClr val="F1E79A"/>
            </a:solidFill>
            <a:prstDash val="solid"/>
          </a:ln>
        </p:spPr>
        <p:txBody>
          <a:bodyPr/>
          <a:lstStyle/>
          <a:p>
            <a:endParaRPr lang="en-US">
              <a:latin typeface="Nunito Sans" pitchFamily="2" charset="0"/>
            </a:endParaRPr>
          </a:p>
        </p:txBody>
      </p:sp>
      <p:sp>
        <p:nvSpPr>
          <p:cNvPr id="21" name="Shape 19"/>
          <p:cNvSpPr/>
          <p:nvPr/>
        </p:nvSpPr>
        <p:spPr>
          <a:xfrm>
            <a:off x="1245195" y="5015984"/>
            <a:ext cx="453628" cy="649962"/>
          </a:xfrm>
          <a:prstGeom prst="roundRect">
            <a:avLst>
              <a:gd name="adj" fmla="val 18470"/>
            </a:avLst>
          </a:prstGeom>
          <a:solidFill>
            <a:srgbClr val="F1E79A"/>
          </a:solidFill>
          <a:ln/>
        </p:spPr>
        <p:txBody>
          <a:bodyPr/>
          <a:lstStyle/>
          <a:p>
            <a:endParaRPr lang="en-US">
              <a:latin typeface="Nunito Sans" pitchFamily="2" charset="0"/>
            </a:endParaRPr>
          </a:p>
        </p:txBody>
      </p:sp>
      <p:sp>
        <p:nvSpPr>
          <p:cNvPr id="22" name="Text 20"/>
          <p:cNvSpPr/>
          <p:nvPr/>
        </p:nvSpPr>
        <p:spPr>
          <a:xfrm>
            <a:off x="1383189" y="523458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5</a:t>
            </a:r>
            <a:endParaRPr lang="en-US" sz="1300" dirty="0">
              <a:latin typeface="Nunito Sans" pitchFamily="2" charset="0"/>
            </a:endParaRPr>
          </a:p>
        </p:txBody>
      </p:sp>
      <p:sp>
        <p:nvSpPr>
          <p:cNvPr id="23" name="Text 21"/>
          <p:cNvSpPr/>
          <p:nvPr/>
        </p:nvSpPr>
        <p:spPr>
          <a:xfrm>
            <a:off x="1812171" y="5129331"/>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Scope of the Project</a:t>
            </a:r>
            <a:endParaRPr lang="en-US" sz="1100" dirty="0">
              <a:latin typeface="Nunito Sans" pitchFamily="2" charset="0"/>
            </a:endParaRPr>
          </a:p>
        </p:txBody>
      </p:sp>
      <p:sp>
        <p:nvSpPr>
          <p:cNvPr id="24" name="Shape 22"/>
          <p:cNvSpPr/>
          <p:nvPr/>
        </p:nvSpPr>
        <p:spPr>
          <a:xfrm>
            <a:off x="1229955" y="5794534"/>
            <a:ext cx="4227121" cy="680442"/>
          </a:xfrm>
          <a:prstGeom prst="roundRect">
            <a:avLst>
              <a:gd name="adj" fmla="val 15001"/>
            </a:avLst>
          </a:prstGeom>
          <a:solidFill>
            <a:srgbClr val="E5F9FF">
              <a:alpha val="95000"/>
            </a:srgbClr>
          </a:solidFill>
          <a:ln w="15240">
            <a:solidFill>
              <a:srgbClr val="429A92"/>
            </a:solidFill>
            <a:prstDash val="solid"/>
          </a:ln>
        </p:spPr>
        <p:txBody>
          <a:bodyPr/>
          <a:lstStyle/>
          <a:p>
            <a:endParaRPr lang="en-US">
              <a:latin typeface="Nunito Sans" pitchFamily="2" charset="0"/>
            </a:endParaRPr>
          </a:p>
        </p:txBody>
      </p:sp>
      <p:sp>
        <p:nvSpPr>
          <p:cNvPr id="25" name="Shape 23"/>
          <p:cNvSpPr/>
          <p:nvPr/>
        </p:nvSpPr>
        <p:spPr>
          <a:xfrm>
            <a:off x="1245195" y="5809774"/>
            <a:ext cx="453628" cy="649962"/>
          </a:xfrm>
          <a:prstGeom prst="roundRect">
            <a:avLst>
              <a:gd name="adj" fmla="val 18470"/>
            </a:avLst>
          </a:prstGeom>
          <a:solidFill>
            <a:srgbClr val="429A92"/>
          </a:solidFill>
          <a:ln/>
        </p:spPr>
        <p:txBody>
          <a:bodyPr/>
          <a:lstStyle/>
          <a:p>
            <a:endParaRPr lang="en-US">
              <a:latin typeface="Nunito Sans" pitchFamily="2" charset="0"/>
            </a:endParaRPr>
          </a:p>
        </p:txBody>
      </p:sp>
      <p:sp>
        <p:nvSpPr>
          <p:cNvPr id="26" name="Text 24"/>
          <p:cNvSpPr/>
          <p:nvPr/>
        </p:nvSpPr>
        <p:spPr>
          <a:xfrm>
            <a:off x="1383189" y="6028372"/>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FFFFFF"/>
                </a:solidFill>
                <a:latin typeface="Nunito Sans" pitchFamily="2" charset="0"/>
                <a:ea typeface="Nunito Sans Bold" pitchFamily="34" charset="-122"/>
                <a:cs typeface="Nunito Sans Bold" pitchFamily="34" charset="-120"/>
              </a:rPr>
              <a:t>6</a:t>
            </a:r>
            <a:endParaRPr lang="en-US" sz="1300" dirty="0">
              <a:latin typeface="Nunito Sans" pitchFamily="2" charset="0"/>
            </a:endParaRPr>
          </a:p>
        </p:txBody>
      </p:sp>
      <p:sp>
        <p:nvSpPr>
          <p:cNvPr id="27" name="Text 25"/>
          <p:cNvSpPr/>
          <p:nvPr/>
        </p:nvSpPr>
        <p:spPr>
          <a:xfrm>
            <a:off x="1812171" y="5923121"/>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Literature Review</a:t>
            </a:r>
            <a:endParaRPr lang="en-US" sz="1100" dirty="0">
              <a:latin typeface="Nunito Sans" pitchFamily="2" charset="0"/>
            </a:endParaRPr>
          </a:p>
        </p:txBody>
      </p:sp>
      <p:sp>
        <p:nvSpPr>
          <p:cNvPr id="28" name="Shape 26"/>
          <p:cNvSpPr/>
          <p:nvPr/>
        </p:nvSpPr>
        <p:spPr>
          <a:xfrm>
            <a:off x="6487755" y="1840825"/>
            <a:ext cx="4227121" cy="680442"/>
          </a:xfrm>
          <a:prstGeom prst="roundRect">
            <a:avLst>
              <a:gd name="adj" fmla="val 15001"/>
            </a:avLst>
          </a:prstGeom>
          <a:solidFill>
            <a:srgbClr val="E5F9FF">
              <a:alpha val="95000"/>
            </a:srgbClr>
          </a:solidFill>
          <a:ln w="15240">
            <a:solidFill>
              <a:srgbClr val="A4ECF9"/>
            </a:solidFill>
            <a:prstDash val="solid"/>
          </a:ln>
        </p:spPr>
        <p:txBody>
          <a:bodyPr/>
          <a:lstStyle/>
          <a:p>
            <a:endParaRPr lang="en-US">
              <a:latin typeface="Nunito Sans" pitchFamily="2" charset="0"/>
            </a:endParaRPr>
          </a:p>
        </p:txBody>
      </p:sp>
      <p:sp>
        <p:nvSpPr>
          <p:cNvPr id="29" name="Shape 27"/>
          <p:cNvSpPr/>
          <p:nvPr/>
        </p:nvSpPr>
        <p:spPr>
          <a:xfrm>
            <a:off x="6502995" y="1856065"/>
            <a:ext cx="453628" cy="649962"/>
          </a:xfrm>
          <a:prstGeom prst="roundRect">
            <a:avLst>
              <a:gd name="adj" fmla="val 18470"/>
            </a:avLst>
          </a:prstGeom>
          <a:solidFill>
            <a:srgbClr val="A4ECF9"/>
          </a:solidFill>
          <a:ln/>
        </p:spPr>
        <p:txBody>
          <a:bodyPr/>
          <a:lstStyle/>
          <a:p>
            <a:endParaRPr lang="en-US">
              <a:latin typeface="Nunito Sans" pitchFamily="2" charset="0"/>
            </a:endParaRPr>
          </a:p>
        </p:txBody>
      </p:sp>
      <p:sp>
        <p:nvSpPr>
          <p:cNvPr id="30" name="Text 28"/>
          <p:cNvSpPr/>
          <p:nvPr/>
        </p:nvSpPr>
        <p:spPr>
          <a:xfrm>
            <a:off x="6640989" y="207466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7</a:t>
            </a:r>
            <a:endParaRPr lang="en-US" sz="1300" dirty="0">
              <a:latin typeface="Nunito Sans" pitchFamily="2" charset="0"/>
            </a:endParaRPr>
          </a:p>
        </p:txBody>
      </p:sp>
      <p:sp>
        <p:nvSpPr>
          <p:cNvPr id="31" name="Text 29"/>
          <p:cNvSpPr/>
          <p:nvPr/>
        </p:nvSpPr>
        <p:spPr>
          <a:xfrm>
            <a:off x="7069971" y="196941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Methodology</a:t>
            </a:r>
            <a:endParaRPr lang="en-US" sz="1100" dirty="0">
              <a:latin typeface="Nunito Sans" pitchFamily="2" charset="0"/>
            </a:endParaRPr>
          </a:p>
        </p:txBody>
      </p:sp>
      <p:sp>
        <p:nvSpPr>
          <p:cNvPr id="32" name="Shape 30"/>
          <p:cNvSpPr/>
          <p:nvPr/>
        </p:nvSpPr>
        <p:spPr>
          <a:xfrm>
            <a:off x="6487755" y="2634615"/>
            <a:ext cx="4227121" cy="680442"/>
          </a:xfrm>
          <a:prstGeom prst="roundRect">
            <a:avLst>
              <a:gd name="adj" fmla="val 15001"/>
            </a:avLst>
          </a:prstGeom>
          <a:solidFill>
            <a:srgbClr val="E5F9FF">
              <a:alpha val="95000"/>
            </a:srgbClr>
          </a:solidFill>
          <a:ln w="15240">
            <a:solidFill>
              <a:srgbClr val="F9A7A7"/>
            </a:solidFill>
            <a:prstDash val="solid"/>
          </a:ln>
        </p:spPr>
        <p:txBody>
          <a:bodyPr/>
          <a:lstStyle/>
          <a:p>
            <a:endParaRPr lang="en-US">
              <a:latin typeface="Nunito Sans" pitchFamily="2" charset="0"/>
            </a:endParaRPr>
          </a:p>
        </p:txBody>
      </p:sp>
      <p:sp>
        <p:nvSpPr>
          <p:cNvPr id="33" name="Shape 31"/>
          <p:cNvSpPr/>
          <p:nvPr/>
        </p:nvSpPr>
        <p:spPr>
          <a:xfrm>
            <a:off x="6502995" y="2649855"/>
            <a:ext cx="453628" cy="649962"/>
          </a:xfrm>
          <a:prstGeom prst="roundRect">
            <a:avLst>
              <a:gd name="adj" fmla="val 18470"/>
            </a:avLst>
          </a:prstGeom>
          <a:solidFill>
            <a:srgbClr val="F9A7A7"/>
          </a:solidFill>
          <a:ln/>
        </p:spPr>
        <p:txBody>
          <a:bodyPr/>
          <a:lstStyle/>
          <a:p>
            <a:endParaRPr lang="en-US">
              <a:latin typeface="Nunito Sans" pitchFamily="2" charset="0"/>
            </a:endParaRPr>
          </a:p>
        </p:txBody>
      </p:sp>
      <p:sp>
        <p:nvSpPr>
          <p:cNvPr id="34" name="Text 32"/>
          <p:cNvSpPr/>
          <p:nvPr/>
        </p:nvSpPr>
        <p:spPr>
          <a:xfrm>
            <a:off x="6640989" y="286845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8</a:t>
            </a:r>
            <a:endParaRPr lang="en-US" sz="1300" dirty="0">
              <a:latin typeface="Nunito Sans" pitchFamily="2" charset="0"/>
            </a:endParaRPr>
          </a:p>
        </p:txBody>
      </p:sp>
      <p:sp>
        <p:nvSpPr>
          <p:cNvPr id="35" name="Text 33"/>
          <p:cNvSpPr/>
          <p:nvPr/>
        </p:nvSpPr>
        <p:spPr>
          <a:xfrm>
            <a:off x="7069971" y="276320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Tools and Equipment</a:t>
            </a:r>
            <a:endParaRPr lang="en-US" sz="1100" dirty="0">
              <a:latin typeface="Nunito Sans" pitchFamily="2" charset="0"/>
            </a:endParaRPr>
          </a:p>
        </p:txBody>
      </p:sp>
      <p:sp>
        <p:nvSpPr>
          <p:cNvPr id="36" name="Shape 34"/>
          <p:cNvSpPr/>
          <p:nvPr/>
        </p:nvSpPr>
        <p:spPr>
          <a:xfrm>
            <a:off x="6487755" y="3428405"/>
            <a:ext cx="4227121" cy="680442"/>
          </a:xfrm>
          <a:prstGeom prst="roundRect">
            <a:avLst>
              <a:gd name="adj" fmla="val 15001"/>
            </a:avLst>
          </a:prstGeom>
          <a:solidFill>
            <a:srgbClr val="E5F9FF">
              <a:alpha val="95000"/>
            </a:srgbClr>
          </a:solidFill>
          <a:ln w="15240">
            <a:solidFill>
              <a:srgbClr val="F1E79A"/>
            </a:solidFill>
            <a:prstDash val="solid"/>
          </a:ln>
        </p:spPr>
        <p:txBody>
          <a:bodyPr/>
          <a:lstStyle/>
          <a:p>
            <a:endParaRPr lang="en-US">
              <a:latin typeface="Nunito Sans" pitchFamily="2" charset="0"/>
            </a:endParaRPr>
          </a:p>
        </p:txBody>
      </p:sp>
      <p:sp>
        <p:nvSpPr>
          <p:cNvPr id="37" name="Shape 35"/>
          <p:cNvSpPr/>
          <p:nvPr/>
        </p:nvSpPr>
        <p:spPr>
          <a:xfrm>
            <a:off x="6502995" y="3443645"/>
            <a:ext cx="453628" cy="649962"/>
          </a:xfrm>
          <a:prstGeom prst="roundRect">
            <a:avLst>
              <a:gd name="adj" fmla="val 18470"/>
            </a:avLst>
          </a:prstGeom>
          <a:solidFill>
            <a:srgbClr val="F1E79A"/>
          </a:solidFill>
          <a:ln/>
        </p:spPr>
        <p:txBody>
          <a:bodyPr/>
          <a:lstStyle/>
          <a:p>
            <a:endParaRPr lang="en-US">
              <a:latin typeface="Nunito Sans" pitchFamily="2" charset="0"/>
            </a:endParaRPr>
          </a:p>
        </p:txBody>
      </p:sp>
      <p:sp>
        <p:nvSpPr>
          <p:cNvPr id="38" name="Text 36"/>
          <p:cNvSpPr/>
          <p:nvPr/>
        </p:nvSpPr>
        <p:spPr>
          <a:xfrm>
            <a:off x="6640989" y="366224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9</a:t>
            </a:r>
            <a:endParaRPr lang="en-US" sz="1300" dirty="0">
              <a:latin typeface="Nunito Sans" pitchFamily="2" charset="0"/>
            </a:endParaRPr>
          </a:p>
        </p:txBody>
      </p:sp>
      <p:sp>
        <p:nvSpPr>
          <p:cNvPr id="39" name="Text 37"/>
          <p:cNvSpPr/>
          <p:nvPr/>
        </p:nvSpPr>
        <p:spPr>
          <a:xfrm>
            <a:off x="7069971" y="355699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Project Timeline</a:t>
            </a:r>
            <a:endParaRPr lang="en-US" sz="1100" dirty="0">
              <a:latin typeface="Nunito Sans" pitchFamily="2" charset="0"/>
            </a:endParaRPr>
          </a:p>
        </p:txBody>
      </p:sp>
      <p:sp>
        <p:nvSpPr>
          <p:cNvPr id="40" name="Shape 38"/>
          <p:cNvSpPr/>
          <p:nvPr/>
        </p:nvSpPr>
        <p:spPr>
          <a:xfrm>
            <a:off x="6487755" y="4327445"/>
            <a:ext cx="4227121" cy="680442"/>
          </a:xfrm>
          <a:prstGeom prst="roundRect">
            <a:avLst>
              <a:gd name="adj" fmla="val 15001"/>
            </a:avLst>
          </a:prstGeom>
          <a:solidFill>
            <a:srgbClr val="E5F9FF">
              <a:alpha val="95000"/>
            </a:srgbClr>
          </a:solidFill>
          <a:ln w="15240">
            <a:solidFill>
              <a:srgbClr val="429A92"/>
            </a:solidFill>
            <a:prstDash val="solid"/>
          </a:ln>
        </p:spPr>
        <p:txBody>
          <a:bodyPr/>
          <a:lstStyle/>
          <a:p>
            <a:endParaRPr lang="en-US">
              <a:latin typeface="Nunito Sans" pitchFamily="2" charset="0"/>
            </a:endParaRPr>
          </a:p>
        </p:txBody>
      </p:sp>
      <p:sp>
        <p:nvSpPr>
          <p:cNvPr id="41" name="Shape 39"/>
          <p:cNvSpPr/>
          <p:nvPr/>
        </p:nvSpPr>
        <p:spPr>
          <a:xfrm>
            <a:off x="6502995" y="4342685"/>
            <a:ext cx="453628" cy="649962"/>
          </a:xfrm>
          <a:prstGeom prst="roundRect">
            <a:avLst>
              <a:gd name="adj" fmla="val 18470"/>
            </a:avLst>
          </a:prstGeom>
          <a:solidFill>
            <a:srgbClr val="429A92"/>
          </a:solidFill>
          <a:ln/>
        </p:spPr>
        <p:txBody>
          <a:bodyPr/>
          <a:lstStyle/>
          <a:p>
            <a:endParaRPr lang="en-US">
              <a:latin typeface="Nunito Sans" pitchFamily="2" charset="0"/>
            </a:endParaRPr>
          </a:p>
        </p:txBody>
      </p:sp>
      <p:sp>
        <p:nvSpPr>
          <p:cNvPr id="42" name="Text 40"/>
          <p:cNvSpPr/>
          <p:nvPr/>
        </p:nvSpPr>
        <p:spPr>
          <a:xfrm>
            <a:off x="6640989" y="456128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FFFFFF"/>
                </a:solidFill>
                <a:latin typeface="Nunito Sans" pitchFamily="2" charset="0"/>
                <a:ea typeface="Nunito Sans Bold" pitchFamily="34" charset="-122"/>
                <a:cs typeface="Nunito Sans Bold" pitchFamily="34" charset="-120"/>
              </a:rPr>
              <a:t>10</a:t>
            </a:r>
            <a:endParaRPr lang="en-US" sz="1300" dirty="0">
              <a:latin typeface="Nunito Sans" pitchFamily="2" charset="0"/>
            </a:endParaRPr>
          </a:p>
        </p:txBody>
      </p:sp>
      <p:sp>
        <p:nvSpPr>
          <p:cNvPr id="43" name="Text 41"/>
          <p:cNvSpPr/>
          <p:nvPr/>
        </p:nvSpPr>
        <p:spPr>
          <a:xfrm>
            <a:off x="7069971" y="445603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Significance</a:t>
            </a:r>
            <a:endParaRPr lang="en-US" sz="1100" dirty="0">
              <a:latin typeface="Nunito Sans" pitchFamily="2" charset="0"/>
            </a:endParaRPr>
          </a:p>
        </p:txBody>
      </p:sp>
      <p:sp>
        <p:nvSpPr>
          <p:cNvPr id="44" name="Shape 42"/>
          <p:cNvSpPr/>
          <p:nvPr/>
        </p:nvSpPr>
        <p:spPr>
          <a:xfrm>
            <a:off x="6487755" y="5121235"/>
            <a:ext cx="4227121" cy="680442"/>
          </a:xfrm>
          <a:prstGeom prst="roundRect">
            <a:avLst>
              <a:gd name="adj" fmla="val 15001"/>
            </a:avLst>
          </a:prstGeom>
          <a:solidFill>
            <a:srgbClr val="E5F9FF">
              <a:alpha val="95000"/>
            </a:srgbClr>
          </a:solidFill>
          <a:ln w="15240">
            <a:solidFill>
              <a:srgbClr val="A4ECF9"/>
            </a:solidFill>
            <a:prstDash val="solid"/>
          </a:ln>
        </p:spPr>
        <p:txBody>
          <a:bodyPr/>
          <a:lstStyle/>
          <a:p>
            <a:endParaRPr lang="en-US">
              <a:latin typeface="Nunito Sans" pitchFamily="2" charset="0"/>
            </a:endParaRPr>
          </a:p>
        </p:txBody>
      </p:sp>
      <p:sp>
        <p:nvSpPr>
          <p:cNvPr id="45" name="Shape 43"/>
          <p:cNvSpPr/>
          <p:nvPr/>
        </p:nvSpPr>
        <p:spPr>
          <a:xfrm>
            <a:off x="6502995" y="5136475"/>
            <a:ext cx="453628" cy="649962"/>
          </a:xfrm>
          <a:prstGeom prst="roundRect">
            <a:avLst>
              <a:gd name="adj" fmla="val 18470"/>
            </a:avLst>
          </a:prstGeom>
          <a:solidFill>
            <a:srgbClr val="A4ECF9"/>
          </a:solidFill>
          <a:ln/>
        </p:spPr>
        <p:txBody>
          <a:bodyPr/>
          <a:lstStyle/>
          <a:p>
            <a:endParaRPr lang="en-US">
              <a:latin typeface="Nunito Sans" pitchFamily="2" charset="0"/>
            </a:endParaRPr>
          </a:p>
        </p:txBody>
      </p:sp>
      <p:sp>
        <p:nvSpPr>
          <p:cNvPr id="46" name="Text 44"/>
          <p:cNvSpPr/>
          <p:nvPr/>
        </p:nvSpPr>
        <p:spPr>
          <a:xfrm>
            <a:off x="6640989" y="535507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11</a:t>
            </a:r>
            <a:endParaRPr lang="en-US" sz="1300" dirty="0">
              <a:latin typeface="Nunito Sans" pitchFamily="2" charset="0"/>
            </a:endParaRPr>
          </a:p>
        </p:txBody>
      </p:sp>
      <p:sp>
        <p:nvSpPr>
          <p:cNvPr id="47" name="Text 45"/>
          <p:cNvSpPr/>
          <p:nvPr/>
        </p:nvSpPr>
        <p:spPr>
          <a:xfrm>
            <a:off x="7069971" y="524982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Conclusion</a:t>
            </a:r>
            <a:endParaRPr lang="en-US" sz="1100" dirty="0">
              <a:latin typeface="Nunito Sans" pitchFamily="2" charset="0"/>
            </a:endParaRPr>
          </a:p>
        </p:txBody>
      </p:sp>
      <p:sp>
        <p:nvSpPr>
          <p:cNvPr id="48" name="Shape 46"/>
          <p:cNvSpPr/>
          <p:nvPr/>
        </p:nvSpPr>
        <p:spPr>
          <a:xfrm>
            <a:off x="6487755" y="5915025"/>
            <a:ext cx="4227121" cy="680442"/>
          </a:xfrm>
          <a:prstGeom prst="roundRect">
            <a:avLst>
              <a:gd name="adj" fmla="val 15001"/>
            </a:avLst>
          </a:prstGeom>
          <a:solidFill>
            <a:srgbClr val="E5F9FF">
              <a:alpha val="95000"/>
            </a:srgbClr>
          </a:solidFill>
          <a:ln w="15240">
            <a:solidFill>
              <a:srgbClr val="F9A7A7"/>
            </a:solidFill>
            <a:prstDash val="solid"/>
          </a:ln>
        </p:spPr>
        <p:txBody>
          <a:bodyPr/>
          <a:lstStyle/>
          <a:p>
            <a:endParaRPr lang="en-US">
              <a:latin typeface="Nunito Sans" pitchFamily="2" charset="0"/>
            </a:endParaRPr>
          </a:p>
        </p:txBody>
      </p:sp>
      <p:sp>
        <p:nvSpPr>
          <p:cNvPr id="49" name="Shape 47"/>
          <p:cNvSpPr/>
          <p:nvPr/>
        </p:nvSpPr>
        <p:spPr>
          <a:xfrm>
            <a:off x="6502995" y="5930265"/>
            <a:ext cx="453628" cy="649962"/>
          </a:xfrm>
          <a:prstGeom prst="roundRect">
            <a:avLst>
              <a:gd name="adj" fmla="val 18470"/>
            </a:avLst>
          </a:prstGeom>
          <a:solidFill>
            <a:srgbClr val="F9A7A7"/>
          </a:solidFill>
          <a:ln/>
        </p:spPr>
        <p:txBody>
          <a:bodyPr/>
          <a:lstStyle/>
          <a:p>
            <a:endParaRPr lang="en-US">
              <a:latin typeface="Nunito Sans" pitchFamily="2" charset="0"/>
            </a:endParaRPr>
          </a:p>
        </p:txBody>
      </p:sp>
      <p:sp>
        <p:nvSpPr>
          <p:cNvPr id="50" name="Text 48"/>
          <p:cNvSpPr/>
          <p:nvPr/>
        </p:nvSpPr>
        <p:spPr>
          <a:xfrm>
            <a:off x="6640989" y="614886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12</a:t>
            </a:r>
            <a:endParaRPr lang="en-US" sz="1300" dirty="0">
              <a:latin typeface="Nunito Sans" pitchFamily="2" charset="0"/>
            </a:endParaRPr>
          </a:p>
        </p:txBody>
      </p:sp>
      <p:sp>
        <p:nvSpPr>
          <p:cNvPr id="51" name="Text 49"/>
          <p:cNvSpPr/>
          <p:nvPr/>
        </p:nvSpPr>
        <p:spPr>
          <a:xfrm>
            <a:off x="7069971" y="604361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References</a:t>
            </a:r>
            <a:endParaRPr lang="en-US" sz="1100" dirty="0">
              <a:latin typeface="Nunito Sans" pitchFamily="2" charset="0"/>
            </a:endParaRPr>
          </a:p>
        </p:txBody>
      </p:sp>
    </p:spTree>
    <p:extLst>
      <p:ext uri="{BB962C8B-B14F-4D97-AF65-F5344CB8AC3E}">
        <p14:creationId xmlns:p14="http://schemas.microsoft.com/office/powerpoint/2010/main" val="2462378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52D1FE-D155-6048-E3EE-96CAE280551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6D860F9-26A5-9FF2-96C3-F5EAC8422452}"/>
              </a:ext>
            </a:extLst>
          </p:cNvPr>
          <p:cNvPicPr>
            <a:picLocks noChangeAspect="1"/>
          </p:cNvPicPr>
          <p:nvPr/>
        </p:nvPicPr>
        <p:blipFill>
          <a:blip r:embed="rId3"/>
          <a:stretch>
            <a:fillRect/>
          </a:stretch>
        </p:blipFill>
        <p:spPr>
          <a:xfrm>
            <a:off x="0" y="0"/>
            <a:ext cx="5760720" cy="8229600"/>
          </a:xfrm>
          <a:prstGeom prst="rect">
            <a:avLst/>
          </a:prstGeom>
        </p:spPr>
      </p:pic>
      <p:sp>
        <p:nvSpPr>
          <p:cNvPr id="3" name="Text 0">
            <a:extLst>
              <a:ext uri="{FF2B5EF4-FFF2-40B4-BE49-F238E27FC236}">
                <a16:creationId xmlns:a16="http://schemas.microsoft.com/office/drawing/2014/main" id="{F4A70D85-63FE-51E5-0C42-3CC4012339EB}"/>
              </a:ext>
            </a:extLst>
          </p:cNvPr>
          <p:cNvSpPr/>
          <p:nvPr/>
        </p:nvSpPr>
        <p:spPr>
          <a:xfrm>
            <a:off x="6280190" y="467360"/>
            <a:ext cx="7556421" cy="904240"/>
          </a:xfrm>
          <a:prstGeom prst="rect">
            <a:avLst/>
          </a:prstGeom>
          <a:noFill/>
          <a:ln/>
        </p:spPr>
        <p:txBody>
          <a:bodyPr wrap="squar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Background</a:t>
            </a:r>
            <a:endParaRPr lang="en-US" sz="4450" b="1" dirty="0">
              <a:latin typeface="Nunito Sans" pitchFamily="2" charset="0"/>
            </a:endParaRPr>
          </a:p>
        </p:txBody>
      </p:sp>
      <p:sp>
        <p:nvSpPr>
          <p:cNvPr id="6" name="Text 3">
            <a:extLst>
              <a:ext uri="{FF2B5EF4-FFF2-40B4-BE49-F238E27FC236}">
                <a16:creationId xmlns:a16="http://schemas.microsoft.com/office/drawing/2014/main" id="{6FA00834-F975-1A1E-524C-7B559E09611F}"/>
              </a:ext>
            </a:extLst>
          </p:cNvPr>
          <p:cNvSpPr/>
          <p:nvPr/>
        </p:nvSpPr>
        <p:spPr>
          <a:xfrm>
            <a:off x="6280190" y="1596391"/>
            <a:ext cx="7587594" cy="6033769"/>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dirty="0"/>
              <a:t>UCC reports that network subscriptions reached </a:t>
            </a:r>
            <a:r>
              <a:rPr lang="en-US" b="1" dirty="0"/>
              <a:t>33.2 million </a:t>
            </a:r>
            <a:r>
              <a:rPr lang="en-US" dirty="0"/>
              <a:t>by the end of 2022, and mobile data traffic doubled from 217 million GB in 2020 to 421.5 million GB in 2022 showing an exponential growth in network service demand. [1]</a:t>
            </a:r>
          </a:p>
          <a:p>
            <a:pPr>
              <a:lnSpc>
                <a:spcPts val="2850"/>
              </a:lnSpc>
            </a:pPr>
            <a:endParaRPr lang="en-US" dirty="0"/>
          </a:p>
          <a:p>
            <a:pPr marL="285750" indent="-285750">
              <a:lnSpc>
                <a:spcPts val="2850"/>
              </a:lnSpc>
              <a:buFont typeface="Arial" panose="020B0604020202020204" pitchFamily="34" charset="0"/>
              <a:buChar char="•"/>
            </a:pPr>
            <a:r>
              <a:rPr lang="en-US" dirty="0"/>
              <a:t>Unfortunately, network expansion is failing to keep pace with this demand; only 31% of the population and 24% of the landmass have 4G coverage and 62% of the population (30 million people) still lacks mobile internet access, and live in low SNR, high-interference environments where the signal is weak (below -90 dBm), the noise becomes louder than the message, making it impossible for standard tools to understand what is being sent[3][4]</a:t>
            </a:r>
          </a:p>
          <a:p>
            <a:pPr>
              <a:lnSpc>
                <a:spcPts val="2850"/>
              </a:lnSpc>
            </a:pPr>
            <a:endParaRPr lang="en-US" dirty="0"/>
          </a:p>
          <a:p>
            <a:pPr marL="285750" indent="-285750">
              <a:lnSpc>
                <a:spcPts val="2850"/>
              </a:lnSpc>
              <a:buFont typeface="Arial" panose="020B0604020202020204" pitchFamily="34" charset="0"/>
              <a:buChar char="•"/>
            </a:pPr>
            <a:r>
              <a:rPr lang="en-US" dirty="0"/>
              <a:t>Many people in rural Uganda still use basic phones for calls and Mobile Money, but the signal is often very weak and are being blocked or "noised up" by illegal boosters, unlicensed community radios (</a:t>
            </a:r>
            <a:r>
              <a:rPr lang="en-US" dirty="0" err="1"/>
              <a:t>Bizindaalo</a:t>
            </a:r>
            <a:r>
              <a:rPr lang="en-US" dirty="0"/>
              <a:t>), and heavy tropical rain.</a:t>
            </a:r>
          </a:p>
        </p:txBody>
      </p:sp>
    </p:spTree>
    <p:extLst>
      <p:ext uri="{BB962C8B-B14F-4D97-AF65-F5344CB8AC3E}">
        <p14:creationId xmlns:p14="http://schemas.microsoft.com/office/powerpoint/2010/main" val="2398515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541852" y="425768"/>
            <a:ext cx="5787827" cy="715923"/>
          </a:xfrm>
          <a:prstGeom prst="rect">
            <a:avLst/>
          </a:prstGeom>
          <a:noFill/>
          <a:ln/>
        </p:spPr>
        <p:txBody>
          <a:bodyPr wrap="none" lIns="0" tIns="0" rIns="0" bIns="0" rtlCol="0" anchor="t"/>
          <a:lstStyle/>
          <a:p>
            <a:pPr marL="0" indent="0" algn="l">
              <a:lnSpc>
                <a:spcPts val="3800"/>
              </a:lnSpc>
              <a:buNone/>
            </a:pPr>
            <a:r>
              <a:rPr lang="en-US" sz="3600" b="1" dirty="0">
                <a:solidFill>
                  <a:srgbClr val="006A60"/>
                </a:solidFill>
              </a:rPr>
              <a:t>Background continuation</a:t>
            </a:r>
          </a:p>
        </p:txBody>
      </p:sp>
      <p:pic>
        <p:nvPicPr>
          <p:cNvPr id="16" name="Image 0" descr="preencoded.png"/>
          <p:cNvPicPr>
            <a:picLocks noChangeAspect="1"/>
          </p:cNvPicPr>
          <p:nvPr/>
        </p:nvPicPr>
        <p:blipFill>
          <a:blip r:embed="rId3"/>
          <a:stretch>
            <a:fillRect/>
          </a:stretch>
        </p:blipFill>
        <p:spPr>
          <a:xfrm>
            <a:off x="7329859" y="914085"/>
            <a:ext cx="5613473" cy="5613473"/>
          </a:xfrm>
          <a:prstGeom prst="rect">
            <a:avLst/>
          </a:prstGeom>
        </p:spPr>
      </p:pic>
      <p:sp>
        <p:nvSpPr>
          <p:cNvPr id="17" name="Text 14"/>
          <p:cNvSpPr/>
          <p:nvPr/>
        </p:nvSpPr>
        <p:spPr>
          <a:xfrm>
            <a:off x="541853" y="8883372"/>
            <a:ext cx="13546693" cy="247650"/>
          </a:xfrm>
          <a:prstGeom prst="rect">
            <a:avLst/>
          </a:prstGeom>
          <a:noFill/>
          <a:ln/>
        </p:spPr>
        <p:txBody>
          <a:bodyPr wrap="none" lIns="0" tIns="0" rIns="0" bIns="0" rtlCol="0" anchor="t"/>
          <a:lstStyle/>
          <a:p>
            <a:pPr marL="0" indent="0" algn="l">
              <a:lnSpc>
                <a:spcPts val="1950"/>
              </a:lnSpc>
              <a:buNone/>
            </a:pPr>
            <a:endParaRPr lang="en-US" sz="1200" dirty="0"/>
          </a:p>
        </p:txBody>
      </p:sp>
      <p:sp>
        <p:nvSpPr>
          <p:cNvPr id="18" name="Text 3">
            <a:extLst>
              <a:ext uri="{FF2B5EF4-FFF2-40B4-BE49-F238E27FC236}">
                <a16:creationId xmlns:a16="http://schemas.microsoft.com/office/drawing/2014/main" id="{74BC1CB0-C677-43C6-D8AE-46F3F5329D4E}"/>
              </a:ext>
            </a:extLst>
          </p:cNvPr>
          <p:cNvSpPr/>
          <p:nvPr/>
        </p:nvSpPr>
        <p:spPr>
          <a:xfrm>
            <a:off x="417870" y="1383031"/>
            <a:ext cx="6399490" cy="6186169"/>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dirty="0"/>
              <a:t>Automatic Modulation Classification (AMC) is crucial for regulators to monitor the spectrum, manage interference, and identify illegal broadcasters that threaten critical services like aviation.</a:t>
            </a:r>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r>
              <a:rPr lang="en-US" dirty="0"/>
              <a:t>We propose using a Denoising Autoencoder (DAE) combined with an AMC system that takes a marginal signal (e.g., at -90 dBm or even lower) and actively cleans it up removing noise before trying to classify or demodulate it.</a:t>
            </a:r>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r>
              <a:rPr lang="en-US" dirty="0"/>
              <a:t>Instead of just trying to read a noisy signal, our system first cleans the signal to make it clear again making sure that even in the most remote sub-counties, the network can still identify and process signals correctly.</a:t>
            </a:r>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713423" y="561618"/>
            <a:ext cx="9008507" cy="636984"/>
          </a:xfrm>
          <a:prstGeom prst="rect">
            <a:avLst/>
          </a:prstGeom>
          <a:noFill/>
          <a:ln/>
        </p:spPr>
        <p:txBody>
          <a:bodyPr wrap="none" lIns="0" tIns="0" rIns="0" bIns="0" rtlCol="0" anchor="t"/>
          <a:lstStyle/>
          <a:p>
            <a:pPr marL="0" indent="0" algn="l">
              <a:lnSpc>
                <a:spcPts val="5000"/>
              </a:lnSpc>
              <a:buNone/>
            </a:pPr>
            <a:r>
              <a:rPr lang="en-US" sz="4000" b="1" dirty="0">
                <a:solidFill>
                  <a:srgbClr val="006A60"/>
                </a:solidFill>
                <a:latin typeface="Nunito Sans" pitchFamily="2" charset="0"/>
                <a:ea typeface="Nunito Sans Bold" pitchFamily="34" charset="-122"/>
                <a:cs typeface="Nunito Sans Bold" pitchFamily="34" charset="-120"/>
              </a:rPr>
              <a:t>Problem Statement</a:t>
            </a:r>
            <a:endParaRPr lang="en-US" sz="4000" dirty="0">
              <a:latin typeface="Nunito Sans" pitchFamily="2" charset="0"/>
            </a:endParaRPr>
          </a:p>
        </p:txBody>
      </p:sp>
      <p:sp>
        <p:nvSpPr>
          <p:cNvPr id="18" name="TextBox 17">
            <a:extLst>
              <a:ext uri="{FF2B5EF4-FFF2-40B4-BE49-F238E27FC236}">
                <a16:creationId xmlns:a16="http://schemas.microsoft.com/office/drawing/2014/main" id="{14873B14-4DCF-4705-1296-A56993D59080}"/>
              </a:ext>
            </a:extLst>
          </p:cNvPr>
          <p:cNvSpPr txBox="1"/>
          <p:nvPr/>
        </p:nvSpPr>
        <p:spPr>
          <a:xfrm>
            <a:off x="713423" y="1857444"/>
            <a:ext cx="12921297" cy="369331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Many people in rural Uganda still use basic phones for calls and Mobile Money, but the signal is often very weak. When the signal is weak (below -90 dBm), the noise becomes louder than the message, making it impossible for standard tools to understand what is being sent</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Other signals are being blocked or noised up by illegal boosters, unlicensed community radios (</a:t>
            </a:r>
            <a:r>
              <a:rPr lang="en-US" dirty="0" err="1"/>
              <a:t>Bizindaalo</a:t>
            </a:r>
            <a:r>
              <a:rPr lang="en-US" dirty="0"/>
              <a:t>), and heavy tropical rain. The Uganda Communications Commission (UCC) finds it hard to catch illegal broadcasters because the current tools cannot  see through all this noise. This leads to dropped calls, failed Mobile Money transactions, and poor service for over 30 million Ugandans. Over 70% of call failures in some areas are due to this interference, yet we lack a smart way to clean the signal before processing it.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398758"/>
          </a:xfrm>
          <a:prstGeom prst="rect">
            <a:avLst/>
          </a:prstGeom>
        </p:spPr>
      </p:pic>
      <p:sp>
        <p:nvSpPr>
          <p:cNvPr id="3" name="Text 0"/>
          <p:cNvSpPr/>
          <p:nvPr/>
        </p:nvSpPr>
        <p:spPr>
          <a:xfrm>
            <a:off x="604123" y="3849529"/>
            <a:ext cx="4315897" cy="539472"/>
          </a:xfrm>
          <a:prstGeom prst="rect">
            <a:avLst/>
          </a:prstGeom>
          <a:noFill/>
          <a:ln/>
        </p:spPr>
        <p:txBody>
          <a:bodyPr wrap="none" lIns="0" tIns="0" rIns="0" bIns="0" rtlCol="0" anchor="t"/>
          <a:lstStyle/>
          <a:p>
            <a:pPr marL="0" indent="0" algn="l">
              <a:lnSpc>
                <a:spcPts val="4200"/>
              </a:lnSpc>
              <a:buNone/>
            </a:pPr>
            <a:r>
              <a:rPr lang="en-US" sz="3350" b="1" dirty="0">
                <a:solidFill>
                  <a:srgbClr val="006A60"/>
                </a:solidFill>
                <a:latin typeface="Nunito Sans" pitchFamily="2" charset="0"/>
                <a:ea typeface="Nunito Sans Bold" pitchFamily="34" charset="-122"/>
                <a:cs typeface="Nunito Sans Bold" pitchFamily="34" charset="-120"/>
              </a:rPr>
              <a:t>Main Objective</a:t>
            </a:r>
            <a:endParaRPr lang="en-US" sz="3350" dirty="0">
              <a:latin typeface="Nunito Sans" pitchFamily="2" charset="0"/>
            </a:endParaRPr>
          </a:p>
        </p:txBody>
      </p:sp>
      <p:sp>
        <p:nvSpPr>
          <p:cNvPr id="4" name="Text 1"/>
          <p:cNvSpPr/>
          <p:nvPr/>
        </p:nvSpPr>
        <p:spPr>
          <a:xfrm>
            <a:off x="604123" y="4647843"/>
            <a:ext cx="13422154" cy="2157889"/>
          </a:xfrm>
          <a:prstGeom prst="rect">
            <a:avLst/>
          </a:prstGeom>
          <a:noFill/>
          <a:ln/>
        </p:spPr>
        <p:txBody>
          <a:bodyPr wrap="square" lIns="0" tIns="0" rIns="0" bIns="0" rtlCol="0" anchor="t"/>
          <a:lstStyle/>
          <a:p>
            <a:pPr marL="0" indent="0" algn="l">
              <a:lnSpc>
                <a:spcPts val="8450"/>
              </a:lnSpc>
              <a:buNone/>
            </a:pPr>
            <a:r>
              <a:rPr lang="en-US" sz="6750" b="1" dirty="0">
                <a:solidFill>
                  <a:srgbClr val="006A60"/>
                </a:solidFill>
                <a:latin typeface="Nunito Sans" pitchFamily="2" charset="0"/>
                <a:ea typeface="Nunito Sans Bold" pitchFamily="34" charset="-122"/>
                <a:cs typeface="Nunito Sans Bold" pitchFamily="34" charset="-120"/>
              </a:rPr>
              <a:t>Design a Hybrid DAE–AMC Pipeline</a:t>
            </a:r>
            <a:endParaRPr lang="en-US" sz="6750" dirty="0">
              <a:latin typeface="Nunito Sans" pitchFamily="2" charset="0"/>
            </a:endParaRPr>
          </a:p>
        </p:txBody>
      </p:sp>
      <p:sp>
        <p:nvSpPr>
          <p:cNvPr id="5" name="Text 2"/>
          <p:cNvSpPr/>
          <p:nvPr/>
        </p:nvSpPr>
        <p:spPr>
          <a:xfrm>
            <a:off x="604123" y="7064573"/>
            <a:ext cx="13422154" cy="552450"/>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Nunito" pitchFamily="34" charset="0"/>
                <a:ea typeface="Nunito" pitchFamily="34" charset="-122"/>
                <a:cs typeface="Nunito" pitchFamily="34" charset="-120"/>
              </a:rPr>
              <a:t>To design, implement, and empirically evaluate a hybrid </a:t>
            </a:r>
            <a:r>
              <a:rPr lang="en-US" sz="1350" b="1" dirty="0">
                <a:solidFill>
                  <a:srgbClr val="272525"/>
                </a:solidFill>
                <a:latin typeface="Nunito" pitchFamily="34" charset="0"/>
                <a:ea typeface="Nunito" pitchFamily="34" charset="-122"/>
                <a:cs typeface="Nunito" pitchFamily="34" charset="-120"/>
              </a:rPr>
              <a:t>Denoising Autoencoder–Automatic Modulation Classification (DAE–AMC) pipeline</a:t>
            </a:r>
            <a:r>
              <a:rPr lang="en-US" sz="1350" dirty="0">
                <a:solidFill>
                  <a:srgbClr val="272525"/>
                </a:solidFill>
                <a:latin typeface="Nunito" pitchFamily="34" charset="0"/>
                <a:ea typeface="Nunito" pitchFamily="34" charset="-122"/>
                <a:cs typeface="Nunito" pitchFamily="34" charset="-120"/>
              </a:rPr>
              <a:t> that suppresses interference in noisy I/Q streams and maintains accurate modulation decisions across low SNR channel conditions observed in Ugandan networks.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793790" y="960239"/>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Specific Objectives</a:t>
            </a:r>
            <a:endParaRPr lang="en-US" sz="4450" dirty="0">
              <a:latin typeface="Nunito Sans" pitchFamily="2" charset="0"/>
            </a:endParaRPr>
          </a:p>
        </p:txBody>
      </p:sp>
      <p:sp>
        <p:nvSpPr>
          <p:cNvPr id="3" name="Text 1"/>
          <p:cNvSpPr/>
          <p:nvPr/>
        </p:nvSpPr>
        <p:spPr>
          <a:xfrm>
            <a:off x="793790" y="2122646"/>
            <a:ext cx="2114510"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Light" pitchFamily="34" charset="0"/>
                <a:ea typeface="Nunito Sans Light" pitchFamily="34" charset="-122"/>
                <a:cs typeface="Nunito Sans Light" pitchFamily="34" charset="-120"/>
              </a:rPr>
              <a:t>01 - </a:t>
            </a:r>
            <a:r>
              <a:rPr lang="en-US" sz="1750" dirty="0" err="1">
                <a:solidFill>
                  <a:srgbClr val="272525"/>
                </a:solidFill>
                <a:latin typeface="Nunito Sans Light" pitchFamily="34" charset="0"/>
                <a:ea typeface="Nunito Sans Light" pitchFamily="34" charset="-122"/>
                <a:cs typeface="Nunito Sans Light" pitchFamily="34" charset="-120"/>
              </a:rPr>
              <a:t>Reasearch</a:t>
            </a:r>
            <a:endParaRPr lang="en-US" sz="1750" dirty="0"/>
          </a:p>
        </p:txBody>
      </p:sp>
      <p:sp>
        <p:nvSpPr>
          <p:cNvPr id="4" name="Shape 2"/>
          <p:cNvSpPr/>
          <p:nvPr/>
        </p:nvSpPr>
        <p:spPr>
          <a:xfrm>
            <a:off x="793790" y="2477691"/>
            <a:ext cx="4196358" cy="30480"/>
          </a:xfrm>
          <a:prstGeom prst="rect">
            <a:avLst/>
          </a:prstGeom>
          <a:solidFill>
            <a:srgbClr val="F1E79A"/>
          </a:solidFill>
          <a:ln/>
        </p:spPr>
        <p:txBody>
          <a:bodyPr/>
          <a:lstStyle/>
          <a:p>
            <a:endParaRPr lang="en-US"/>
          </a:p>
        </p:txBody>
      </p:sp>
      <p:sp>
        <p:nvSpPr>
          <p:cNvPr id="6" name="Text 4"/>
          <p:cNvSpPr/>
          <p:nvPr/>
        </p:nvSpPr>
        <p:spPr>
          <a:xfrm>
            <a:off x="793790" y="2675057"/>
            <a:ext cx="4196358"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Review AMC and DAE literature emphasizing low SNR mitigation strategies relevant to Ugandan channel conditions.</a:t>
            </a:r>
            <a:endParaRPr lang="en-US" sz="1750" dirty="0"/>
          </a:p>
        </p:txBody>
      </p:sp>
      <p:sp>
        <p:nvSpPr>
          <p:cNvPr id="7" name="Text 5"/>
          <p:cNvSpPr/>
          <p:nvPr/>
        </p:nvSpPr>
        <p:spPr>
          <a:xfrm>
            <a:off x="5216962" y="2122646"/>
            <a:ext cx="3490158"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Light" pitchFamily="34" charset="0"/>
                <a:ea typeface="Nunito Sans Light" pitchFamily="34" charset="-122"/>
                <a:cs typeface="Nunito Sans Light" pitchFamily="34" charset="-120"/>
              </a:rPr>
              <a:t>02 – Design and Implementation</a:t>
            </a:r>
            <a:endParaRPr lang="en-US" sz="1750" dirty="0"/>
          </a:p>
        </p:txBody>
      </p:sp>
      <p:sp>
        <p:nvSpPr>
          <p:cNvPr id="8" name="Shape 6"/>
          <p:cNvSpPr/>
          <p:nvPr/>
        </p:nvSpPr>
        <p:spPr>
          <a:xfrm>
            <a:off x="5216962" y="2477691"/>
            <a:ext cx="4196358" cy="30480"/>
          </a:xfrm>
          <a:prstGeom prst="rect">
            <a:avLst/>
          </a:prstGeom>
          <a:solidFill>
            <a:srgbClr val="429A92"/>
          </a:solidFill>
          <a:ln/>
        </p:spPr>
        <p:txBody>
          <a:bodyPr/>
          <a:lstStyle/>
          <a:p>
            <a:endParaRPr lang="en-US"/>
          </a:p>
        </p:txBody>
      </p:sp>
      <p:sp>
        <p:nvSpPr>
          <p:cNvPr id="10" name="Text 8"/>
          <p:cNvSpPr/>
          <p:nvPr/>
        </p:nvSpPr>
        <p:spPr>
          <a:xfrm>
            <a:off x="5216962" y="2651998"/>
            <a:ext cx="4196358" cy="1942029"/>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Architect and train Conv1D DAE module reconstructing clean I/Q samples from noisy inputs at −90 dBm thresholds.</a:t>
            </a:r>
          </a:p>
          <a:p>
            <a:pPr>
              <a:lnSpc>
                <a:spcPts val="2850"/>
              </a:lnSpc>
            </a:pPr>
            <a:r>
              <a:rPr lang="en-US" sz="1750" dirty="0">
                <a:solidFill>
                  <a:srgbClr val="272525"/>
                </a:solidFill>
                <a:latin typeface="Nunito" pitchFamily="34" charset="0"/>
                <a:ea typeface="Nunito" pitchFamily="34" charset="-122"/>
                <a:cs typeface="Nunito" pitchFamily="34" charset="-120"/>
              </a:rPr>
              <a:t>Implement supervised AMC classifier ingesting raw and DAE-cleaned signals, quantifying feature preservation.</a:t>
            </a:r>
            <a:endParaRPr lang="en-US" sz="1750" dirty="0"/>
          </a:p>
          <a:p>
            <a:pPr marL="0" indent="0" algn="l">
              <a:lnSpc>
                <a:spcPts val="2850"/>
              </a:lnSpc>
              <a:buNone/>
            </a:pPr>
            <a:endParaRPr lang="en-US" sz="1750" dirty="0"/>
          </a:p>
        </p:txBody>
      </p:sp>
      <p:sp>
        <p:nvSpPr>
          <p:cNvPr id="11" name="Text 9"/>
          <p:cNvSpPr/>
          <p:nvPr/>
        </p:nvSpPr>
        <p:spPr>
          <a:xfrm>
            <a:off x="9640132" y="2122646"/>
            <a:ext cx="2997637"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Light" pitchFamily="34" charset="0"/>
                <a:ea typeface="Nunito Sans Light" pitchFamily="34" charset="-122"/>
                <a:cs typeface="Nunito Sans Light" pitchFamily="34" charset="-120"/>
              </a:rPr>
              <a:t>03 – Evaluation and Testing</a:t>
            </a:r>
            <a:endParaRPr lang="en-US" sz="1750" dirty="0"/>
          </a:p>
        </p:txBody>
      </p:sp>
      <p:sp>
        <p:nvSpPr>
          <p:cNvPr id="12" name="Shape 10"/>
          <p:cNvSpPr/>
          <p:nvPr/>
        </p:nvSpPr>
        <p:spPr>
          <a:xfrm>
            <a:off x="9640133" y="2477691"/>
            <a:ext cx="4196358" cy="30480"/>
          </a:xfrm>
          <a:prstGeom prst="rect">
            <a:avLst/>
          </a:prstGeom>
          <a:solidFill>
            <a:srgbClr val="A4ECF9"/>
          </a:solidFill>
          <a:ln/>
        </p:spPr>
        <p:txBody>
          <a:bodyPr/>
          <a:lstStyle/>
          <a:p>
            <a:endParaRPr lang="en-US"/>
          </a:p>
        </p:txBody>
      </p:sp>
      <p:sp>
        <p:nvSpPr>
          <p:cNvPr id="14" name="Text 12"/>
          <p:cNvSpPr/>
          <p:nvPr/>
        </p:nvSpPr>
        <p:spPr>
          <a:xfrm>
            <a:off x="9640133" y="3142417"/>
            <a:ext cx="4196358"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24" name="TextBox 23">
            <a:extLst>
              <a:ext uri="{FF2B5EF4-FFF2-40B4-BE49-F238E27FC236}">
                <a16:creationId xmlns:a16="http://schemas.microsoft.com/office/drawing/2014/main" id="{8B535A19-CA8A-08FD-A21C-8C1BCFE72DC8}"/>
              </a:ext>
            </a:extLst>
          </p:cNvPr>
          <p:cNvSpPr txBox="1"/>
          <p:nvPr/>
        </p:nvSpPr>
        <p:spPr>
          <a:xfrm>
            <a:off x="9640134" y="2618869"/>
            <a:ext cx="4196358" cy="1555939"/>
          </a:xfrm>
          <a:prstGeom prst="rect">
            <a:avLst/>
          </a:prstGeom>
          <a:noFill/>
        </p:spPr>
        <p:txBody>
          <a:bodyPr wrap="square">
            <a:spAutoFit/>
          </a:bodyPr>
          <a:lstStyle/>
          <a:p>
            <a:pPr marL="0" indent="0" algn="l">
              <a:lnSpc>
                <a:spcPts val="2850"/>
              </a:lnSpc>
              <a:buNone/>
            </a:pPr>
            <a:r>
              <a:rPr lang="en-US" sz="1800" dirty="0">
                <a:solidFill>
                  <a:srgbClr val="272525"/>
                </a:solidFill>
                <a:latin typeface="Nunito" pitchFamily="34" charset="0"/>
                <a:ea typeface="Nunito" pitchFamily="34" charset="-122"/>
                <a:cs typeface="Nunito" pitchFamily="34" charset="-120"/>
              </a:rPr>
              <a:t>Benchmark integrated DAE–AMC against standalone AMC using accuracy, F1-score, confusion matrices across various SNR.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93790" y="592812"/>
            <a:ext cx="7699970"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Justification and Significance</a:t>
            </a:r>
            <a:endParaRPr lang="en-US" sz="4450" dirty="0">
              <a:latin typeface="Nunito Sans" pitchFamily="2" charset="0"/>
            </a:endParaRPr>
          </a:p>
        </p:txBody>
      </p:sp>
      <p:sp>
        <p:nvSpPr>
          <p:cNvPr id="3" name="Text 1"/>
          <p:cNvSpPr/>
          <p:nvPr/>
        </p:nvSpPr>
        <p:spPr>
          <a:xfrm>
            <a:off x="690920" y="5131633"/>
            <a:ext cx="296668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Spectrum Surveillance</a:t>
            </a:r>
            <a:endParaRPr lang="en-US" sz="2200" dirty="0">
              <a:latin typeface="Nunito Sans" pitchFamily="2" charset="0"/>
            </a:endParaRPr>
          </a:p>
        </p:txBody>
      </p:sp>
      <p:sp>
        <p:nvSpPr>
          <p:cNvPr id="4" name="Text 2"/>
          <p:cNvSpPr/>
          <p:nvPr/>
        </p:nvSpPr>
        <p:spPr>
          <a:xfrm>
            <a:off x="690920" y="5622052"/>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It will help with the detection of illegal transmitters and interference mitigation for aviation and public-safety channels.</a:t>
            </a:r>
            <a:endParaRPr lang="en-US" sz="1750" dirty="0"/>
          </a:p>
        </p:txBody>
      </p:sp>
      <p:sp>
        <p:nvSpPr>
          <p:cNvPr id="5" name="Text 3"/>
          <p:cNvSpPr/>
          <p:nvPr/>
        </p:nvSpPr>
        <p:spPr>
          <a:xfrm>
            <a:off x="5133023" y="513163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Rural Broadband</a:t>
            </a:r>
            <a:endParaRPr lang="en-US" sz="2200" dirty="0">
              <a:latin typeface="Nunito Sans" pitchFamily="2" charset="0"/>
            </a:endParaRPr>
          </a:p>
        </p:txBody>
      </p:sp>
      <p:sp>
        <p:nvSpPr>
          <p:cNvPr id="6" name="Text 4"/>
          <p:cNvSpPr/>
          <p:nvPr/>
        </p:nvSpPr>
        <p:spPr>
          <a:xfrm>
            <a:off x="5133023" y="5622052"/>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It will help maintains reliable service in low-SNR environments, supporting 30M Ugandans lacking mobile internet access.</a:t>
            </a:r>
            <a:endParaRPr lang="en-US" sz="1750" dirty="0"/>
          </a:p>
        </p:txBody>
      </p:sp>
      <p:sp>
        <p:nvSpPr>
          <p:cNvPr id="7" name="Text 5"/>
          <p:cNvSpPr/>
          <p:nvPr/>
        </p:nvSpPr>
        <p:spPr>
          <a:xfrm>
            <a:off x="9575125" y="513163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Critical Services</a:t>
            </a:r>
            <a:endParaRPr lang="en-US" sz="2200" dirty="0">
              <a:latin typeface="Nunito Sans" pitchFamily="2" charset="0"/>
            </a:endParaRPr>
          </a:p>
        </p:txBody>
      </p:sp>
      <p:sp>
        <p:nvSpPr>
          <p:cNvPr id="8" name="Text 6"/>
          <p:cNvSpPr/>
          <p:nvPr/>
        </p:nvSpPr>
        <p:spPr>
          <a:xfrm>
            <a:off x="9575125" y="5622052"/>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Ensures stability for mobile money and e-government services dependent on reliable radio links.</a:t>
            </a:r>
            <a:endParaRPr lang="en-US" sz="1750" dirty="0"/>
          </a:p>
        </p:txBody>
      </p:sp>
      <p:sp>
        <p:nvSpPr>
          <p:cNvPr id="9" name="Shape 7"/>
          <p:cNvSpPr/>
          <p:nvPr/>
        </p:nvSpPr>
        <p:spPr>
          <a:xfrm>
            <a:off x="794623" y="1421409"/>
            <a:ext cx="13042821" cy="1376283"/>
          </a:xfrm>
          <a:prstGeom prst="roundRect">
            <a:avLst>
              <a:gd name="adj" fmla="val 12082"/>
            </a:avLst>
          </a:prstGeom>
          <a:solidFill>
            <a:srgbClr val="BDF2F5"/>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021437" y="1757879"/>
            <a:ext cx="283488" cy="226814"/>
          </a:xfrm>
          <a:prstGeom prst="rect">
            <a:avLst/>
          </a:prstGeom>
        </p:spPr>
      </p:pic>
      <p:sp>
        <p:nvSpPr>
          <p:cNvPr id="11" name="Text 8"/>
          <p:cNvSpPr/>
          <p:nvPr/>
        </p:nvSpPr>
        <p:spPr>
          <a:xfrm>
            <a:off x="1531739" y="1704897"/>
            <a:ext cx="12078891" cy="884791"/>
          </a:xfrm>
          <a:prstGeom prst="rect">
            <a:avLst/>
          </a:prstGeom>
          <a:noFill/>
          <a:ln/>
        </p:spPr>
        <p:txBody>
          <a:bodyPr wrap="square" lIns="0" tIns="0" rIns="0" bIns="0" rtlCol="0" anchor="t"/>
          <a:lstStyle/>
          <a:p>
            <a:pPr>
              <a:lnSpc>
                <a:spcPct val="150000"/>
              </a:lnSpc>
            </a:pPr>
            <a:r>
              <a:rPr lang="en-US" sz="1750" b="1" dirty="0">
                <a:solidFill>
                  <a:srgbClr val="000000"/>
                </a:solidFill>
                <a:latin typeface="Nunito" pitchFamily="34" charset="0"/>
                <a:ea typeface="Nunito" pitchFamily="34" charset="-122"/>
                <a:cs typeface="Nunito" pitchFamily="34" charset="-120"/>
              </a:rPr>
              <a:t>Meeting UCC Mandates:</a:t>
            </a:r>
            <a:r>
              <a:rPr lang="en-US" sz="1750" dirty="0">
                <a:solidFill>
                  <a:srgbClr val="000000"/>
                </a:solidFill>
                <a:latin typeface="Nunito" pitchFamily="34" charset="0"/>
                <a:ea typeface="Nunito" pitchFamily="34" charset="-122"/>
                <a:cs typeface="Nunito" pitchFamily="34" charset="-120"/>
              </a:rPr>
              <a:t> The DAE is explicitly trained on SNR conditions matching UCUSAF's −90 dBm coverage floor, addressing the "near-far" interference documented by UCC QoS audits rather than generic low-SNR scenario</a:t>
            </a:r>
            <a:endParaRPr lang="en-US" sz="1750" dirty="0">
              <a:latin typeface="Nunito Sans" pitchFamily="2" charset="0"/>
            </a:endParaRPr>
          </a:p>
        </p:txBody>
      </p:sp>
      <p:sp>
        <p:nvSpPr>
          <p:cNvPr id="14" name="Shape 7">
            <a:extLst>
              <a:ext uri="{FF2B5EF4-FFF2-40B4-BE49-F238E27FC236}">
                <a16:creationId xmlns:a16="http://schemas.microsoft.com/office/drawing/2014/main" id="{F87F15B8-B277-744C-5F62-CDB8F7B67213}"/>
              </a:ext>
            </a:extLst>
          </p:cNvPr>
          <p:cNvSpPr/>
          <p:nvPr/>
        </p:nvSpPr>
        <p:spPr>
          <a:xfrm>
            <a:off x="794623" y="3134162"/>
            <a:ext cx="13042821" cy="1533007"/>
          </a:xfrm>
          <a:prstGeom prst="roundRect">
            <a:avLst>
              <a:gd name="adj" fmla="val 12082"/>
            </a:avLst>
          </a:prstGeom>
          <a:solidFill>
            <a:srgbClr val="BDF2F5"/>
          </a:solidFill>
          <a:ln/>
        </p:spPr>
        <p:txBody>
          <a:bodyPr/>
          <a:lstStyle/>
          <a:p>
            <a:endParaRPr lang="en-US"/>
          </a:p>
        </p:txBody>
      </p:sp>
      <p:pic>
        <p:nvPicPr>
          <p:cNvPr id="15" name="Image 0" descr="preencoded.png">
            <a:extLst>
              <a:ext uri="{FF2B5EF4-FFF2-40B4-BE49-F238E27FC236}">
                <a16:creationId xmlns:a16="http://schemas.microsoft.com/office/drawing/2014/main" id="{80AB25F5-E2DD-FF90-DFCB-380EF56CA370}"/>
              </a:ext>
            </a:extLst>
          </p:cNvPr>
          <p:cNvPicPr>
            <a:picLocks noChangeAspect="1"/>
          </p:cNvPicPr>
          <p:nvPr/>
        </p:nvPicPr>
        <p:blipFill>
          <a:blip r:embed="rId3"/>
          <a:stretch>
            <a:fillRect/>
          </a:stretch>
        </p:blipFill>
        <p:spPr>
          <a:xfrm>
            <a:off x="1021437" y="3340380"/>
            <a:ext cx="283488" cy="226814"/>
          </a:xfrm>
          <a:prstGeom prst="rect">
            <a:avLst/>
          </a:prstGeom>
        </p:spPr>
      </p:pic>
      <p:sp>
        <p:nvSpPr>
          <p:cNvPr id="16" name="Text 8">
            <a:extLst>
              <a:ext uri="{FF2B5EF4-FFF2-40B4-BE49-F238E27FC236}">
                <a16:creationId xmlns:a16="http://schemas.microsoft.com/office/drawing/2014/main" id="{586EED81-C269-4EE0-A1F6-3C154B2E3881}"/>
              </a:ext>
            </a:extLst>
          </p:cNvPr>
          <p:cNvSpPr/>
          <p:nvPr/>
        </p:nvSpPr>
        <p:spPr>
          <a:xfrm>
            <a:off x="1531739" y="3287398"/>
            <a:ext cx="12078891" cy="845848"/>
          </a:xfrm>
          <a:prstGeom prst="rect">
            <a:avLst/>
          </a:prstGeom>
          <a:noFill/>
          <a:ln/>
        </p:spPr>
        <p:txBody>
          <a:bodyPr wrap="square" lIns="0" tIns="0" rIns="0" bIns="0" rtlCol="0" anchor="t"/>
          <a:lstStyle/>
          <a:p>
            <a:pPr>
              <a:lnSpc>
                <a:spcPct val="150000"/>
              </a:lnSpc>
            </a:pPr>
            <a:r>
              <a:rPr lang="en-US" sz="1750" b="1" dirty="0">
                <a:latin typeface="Nunito Sans" pitchFamily="2" charset="0"/>
              </a:rPr>
              <a:t>It Aligns with National Policy:</a:t>
            </a:r>
            <a:r>
              <a:rPr lang="en-US" sz="1750" dirty="0">
                <a:latin typeface="Nunito Sans" pitchFamily="2" charset="0"/>
              </a:rPr>
              <a:t> Our project supports Uganda's national development plans (NDPIII/NBP) that call for more spectrum-efficient technologies. It replaces older, "brittle" handcrafted methods with a robust, cost effective,  software-based AI-based algorithm for enhancing signals by removing noise.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69583" y="368975"/>
            <a:ext cx="1552257" cy="419219"/>
          </a:xfrm>
          <a:prstGeom prst="rect">
            <a:avLst/>
          </a:prstGeom>
          <a:noFill/>
          <a:ln/>
        </p:spPr>
        <p:txBody>
          <a:bodyPr wrap="none" lIns="0" tIns="0" rIns="0" bIns="0" rtlCol="0" anchor="t"/>
          <a:lstStyle/>
          <a:p>
            <a:pPr marL="0" indent="0" algn="l">
              <a:lnSpc>
                <a:spcPts val="3300"/>
              </a:lnSpc>
              <a:buNone/>
            </a:pPr>
            <a:r>
              <a:rPr lang="en-US" sz="2600" b="1" dirty="0">
                <a:solidFill>
                  <a:srgbClr val="006A60"/>
                </a:solidFill>
                <a:latin typeface="Nunito Sans" pitchFamily="2" charset="0"/>
                <a:ea typeface="Nunito Sans Bold" pitchFamily="34" charset="-122"/>
                <a:cs typeface="Nunito Sans Bold" pitchFamily="34" charset="-120"/>
              </a:rPr>
              <a:t>Scope</a:t>
            </a:r>
            <a:endParaRPr lang="en-US" sz="2600" dirty="0">
              <a:latin typeface="Nunito Sans" pitchFamily="2" charset="0"/>
            </a:endParaRPr>
          </a:p>
        </p:txBody>
      </p:sp>
      <p:sp>
        <p:nvSpPr>
          <p:cNvPr id="4" name="Shape 2"/>
          <p:cNvSpPr/>
          <p:nvPr/>
        </p:nvSpPr>
        <p:spPr>
          <a:xfrm>
            <a:off x="469583" y="1178123"/>
            <a:ext cx="536615" cy="804982"/>
          </a:xfrm>
          <a:prstGeom prst="roundRect">
            <a:avLst>
              <a:gd name="adj" fmla="val 360075"/>
            </a:avLst>
          </a:prstGeom>
          <a:solidFill>
            <a:srgbClr val="F1E79A"/>
          </a:solidFill>
          <a:ln w="7620">
            <a:solidFill>
              <a:srgbClr val="D7CD80"/>
            </a:solidFill>
            <a:prstDash val="solid"/>
          </a:ln>
        </p:spPr>
        <p:txBody>
          <a:bodyPr/>
          <a:lstStyle/>
          <a:p>
            <a:endParaRPr lang="en-US">
              <a:latin typeface="Nunito Sans" pitchFamily="2" charset="0"/>
            </a:endParaRPr>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7223" y="1479947"/>
            <a:ext cx="201216" cy="201216"/>
          </a:xfrm>
          <a:prstGeom prst="rect">
            <a:avLst/>
          </a:prstGeom>
        </p:spPr>
      </p:pic>
      <p:sp>
        <p:nvSpPr>
          <p:cNvPr id="6" name="Text 3"/>
          <p:cNvSpPr/>
          <p:nvPr/>
        </p:nvSpPr>
        <p:spPr>
          <a:xfrm>
            <a:off x="1140262" y="1312188"/>
            <a:ext cx="1865590"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Offline Experimentation</a:t>
            </a:r>
            <a:endParaRPr lang="en-US" sz="1300" dirty="0">
              <a:latin typeface="Nunito Sans" pitchFamily="2" charset="0"/>
            </a:endParaRPr>
          </a:p>
        </p:txBody>
      </p:sp>
      <p:sp>
        <p:nvSpPr>
          <p:cNvPr id="7" name="Text 4"/>
          <p:cNvSpPr/>
          <p:nvPr/>
        </p:nvSpPr>
        <p:spPr>
          <a:xfrm>
            <a:off x="1140262" y="1602343"/>
            <a:ext cx="6830258" cy="209669"/>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Project conducted entirely on a computer using pre-existing data, ensuring a controlled environment.</a:t>
            </a:r>
            <a:endParaRPr lang="en-US" sz="1050" dirty="0">
              <a:latin typeface="Nunito Sans" pitchFamily="2" charset="0"/>
            </a:endParaRPr>
          </a:p>
        </p:txBody>
      </p:sp>
      <p:sp>
        <p:nvSpPr>
          <p:cNvPr id="8" name="Shape 5"/>
          <p:cNvSpPr/>
          <p:nvPr/>
        </p:nvSpPr>
        <p:spPr>
          <a:xfrm>
            <a:off x="469583" y="2117169"/>
            <a:ext cx="536615" cy="804982"/>
          </a:xfrm>
          <a:prstGeom prst="roundRect">
            <a:avLst>
              <a:gd name="adj" fmla="val 360075"/>
            </a:avLst>
          </a:prstGeom>
          <a:solidFill>
            <a:srgbClr val="429A92"/>
          </a:solidFill>
          <a:ln w="7620">
            <a:solidFill>
              <a:srgbClr val="5BB3AB"/>
            </a:solidFill>
            <a:prstDash val="solid"/>
          </a:ln>
        </p:spPr>
        <p:txBody>
          <a:bodyPr/>
          <a:lstStyle/>
          <a:p>
            <a:endParaRPr lang="en-US">
              <a:latin typeface="Nunito Sans" pitchFamily="2" charset="0"/>
            </a:endParaRPr>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3" y="2418993"/>
            <a:ext cx="201216" cy="201216"/>
          </a:xfrm>
          <a:prstGeom prst="rect">
            <a:avLst/>
          </a:prstGeom>
        </p:spPr>
      </p:pic>
      <p:sp>
        <p:nvSpPr>
          <p:cNvPr id="10" name="Text 6"/>
          <p:cNvSpPr/>
          <p:nvPr/>
        </p:nvSpPr>
        <p:spPr>
          <a:xfrm>
            <a:off x="1140262" y="2251234"/>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Public Datasets</a:t>
            </a:r>
            <a:endParaRPr lang="en-US" sz="1300" dirty="0">
              <a:latin typeface="Nunito Sans" pitchFamily="2" charset="0"/>
            </a:endParaRPr>
          </a:p>
        </p:txBody>
      </p:sp>
      <p:sp>
        <p:nvSpPr>
          <p:cNvPr id="11" name="Text 7"/>
          <p:cNvSpPr/>
          <p:nvPr/>
        </p:nvSpPr>
        <p:spPr>
          <a:xfrm>
            <a:off x="1140262" y="2541389"/>
            <a:ext cx="13020556" cy="214670"/>
          </a:xfrm>
          <a:prstGeom prst="rect">
            <a:avLst/>
          </a:prstGeom>
          <a:noFill/>
          <a:ln/>
        </p:spPr>
        <p:txBody>
          <a:bodyPr wrap="none" lIns="0" tIns="0" rIns="0" bIns="0" rtlCol="0" anchor="t"/>
          <a:lstStyle/>
          <a:p>
            <a:pPr>
              <a:lnSpc>
                <a:spcPts val="1650"/>
              </a:lnSpc>
            </a:pPr>
            <a:r>
              <a:rPr lang="en-US" sz="1050" dirty="0" err="1">
                <a:solidFill>
                  <a:srgbClr val="272525"/>
                </a:solidFill>
                <a:latin typeface="Nunito Sans" pitchFamily="2" charset="0"/>
                <a:ea typeface="Nunito" pitchFamily="34" charset="-122"/>
                <a:cs typeface="Nunito" pitchFamily="34" charset="-120"/>
              </a:rPr>
              <a:t>DeepSig</a:t>
            </a:r>
            <a:r>
              <a:rPr lang="en-US" sz="1050" dirty="0">
                <a:solidFill>
                  <a:srgbClr val="272525"/>
                </a:solidFill>
                <a:latin typeface="Nunito Sans" pitchFamily="2" charset="0"/>
                <a:ea typeface="Nunito" pitchFamily="34" charset="-122"/>
                <a:cs typeface="Nunito" pitchFamily="34" charset="-120"/>
              </a:rPr>
              <a:t> </a:t>
            </a:r>
            <a:r>
              <a:rPr lang="en-US" sz="1050" dirty="0" err="1">
                <a:solidFill>
                  <a:srgbClr val="272525"/>
                </a:solidFill>
                <a:latin typeface="Nunito Sans" pitchFamily="2" charset="0"/>
                <a:ea typeface="Nunito" pitchFamily="34" charset="-122"/>
                <a:cs typeface="Nunito" pitchFamily="34" charset="-120"/>
              </a:rPr>
              <a:t>RadioML</a:t>
            </a:r>
            <a:r>
              <a:rPr lang="en-US" sz="1050" dirty="0">
                <a:solidFill>
                  <a:srgbClr val="272525"/>
                </a:solidFill>
                <a:latin typeface="Nunito Sans" pitchFamily="2" charset="0"/>
                <a:ea typeface="Nunito" pitchFamily="34" charset="-122"/>
                <a:cs typeface="Nunito" pitchFamily="34" charset="-120"/>
              </a:rPr>
              <a:t> 2018.01A benchmark (synthetic, well-characterized SNR labels) and the RF Signal Data collection on Kaggle (real SDR captures providing hardware impairment realism) [11], [12]</a:t>
            </a:r>
            <a:endParaRPr lang="en-US" sz="1050" dirty="0">
              <a:latin typeface="Nunito Sans" pitchFamily="2" charset="0"/>
            </a:endParaRPr>
          </a:p>
        </p:txBody>
      </p:sp>
      <p:sp>
        <p:nvSpPr>
          <p:cNvPr id="12" name="Shape 8"/>
          <p:cNvSpPr/>
          <p:nvPr/>
        </p:nvSpPr>
        <p:spPr>
          <a:xfrm>
            <a:off x="469583" y="3056215"/>
            <a:ext cx="536615" cy="804982"/>
          </a:xfrm>
          <a:prstGeom prst="roundRect">
            <a:avLst>
              <a:gd name="adj" fmla="val 360075"/>
            </a:avLst>
          </a:prstGeom>
          <a:solidFill>
            <a:srgbClr val="A4ECF9"/>
          </a:solidFill>
          <a:ln w="7620">
            <a:solidFill>
              <a:srgbClr val="8AD2DF"/>
            </a:solidFill>
            <a:prstDash val="solid"/>
          </a:ln>
        </p:spPr>
        <p:txBody>
          <a:bodyPr/>
          <a:lstStyle/>
          <a:p>
            <a:endParaRPr lang="en-US">
              <a:latin typeface="Nunito Sans" pitchFamily="2" charset="0"/>
            </a:endParaRPr>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7223" y="3358039"/>
            <a:ext cx="201216" cy="201216"/>
          </a:xfrm>
          <a:prstGeom prst="rect">
            <a:avLst/>
          </a:prstGeom>
        </p:spPr>
      </p:pic>
      <p:sp>
        <p:nvSpPr>
          <p:cNvPr id="14" name="Text 9"/>
          <p:cNvSpPr/>
          <p:nvPr/>
        </p:nvSpPr>
        <p:spPr>
          <a:xfrm>
            <a:off x="1140262" y="3190280"/>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Noise Modelling</a:t>
            </a:r>
            <a:endParaRPr lang="en-US" sz="1300" dirty="0">
              <a:latin typeface="Nunito Sans" pitchFamily="2" charset="0"/>
            </a:endParaRPr>
          </a:p>
        </p:txBody>
      </p:sp>
      <p:sp>
        <p:nvSpPr>
          <p:cNvPr id="15" name="Text 10"/>
          <p:cNvSpPr/>
          <p:nvPr/>
        </p:nvSpPr>
        <p:spPr>
          <a:xfrm>
            <a:off x="1140262" y="3480434"/>
            <a:ext cx="13020556" cy="504825"/>
          </a:xfrm>
          <a:prstGeom prst="rect">
            <a:avLst/>
          </a:prstGeom>
          <a:noFill/>
          <a:ln/>
        </p:spPr>
        <p:txBody>
          <a:bodyPr wrap="none" lIns="0" tIns="0" rIns="0" bIns="0" rtlCol="0" anchor="t"/>
          <a:lstStyle/>
          <a:p>
            <a:pPr>
              <a:lnSpc>
                <a:spcPts val="1650"/>
              </a:lnSpc>
            </a:pPr>
            <a:r>
              <a:rPr lang="en-US" sz="1050" dirty="0">
                <a:solidFill>
                  <a:srgbClr val="272525"/>
                </a:solidFill>
                <a:latin typeface="Nunito Sans" pitchFamily="2" charset="0"/>
                <a:ea typeface="Nunito" pitchFamily="34" charset="-122"/>
                <a:cs typeface="Nunito" pitchFamily="34" charset="-120"/>
              </a:rPr>
              <a:t>We inject Uganda-specific noise profiles such as Booster oscillation noise as High-power wideband impulses simulating illegal repeater feedback, </a:t>
            </a:r>
            <a:r>
              <a:rPr lang="en-US" sz="1050" dirty="0" err="1">
                <a:solidFill>
                  <a:srgbClr val="272525"/>
                </a:solidFill>
                <a:latin typeface="Nunito Sans" pitchFamily="2" charset="0"/>
                <a:ea typeface="Nunito" pitchFamily="34" charset="-122"/>
                <a:cs typeface="Nunito" pitchFamily="34" charset="-120"/>
              </a:rPr>
              <a:t>Bizindaalo</a:t>
            </a:r>
            <a:r>
              <a:rPr lang="en-US" sz="1050" dirty="0">
                <a:solidFill>
                  <a:srgbClr val="272525"/>
                </a:solidFill>
                <a:latin typeface="Nunito Sans" pitchFamily="2" charset="0"/>
                <a:ea typeface="Nunito" pitchFamily="34" charset="-122"/>
                <a:cs typeface="Nunito" pitchFamily="34" charset="-120"/>
              </a:rPr>
              <a:t> harmonics as Narrowband tones at 2nd/3rd harmonics </a:t>
            </a:r>
          </a:p>
          <a:p>
            <a:pPr>
              <a:lnSpc>
                <a:spcPts val="1650"/>
              </a:lnSpc>
            </a:pPr>
            <a:r>
              <a:rPr lang="en-US" sz="1050" dirty="0">
                <a:solidFill>
                  <a:srgbClr val="272525"/>
                </a:solidFill>
                <a:latin typeface="Nunito Sans" pitchFamily="2" charset="0"/>
                <a:ea typeface="Nunito" pitchFamily="34" charset="-122"/>
                <a:cs typeface="Nunito" pitchFamily="34" charset="-120"/>
              </a:rPr>
              <a:t>of FM frequencies (200 MHz, 300 MHz sidebands leaking into 900 MHz), Rain fade attenuation as Time-varying SNR reduction modeling tropical storm conditions (100+ mm/h rainfall rates)</a:t>
            </a:r>
            <a:endParaRPr lang="en-US" sz="1050" dirty="0">
              <a:latin typeface="Nunito Sans" pitchFamily="2" charset="0"/>
            </a:endParaRPr>
          </a:p>
        </p:txBody>
      </p:sp>
      <p:sp>
        <p:nvSpPr>
          <p:cNvPr id="16" name="Shape 11"/>
          <p:cNvSpPr/>
          <p:nvPr/>
        </p:nvSpPr>
        <p:spPr>
          <a:xfrm>
            <a:off x="469583" y="3995261"/>
            <a:ext cx="536615" cy="804982"/>
          </a:xfrm>
          <a:prstGeom prst="roundRect">
            <a:avLst>
              <a:gd name="adj" fmla="val 360075"/>
            </a:avLst>
          </a:prstGeom>
          <a:solidFill>
            <a:srgbClr val="F9A7A7"/>
          </a:solidFill>
          <a:ln w="7620">
            <a:solidFill>
              <a:srgbClr val="DF8D8D"/>
            </a:solidFill>
            <a:prstDash val="solid"/>
          </a:ln>
        </p:spPr>
        <p:txBody>
          <a:bodyPr/>
          <a:lstStyle/>
          <a:p>
            <a:endParaRPr lang="en-US">
              <a:latin typeface="Nunito Sans" pitchFamily="2" charset="0"/>
            </a:endParaRPr>
          </a:p>
        </p:txBody>
      </p:sp>
      <p:pic>
        <p:nvPicPr>
          <p:cNvPr id="1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7223" y="4297085"/>
            <a:ext cx="201216" cy="201216"/>
          </a:xfrm>
          <a:prstGeom prst="rect">
            <a:avLst/>
          </a:prstGeom>
        </p:spPr>
      </p:pic>
      <p:sp>
        <p:nvSpPr>
          <p:cNvPr id="18" name="Text 12"/>
          <p:cNvSpPr/>
          <p:nvPr/>
        </p:nvSpPr>
        <p:spPr>
          <a:xfrm>
            <a:off x="1140262" y="4129326"/>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Model Development</a:t>
            </a:r>
            <a:endParaRPr lang="en-US" sz="1300" dirty="0">
              <a:latin typeface="Nunito Sans" pitchFamily="2" charset="0"/>
            </a:endParaRPr>
          </a:p>
        </p:txBody>
      </p:sp>
      <p:sp>
        <p:nvSpPr>
          <p:cNvPr id="19" name="Text 13"/>
          <p:cNvSpPr/>
          <p:nvPr/>
        </p:nvSpPr>
        <p:spPr>
          <a:xfrm>
            <a:off x="1140262" y="4419481"/>
            <a:ext cx="13020556" cy="214670"/>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Focus on a Conv1D Denoising Autoencoder (DAE) and a supervised AMC classifier.</a:t>
            </a:r>
            <a:endParaRPr lang="en-US" sz="1050" dirty="0">
              <a:latin typeface="Nunito Sans" pitchFamily="2" charset="0"/>
            </a:endParaRPr>
          </a:p>
        </p:txBody>
      </p:sp>
      <p:sp>
        <p:nvSpPr>
          <p:cNvPr id="20" name="Shape 14"/>
          <p:cNvSpPr/>
          <p:nvPr/>
        </p:nvSpPr>
        <p:spPr>
          <a:xfrm>
            <a:off x="469583" y="4934307"/>
            <a:ext cx="536615" cy="804982"/>
          </a:xfrm>
          <a:prstGeom prst="roundRect">
            <a:avLst>
              <a:gd name="adj" fmla="val 360075"/>
            </a:avLst>
          </a:prstGeom>
          <a:solidFill>
            <a:srgbClr val="F1E79A"/>
          </a:solidFill>
          <a:ln w="7620">
            <a:solidFill>
              <a:srgbClr val="D7CD80"/>
            </a:solidFill>
            <a:prstDash val="solid"/>
          </a:ln>
        </p:spPr>
        <p:txBody>
          <a:bodyPr/>
          <a:lstStyle/>
          <a:p>
            <a:endParaRPr lang="en-US">
              <a:latin typeface="Nunito Sans" pitchFamily="2" charset="0"/>
            </a:endParaRPr>
          </a:p>
        </p:txBody>
      </p:sp>
      <p:pic>
        <p:nvPicPr>
          <p:cNvPr id="2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7223" y="5236131"/>
            <a:ext cx="201216" cy="201216"/>
          </a:xfrm>
          <a:prstGeom prst="rect">
            <a:avLst/>
          </a:prstGeom>
        </p:spPr>
      </p:pic>
      <p:sp>
        <p:nvSpPr>
          <p:cNvPr id="22" name="Text 15"/>
          <p:cNvSpPr/>
          <p:nvPr/>
        </p:nvSpPr>
        <p:spPr>
          <a:xfrm>
            <a:off x="1140262" y="5068372"/>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Specific Modulations</a:t>
            </a:r>
            <a:endParaRPr lang="en-US" sz="1300" dirty="0">
              <a:latin typeface="Nunito Sans" pitchFamily="2" charset="0"/>
            </a:endParaRPr>
          </a:p>
        </p:txBody>
      </p:sp>
      <p:sp>
        <p:nvSpPr>
          <p:cNvPr id="23" name="Text 16"/>
          <p:cNvSpPr/>
          <p:nvPr/>
        </p:nvSpPr>
        <p:spPr>
          <a:xfrm>
            <a:off x="1140262" y="5358527"/>
            <a:ext cx="13020556" cy="214670"/>
          </a:xfrm>
          <a:prstGeom prst="rect">
            <a:avLst/>
          </a:prstGeom>
          <a:noFill/>
          <a:ln/>
        </p:spPr>
        <p:txBody>
          <a:bodyPr wrap="none" lIns="0" tIns="0" rIns="0" bIns="0" rtlCol="0" anchor="t"/>
          <a:lstStyle/>
          <a:p>
            <a:pPr>
              <a:lnSpc>
                <a:spcPts val="1650"/>
              </a:lnSpc>
            </a:pPr>
            <a:r>
              <a:rPr lang="en-US" sz="1050" dirty="0">
                <a:solidFill>
                  <a:srgbClr val="272525"/>
                </a:solidFill>
                <a:latin typeface="Nunito Sans" pitchFamily="2" charset="0"/>
                <a:ea typeface="Nunito" pitchFamily="34" charset="-122"/>
                <a:cs typeface="Nunito" pitchFamily="34" charset="-120"/>
              </a:rPr>
              <a:t>Training models to recognize GSM-family modulations like GMSK, GFSK, and QPSK </a:t>
            </a:r>
            <a:endParaRPr lang="en-US" sz="1050" dirty="0">
              <a:latin typeface="Nunito Sans" pitchFamily="2" charset="0"/>
            </a:endParaRPr>
          </a:p>
        </p:txBody>
      </p:sp>
      <p:sp>
        <p:nvSpPr>
          <p:cNvPr id="24" name="Shape 17"/>
          <p:cNvSpPr/>
          <p:nvPr/>
        </p:nvSpPr>
        <p:spPr>
          <a:xfrm>
            <a:off x="469583" y="5873353"/>
            <a:ext cx="536615" cy="804982"/>
          </a:xfrm>
          <a:prstGeom prst="roundRect">
            <a:avLst>
              <a:gd name="adj" fmla="val 360075"/>
            </a:avLst>
          </a:prstGeom>
          <a:solidFill>
            <a:srgbClr val="429A92"/>
          </a:solidFill>
          <a:ln w="7620">
            <a:solidFill>
              <a:srgbClr val="5BB3AB"/>
            </a:solidFill>
            <a:prstDash val="solid"/>
          </a:ln>
        </p:spPr>
        <p:txBody>
          <a:bodyPr/>
          <a:lstStyle/>
          <a:p>
            <a:endParaRPr lang="en-US">
              <a:latin typeface="Nunito Sans" pitchFamily="2" charset="0"/>
            </a:endParaRPr>
          </a:p>
        </p:txBody>
      </p:sp>
      <p:pic>
        <p:nvPicPr>
          <p:cNvPr id="25"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7223" y="6175177"/>
            <a:ext cx="201216" cy="201216"/>
          </a:xfrm>
          <a:prstGeom prst="rect">
            <a:avLst/>
          </a:prstGeom>
        </p:spPr>
      </p:pic>
      <p:sp>
        <p:nvSpPr>
          <p:cNvPr id="26" name="Text 18"/>
          <p:cNvSpPr/>
          <p:nvPr/>
        </p:nvSpPr>
        <p:spPr>
          <a:xfrm>
            <a:off x="1140262" y="6007418"/>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Platform &amp; Tools</a:t>
            </a:r>
            <a:endParaRPr lang="en-US" sz="1300" dirty="0">
              <a:latin typeface="Nunito Sans" pitchFamily="2" charset="0"/>
            </a:endParaRPr>
          </a:p>
        </p:txBody>
      </p:sp>
      <p:sp>
        <p:nvSpPr>
          <p:cNvPr id="27" name="Text 19"/>
          <p:cNvSpPr/>
          <p:nvPr/>
        </p:nvSpPr>
        <p:spPr>
          <a:xfrm>
            <a:off x="1140262" y="6297573"/>
            <a:ext cx="13020556" cy="214670"/>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Windows OS, Python, TensorFlow, Keras, Jupyter Notebook, and Google Cloud Platform.</a:t>
            </a:r>
            <a:endParaRPr lang="en-US" sz="1050" dirty="0">
              <a:latin typeface="Nunito Sans" pitchFamily="2" charset="0"/>
            </a:endParaRPr>
          </a:p>
        </p:txBody>
      </p:sp>
      <p:sp>
        <p:nvSpPr>
          <p:cNvPr id="28" name="Shape 20"/>
          <p:cNvSpPr/>
          <p:nvPr/>
        </p:nvSpPr>
        <p:spPr>
          <a:xfrm>
            <a:off x="469583" y="6812399"/>
            <a:ext cx="536615" cy="804982"/>
          </a:xfrm>
          <a:prstGeom prst="roundRect">
            <a:avLst>
              <a:gd name="adj" fmla="val 360075"/>
            </a:avLst>
          </a:prstGeom>
          <a:solidFill>
            <a:srgbClr val="A4ECF9"/>
          </a:solidFill>
          <a:ln w="7620">
            <a:solidFill>
              <a:srgbClr val="8AD2DF"/>
            </a:solidFill>
            <a:prstDash val="solid"/>
          </a:ln>
        </p:spPr>
        <p:txBody>
          <a:bodyPr/>
          <a:lstStyle/>
          <a:p>
            <a:endParaRPr lang="en-US">
              <a:latin typeface="Nunito Sans" pitchFamily="2" charset="0"/>
            </a:endParaRPr>
          </a:p>
        </p:txBody>
      </p:sp>
      <p:pic>
        <p:nvPicPr>
          <p:cNvPr id="29"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7223" y="7114223"/>
            <a:ext cx="201216" cy="201216"/>
          </a:xfrm>
          <a:prstGeom prst="rect">
            <a:avLst/>
          </a:prstGeom>
        </p:spPr>
      </p:pic>
      <p:sp>
        <p:nvSpPr>
          <p:cNvPr id="30" name="Text 21"/>
          <p:cNvSpPr/>
          <p:nvPr/>
        </p:nvSpPr>
        <p:spPr>
          <a:xfrm>
            <a:off x="1140262" y="6946463"/>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Timeline</a:t>
            </a:r>
            <a:endParaRPr lang="en-US" sz="1300" dirty="0">
              <a:latin typeface="Nunito Sans" pitchFamily="2" charset="0"/>
            </a:endParaRPr>
          </a:p>
        </p:txBody>
      </p:sp>
      <p:sp>
        <p:nvSpPr>
          <p:cNvPr id="31" name="Text 22"/>
          <p:cNvSpPr/>
          <p:nvPr/>
        </p:nvSpPr>
        <p:spPr>
          <a:xfrm>
            <a:off x="1140262" y="7236619"/>
            <a:ext cx="13020556" cy="214670"/>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A 6-month dedicated period for research, model development, and comprehensive testing.</a:t>
            </a:r>
            <a:endParaRPr lang="en-US" sz="1050" dirty="0">
              <a:latin typeface="Nunito Sans" pitchFamily="2" charset="0"/>
            </a:endParaRPr>
          </a:p>
        </p:txBody>
      </p:sp>
    </p:spTree>
    <p:extLst>
      <p:ext uri="{BB962C8B-B14F-4D97-AF65-F5344CB8AC3E}">
        <p14:creationId xmlns:p14="http://schemas.microsoft.com/office/powerpoint/2010/main" val="4071045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88143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Literature Review</a:t>
            </a:r>
            <a:endParaRPr lang="en-US" sz="4450" dirty="0">
              <a:latin typeface="Nunito Sans" pitchFamily="2" charset="0"/>
            </a:endParaRPr>
          </a:p>
        </p:txBody>
      </p:sp>
      <p:sp>
        <p:nvSpPr>
          <p:cNvPr id="4" name="Text 1"/>
          <p:cNvSpPr/>
          <p:nvPr/>
        </p:nvSpPr>
        <p:spPr>
          <a:xfrm>
            <a:off x="793790" y="3930372"/>
            <a:ext cx="7556421" cy="1417677"/>
          </a:xfrm>
          <a:prstGeom prst="rect">
            <a:avLst/>
          </a:prstGeom>
          <a:noFill/>
          <a:ln/>
        </p:spPr>
        <p:txBody>
          <a:bodyPr wrap="none" lIns="0" tIns="0" rIns="0" bIns="0" rtlCol="0" anchor="t"/>
          <a:lstStyle/>
          <a:p>
            <a:pPr marL="0" indent="0" algn="l">
              <a:lnSpc>
                <a:spcPts val="11150"/>
              </a:lnSpc>
              <a:buNone/>
            </a:pPr>
            <a:r>
              <a:rPr lang="en-US" sz="8900" b="1" dirty="0">
                <a:solidFill>
                  <a:srgbClr val="006A60"/>
                </a:solidFill>
                <a:latin typeface="Nunito Sans" pitchFamily="2" charset="0"/>
                <a:ea typeface="Nunito Sans Bold" pitchFamily="34" charset="-122"/>
                <a:cs typeface="Nunito Sans Bold" pitchFamily="34" charset="-120"/>
              </a:rPr>
              <a:t>Chapter Two</a:t>
            </a:r>
            <a:endParaRPr lang="en-US" sz="8900" dirty="0">
              <a:latin typeface="Nunito Sans" pitchFamily="2" charset="0"/>
            </a:endParaRPr>
          </a:p>
        </p:txBody>
      </p:sp>
    </p:spTree>
    <p:extLst>
      <p:ext uri="{BB962C8B-B14F-4D97-AF65-F5344CB8AC3E}">
        <p14:creationId xmlns:p14="http://schemas.microsoft.com/office/powerpoint/2010/main" val="2509795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29139"/>
            <a:ext cx="11112818"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Bold" pitchFamily="34" charset="0"/>
                <a:ea typeface="Nunito Sans Bold" pitchFamily="34" charset="-122"/>
                <a:cs typeface="Nunito Sans Bold" pitchFamily="34" charset="-120"/>
              </a:rPr>
              <a:t>GSM Noise Mitigation in African Networks</a:t>
            </a:r>
            <a:endParaRPr lang="en-US" sz="4450" dirty="0"/>
          </a:p>
        </p:txBody>
      </p:sp>
      <p:sp>
        <p:nvSpPr>
          <p:cNvPr id="3" name="Text 1"/>
          <p:cNvSpPr/>
          <p:nvPr/>
        </p:nvSpPr>
        <p:spPr>
          <a:xfrm>
            <a:off x="793790" y="189154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While DAE-based signal enhancement has been extensively studied academically, its application to African GSM networks' specific interference environment remains unexplored.</a:t>
            </a:r>
            <a:endParaRPr lang="en-US" sz="1750" dirty="0"/>
          </a:p>
        </p:txBody>
      </p:sp>
      <p:sp>
        <p:nvSpPr>
          <p:cNvPr id="4" name="Shape 2"/>
          <p:cNvSpPr/>
          <p:nvPr/>
        </p:nvSpPr>
        <p:spPr>
          <a:xfrm>
            <a:off x="793790" y="2872502"/>
            <a:ext cx="4196358" cy="3136702"/>
          </a:xfrm>
          <a:prstGeom prst="roundRect">
            <a:avLst>
              <a:gd name="adj" fmla="val 6508"/>
            </a:avLst>
          </a:prstGeom>
          <a:solidFill>
            <a:srgbClr val="006A60"/>
          </a:solidFill>
          <a:ln w="7620">
            <a:solidFill>
              <a:srgbClr val="198379"/>
            </a:solidFill>
            <a:prstDash val="solid"/>
          </a:ln>
        </p:spPr>
        <p:txBody>
          <a:bodyPr/>
          <a:lstStyle/>
          <a:p>
            <a:endParaRPr lang="en-US"/>
          </a:p>
        </p:txBody>
      </p:sp>
      <p:sp>
        <p:nvSpPr>
          <p:cNvPr id="5" name="Text 3"/>
          <p:cNvSpPr/>
          <p:nvPr/>
        </p:nvSpPr>
        <p:spPr>
          <a:xfrm>
            <a:off x="1028224" y="3106936"/>
            <a:ext cx="3280886"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unito Sans Bold" pitchFamily="34" charset="0"/>
                <a:ea typeface="Nunito Sans Bold" pitchFamily="34" charset="-122"/>
                <a:cs typeface="Nunito Sans Bold" pitchFamily="34" charset="-120"/>
              </a:rPr>
              <a:t>Regulatory Interventions</a:t>
            </a:r>
            <a:endParaRPr lang="en-US" sz="2200" dirty="0"/>
          </a:p>
        </p:txBody>
      </p:sp>
      <p:sp>
        <p:nvSpPr>
          <p:cNvPr id="6" name="Text 4"/>
          <p:cNvSpPr/>
          <p:nvPr/>
        </p:nvSpPr>
        <p:spPr>
          <a:xfrm>
            <a:off x="1028224" y="3597354"/>
            <a:ext cx="3727490" cy="2177415"/>
          </a:xfrm>
          <a:prstGeom prst="rect">
            <a:avLst/>
          </a:prstGeom>
          <a:noFill/>
          <a:ln/>
        </p:spPr>
        <p:txBody>
          <a:bodyPr wrap="square" lIns="0" tIns="0" rIns="0" bIns="0" rtlCol="0" anchor="t"/>
          <a:lstStyle/>
          <a:p>
            <a:pPr marL="0" indent="0" algn="l">
              <a:lnSpc>
                <a:spcPts val="2850"/>
              </a:lnSpc>
              <a:buNone/>
            </a:pPr>
            <a:r>
              <a:rPr lang="en-US" sz="1750">
                <a:solidFill>
                  <a:srgbClr val="FFFFFF"/>
                </a:solidFill>
                <a:latin typeface="Nunito" pitchFamily="34" charset="0"/>
                <a:ea typeface="Nunito" pitchFamily="34" charset="-122"/>
                <a:cs typeface="Nunito" pitchFamily="34" charset="-120"/>
              </a:rPr>
              <a:t>UCC's enforcement </a:t>
            </a:r>
            <a:r>
              <a:rPr lang="en-US" sz="1750" dirty="0">
                <a:solidFill>
                  <a:srgbClr val="FFFFFF"/>
                </a:solidFill>
                <a:latin typeface="Nunito" pitchFamily="34" charset="0"/>
                <a:ea typeface="Nunito" pitchFamily="34" charset="-122"/>
                <a:cs typeface="Nunito" pitchFamily="34" charset="-120"/>
              </a:rPr>
              <a:t>operations confiscate illegal boosters and shut down unlicensed Bizindaalo stations. Proliferation continues due to porous borders and high demand.</a:t>
            </a:r>
            <a:endParaRPr lang="en-US" sz="1750" dirty="0"/>
          </a:p>
        </p:txBody>
      </p:sp>
      <p:sp>
        <p:nvSpPr>
          <p:cNvPr id="7" name="Shape 5"/>
          <p:cNvSpPr/>
          <p:nvPr/>
        </p:nvSpPr>
        <p:spPr>
          <a:xfrm>
            <a:off x="5216962" y="2872502"/>
            <a:ext cx="4196358" cy="3136702"/>
          </a:xfrm>
          <a:prstGeom prst="roundRect">
            <a:avLst>
              <a:gd name="adj" fmla="val 6508"/>
            </a:avLst>
          </a:prstGeom>
          <a:solidFill>
            <a:srgbClr val="006A60"/>
          </a:solidFill>
          <a:ln w="7620">
            <a:solidFill>
              <a:srgbClr val="198379"/>
            </a:solidFill>
            <a:prstDash val="solid"/>
          </a:ln>
        </p:spPr>
        <p:txBody>
          <a:bodyPr/>
          <a:lstStyle/>
          <a:p>
            <a:endParaRPr lang="en-US"/>
          </a:p>
        </p:txBody>
      </p:sp>
      <p:sp>
        <p:nvSpPr>
          <p:cNvPr id="8" name="Text 6"/>
          <p:cNvSpPr/>
          <p:nvPr/>
        </p:nvSpPr>
        <p:spPr>
          <a:xfrm>
            <a:off x="5451396" y="3106936"/>
            <a:ext cx="3607594"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unito Sans Bold" pitchFamily="34" charset="0"/>
                <a:ea typeface="Nunito Sans Bold" pitchFamily="34" charset="-122"/>
                <a:cs typeface="Nunito Sans Bold" pitchFamily="34" charset="-120"/>
              </a:rPr>
              <a:t>Technical Countermeasures</a:t>
            </a:r>
            <a:endParaRPr lang="en-US" sz="2200" dirty="0"/>
          </a:p>
        </p:txBody>
      </p:sp>
      <p:sp>
        <p:nvSpPr>
          <p:cNvPr id="9" name="Text 7"/>
          <p:cNvSpPr/>
          <p:nvPr/>
        </p:nvSpPr>
        <p:spPr>
          <a:xfrm>
            <a:off x="5451396" y="3597354"/>
            <a:ext cx="3727490" cy="1814513"/>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Nunito" pitchFamily="34" charset="0"/>
                <a:ea typeface="Nunito" pitchFamily="34" charset="-122"/>
                <a:cs typeface="Nunito" pitchFamily="34" charset="-120"/>
              </a:rPr>
              <a:t>Modern 4G/5G use Massive MIMO and beamforming, but unavailable for legacy 2G/GSM in rural areas. NBI fiber expansion reduces microwave backhaul reliance.</a:t>
            </a:r>
            <a:endParaRPr lang="en-US" sz="1750" dirty="0"/>
          </a:p>
        </p:txBody>
      </p:sp>
      <p:sp>
        <p:nvSpPr>
          <p:cNvPr id="10" name="Shape 8"/>
          <p:cNvSpPr/>
          <p:nvPr/>
        </p:nvSpPr>
        <p:spPr>
          <a:xfrm>
            <a:off x="9640133" y="2872502"/>
            <a:ext cx="4196358" cy="3136702"/>
          </a:xfrm>
          <a:prstGeom prst="roundRect">
            <a:avLst>
              <a:gd name="adj" fmla="val 6508"/>
            </a:avLst>
          </a:prstGeom>
          <a:solidFill>
            <a:srgbClr val="006A60"/>
          </a:solidFill>
          <a:ln w="7620">
            <a:solidFill>
              <a:srgbClr val="198379"/>
            </a:solidFill>
            <a:prstDash val="solid"/>
          </a:ln>
        </p:spPr>
        <p:txBody>
          <a:bodyPr/>
          <a:lstStyle/>
          <a:p>
            <a:endParaRPr lang="en-US"/>
          </a:p>
        </p:txBody>
      </p:sp>
      <p:sp>
        <p:nvSpPr>
          <p:cNvPr id="11" name="Text 9"/>
          <p:cNvSpPr/>
          <p:nvPr/>
        </p:nvSpPr>
        <p:spPr>
          <a:xfrm>
            <a:off x="9874568" y="310693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unito Sans Bold" pitchFamily="34" charset="0"/>
                <a:ea typeface="Nunito Sans Bold" pitchFamily="34" charset="-122"/>
                <a:cs typeface="Nunito Sans Bold" pitchFamily="34" charset="-120"/>
              </a:rPr>
              <a:t>The Research Gap</a:t>
            </a:r>
            <a:endParaRPr lang="en-US" sz="2200" dirty="0"/>
          </a:p>
        </p:txBody>
      </p:sp>
      <p:sp>
        <p:nvSpPr>
          <p:cNvPr id="12" name="Text 10"/>
          <p:cNvSpPr/>
          <p:nvPr/>
        </p:nvSpPr>
        <p:spPr>
          <a:xfrm>
            <a:off x="9874568" y="3597354"/>
            <a:ext cx="3727490" cy="1814513"/>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Nunito" pitchFamily="34" charset="0"/>
                <a:ea typeface="Nunito" pitchFamily="34" charset="-122"/>
                <a:cs typeface="Nunito" pitchFamily="34" charset="-120"/>
              </a:rPr>
              <a:t>No published work applies ML-based denoising to UCC-documented GSM interference: booster oscillation, Bizindaalo harmonics, and tropical rain fade.</a:t>
            </a:r>
            <a:endParaRPr lang="en-US" sz="1750" dirty="0"/>
          </a:p>
        </p:txBody>
      </p:sp>
      <p:sp>
        <p:nvSpPr>
          <p:cNvPr id="13" name="Text 11"/>
          <p:cNvSpPr/>
          <p:nvPr/>
        </p:nvSpPr>
        <p:spPr>
          <a:xfrm>
            <a:off x="1133951" y="6519505"/>
            <a:ext cx="12702659" cy="725805"/>
          </a:xfrm>
          <a:prstGeom prst="rect">
            <a:avLst/>
          </a:prstGeom>
          <a:noFill/>
          <a:ln/>
        </p:spPr>
        <p:txBody>
          <a:bodyPr wrap="square" lIns="0" tIns="0" rIns="0" bIns="0" rtlCol="0" anchor="t"/>
          <a:lstStyle/>
          <a:p>
            <a:pPr marL="0" indent="0" algn="l">
              <a:lnSpc>
                <a:spcPts val="2850"/>
              </a:lnSpc>
              <a:buNone/>
            </a:pPr>
            <a:r>
              <a:rPr lang="en-US" sz="1750" b="1" dirty="0">
                <a:solidFill>
                  <a:srgbClr val="5DE0E6"/>
                </a:solidFill>
                <a:latin typeface="Nunito" pitchFamily="34" charset="0"/>
                <a:ea typeface="Nunito" pitchFamily="34" charset="-122"/>
                <a:cs typeface="Nunito" pitchFamily="34" charset="-120"/>
              </a:rPr>
              <a:t>We fill that gap</a:t>
            </a:r>
            <a:r>
              <a:rPr lang="en-US" sz="1750" dirty="0">
                <a:solidFill>
                  <a:srgbClr val="272525"/>
                </a:solidFill>
                <a:latin typeface="Nunito" pitchFamily="34" charset="0"/>
                <a:ea typeface="Nunito" pitchFamily="34" charset="-122"/>
                <a:cs typeface="Nunito" pitchFamily="34" charset="-120"/>
              </a:rPr>
              <a:t> by training a DAE on synthetic noise profiles matching documented interference vectors, enabling GMSK classification at SNR levels where conventional approaches fail.</a:t>
            </a:r>
            <a:endParaRPr lang="en-US" sz="1750" dirty="0"/>
          </a:p>
        </p:txBody>
      </p:sp>
      <p:sp>
        <p:nvSpPr>
          <p:cNvPr id="14" name="Shape 12"/>
          <p:cNvSpPr/>
          <p:nvPr/>
        </p:nvSpPr>
        <p:spPr>
          <a:xfrm>
            <a:off x="793790" y="6264354"/>
            <a:ext cx="30480" cy="1236107"/>
          </a:xfrm>
          <a:prstGeom prst="rect">
            <a:avLst/>
          </a:prstGeom>
          <a:solidFill>
            <a:srgbClr val="5DE0E6"/>
          </a:solid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793790" y="619244"/>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006A60"/>
                </a:solidFill>
                <a:latin typeface="Nunito Sans" pitchFamily="2" charset="0"/>
                <a:ea typeface="Nunito Sans Bold" pitchFamily="34" charset="-122"/>
                <a:cs typeface="Nunito Sans Bold" pitchFamily="34" charset="-120"/>
              </a:rPr>
              <a:t>Classical Methods</a:t>
            </a:r>
            <a:endParaRPr lang="en-US" sz="2650" dirty="0">
              <a:latin typeface="Nunito Sans" pitchFamily="2" charset="0"/>
            </a:endParaRPr>
          </a:p>
        </p:txBody>
      </p:sp>
      <p:sp>
        <p:nvSpPr>
          <p:cNvPr id="4" name="Text 2"/>
          <p:cNvSpPr/>
          <p:nvPr/>
        </p:nvSpPr>
        <p:spPr>
          <a:xfrm>
            <a:off x="786170" y="1438988"/>
            <a:ext cx="6244709" cy="2006681"/>
          </a:xfrm>
          <a:prstGeom prst="rect">
            <a:avLst/>
          </a:prstGeom>
          <a:noFill/>
          <a:ln/>
        </p:spPr>
        <p:txBody>
          <a:bodyPr wrap="square" lIns="0" tIns="0" rIns="0" bIns="0" rtlCol="0" anchor="t"/>
          <a:lstStyle/>
          <a:p>
            <a:pPr>
              <a:lnSpc>
                <a:spcPts val="2850"/>
              </a:lnSpc>
            </a:pPr>
            <a:r>
              <a:rPr lang="en-US" sz="1750" dirty="0">
                <a:solidFill>
                  <a:srgbClr val="272525"/>
                </a:solidFill>
                <a:latin typeface="Nunito Sans" pitchFamily="2" charset="0"/>
                <a:ea typeface="Nunito" pitchFamily="34" charset="-122"/>
                <a:cs typeface="Nunito" pitchFamily="34" charset="-120"/>
              </a:rPr>
              <a:t>Early Automatic Modulation Classification (AMC) relied on statistical analysis and manually engineered features. While elegant, these methods are brittle and fail completely in the low-signal, high-interference environments common in Uganda.</a:t>
            </a:r>
            <a:endParaRPr lang="en-US" sz="1750" dirty="0">
              <a:latin typeface="Nunito Sans" pitchFamily="2" charset="0"/>
            </a:endParaRPr>
          </a:p>
        </p:txBody>
      </p:sp>
      <p:sp>
        <p:nvSpPr>
          <p:cNvPr id="6" name="Shape 4"/>
          <p:cNvSpPr/>
          <p:nvPr/>
        </p:nvSpPr>
        <p:spPr>
          <a:xfrm>
            <a:off x="7372707" y="1007269"/>
            <a:ext cx="6244709" cy="2438400"/>
          </a:xfrm>
          <a:prstGeom prst="roundRect">
            <a:avLst>
              <a:gd name="adj" fmla="val 8452"/>
            </a:avLst>
          </a:prstGeom>
          <a:solidFill>
            <a:srgbClr val="BDF2F5"/>
          </a:solidFill>
          <a:ln/>
        </p:spPr>
        <p:txBody>
          <a:bodyPr/>
          <a:lstStyle/>
          <a:p>
            <a:endParaRPr lang="en-US">
              <a:latin typeface="Nunito Sans" pitchFamily="2" charset="0"/>
            </a:endParaRPr>
          </a:p>
        </p:txBody>
      </p:sp>
      <p:pic>
        <p:nvPicPr>
          <p:cNvPr id="7" name="Image 0" descr="preencoded.png"/>
          <p:cNvPicPr>
            <a:picLocks noChangeAspect="1"/>
          </p:cNvPicPr>
          <p:nvPr/>
        </p:nvPicPr>
        <p:blipFill>
          <a:blip r:embed="rId3"/>
          <a:stretch>
            <a:fillRect/>
          </a:stretch>
        </p:blipFill>
        <p:spPr>
          <a:xfrm>
            <a:off x="7599521" y="1343740"/>
            <a:ext cx="283488" cy="226814"/>
          </a:xfrm>
          <a:prstGeom prst="rect">
            <a:avLst/>
          </a:prstGeom>
        </p:spPr>
      </p:pic>
      <p:sp>
        <p:nvSpPr>
          <p:cNvPr id="8" name="Text 5"/>
          <p:cNvSpPr/>
          <p:nvPr/>
        </p:nvSpPr>
        <p:spPr>
          <a:xfrm>
            <a:off x="8109823" y="1290757"/>
            <a:ext cx="5280779" cy="1814513"/>
          </a:xfrm>
          <a:prstGeom prst="rect">
            <a:avLst/>
          </a:prstGeom>
          <a:noFill/>
          <a:ln/>
        </p:spPr>
        <p:txBody>
          <a:bodyPr wrap="square" lIns="0" tIns="0" rIns="0" bIns="0" rtlCol="0" anchor="t"/>
          <a:lstStyle/>
          <a:p>
            <a:pPr marL="0" indent="0" algn="l">
              <a:lnSpc>
                <a:spcPts val="2850"/>
              </a:lnSpc>
              <a:buNone/>
            </a:pPr>
            <a:r>
              <a:rPr lang="en-US" sz="1750" b="1" dirty="0">
                <a:solidFill>
                  <a:srgbClr val="000000"/>
                </a:solidFill>
                <a:latin typeface="Nunito Sans" pitchFamily="2" charset="0"/>
                <a:ea typeface="Nunito" pitchFamily="34" charset="-122"/>
                <a:cs typeface="Nunito" pitchFamily="34" charset="-120"/>
              </a:rPr>
              <a:t>Key Limitation:</a:t>
            </a:r>
            <a:r>
              <a:rPr lang="en-US" sz="1750" dirty="0">
                <a:solidFill>
                  <a:srgbClr val="000000"/>
                </a:solidFill>
                <a:latin typeface="Nunito Sans" pitchFamily="2" charset="0"/>
                <a:ea typeface="Nunito" pitchFamily="34" charset="-122"/>
                <a:cs typeface="Nunito" pitchFamily="34" charset="-120"/>
              </a:rPr>
              <a:t> </a:t>
            </a:r>
          </a:p>
          <a:p>
            <a:pPr marL="285750" indent="-285750" algn="l">
              <a:lnSpc>
                <a:spcPts val="2850"/>
              </a:lnSpc>
              <a:buFont typeface="Arial" panose="020B0604020202020204" pitchFamily="34" charset="0"/>
              <a:buChar char="•"/>
            </a:pPr>
            <a:r>
              <a:rPr lang="en-US" sz="1750" dirty="0">
                <a:solidFill>
                  <a:srgbClr val="000000"/>
                </a:solidFill>
                <a:latin typeface="Nunito Sans" pitchFamily="2" charset="0"/>
                <a:ea typeface="Nunito" pitchFamily="34" charset="-122"/>
                <a:cs typeface="Nunito" pitchFamily="34" charset="-120"/>
              </a:rPr>
              <a:t>They are not robust under unknown channels </a:t>
            </a:r>
          </a:p>
          <a:p>
            <a:pPr marL="285750" indent="-285750" algn="l">
              <a:lnSpc>
                <a:spcPts val="2850"/>
              </a:lnSpc>
              <a:buFont typeface="Arial" panose="020B0604020202020204" pitchFamily="34" charset="0"/>
              <a:buChar char="•"/>
            </a:pPr>
            <a:r>
              <a:rPr lang="en-US" sz="1750" dirty="0">
                <a:solidFill>
                  <a:srgbClr val="000000"/>
                </a:solidFill>
                <a:latin typeface="Nunito Sans" pitchFamily="2" charset="0"/>
                <a:ea typeface="Nunito" pitchFamily="34" charset="-122"/>
                <a:cs typeface="Nunito" pitchFamily="34" charset="-120"/>
              </a:rPr>
              <a:t>These impairments are documented by UCC in congested Ugandan deployments motivates the transition toward data-driven feature learning.</a:t>
            </a:r>
            <a:endParaRPr lang="en-US" sz="1750" dirty="0">
              <a:latin typeface="Nunito Sans" pitchFamily="2" charset="0"/>
            </a:endParaRPr>
          </a:p>
        </p:txBody>
      </p:sp>
      <p:sp>
        <p:nvSpPr>
          <p:cNvPr id="9" name="Text 1">
            <a:extLst>
              <a:ext uri="{FF2B5EF4-FFF2-40B4-BE49-F238E27FC236}">
                <a16:creationId xmlns:a16="http://schemas.microsoft.com/office/drawing/2014/main" id="{BA257FC2-BD36-0F1F-8104-E22DA24DB2F7}"/>
              </a:ext>
            </a:extLst>
          </p:cNvPr>
          <p:cNvSpPr/>
          <p:nvPr/>
        </p:nvSpPr>
        <p:spPr>
          <a:xfrm>
            <a:off x="793790" y="3950376"/>
            <a:ext cx="5728930" cy="425291"/>
          </a:xfrm>
          <a:prstGeom prst="rect">
            <a:avLst/>
          </a:prstGeom>
          <a:noFill/>
          <a:ln/>
        </p:spPr>
        <p:txBody>
          <a:bodyPr wrap="none" lIns="0" tIns="0" rIns="0" bIns="0" rtlCol="0" anchor="t"/>
          <a:lstStyle/>
          <a:p>
            <a:pPr marL="0" indent="0" algn="l">
              <a:lnSpc>
                <a:spcPts val="3300"/>
              </a:lnSpc>
              <a:buNone/>
            </a:pPr>
            <a:r>
              <a:rPr lang="en-US" sz="2650" b="1" dirty="0">
                <a:solidFill>
                  <a:srgbClr val="006A60"/>
                </a:solidFill>
                <a:latin typeface="Nunito Sans" pitchFamily="2" charset="0"/>
                <a:ea typeface="Nunito Sans Bold" pitchFamily="34" charset="-122"/>
                <a:cs typeface="Nunito Sans Bold" pitchFamily="34" charset="-120"/>
              </a:rPr>
              <a:t>Machine learning is the new standard</a:t>
            </a:r>
            <a:endParaRPr lang="en-US" sz="2650" dirty="0">
              <a:latin typeface="Nunito Sans" pitchFamily="2" charset="0"/>
            </a:endParaRPr>
          </a:p>
        </p:txBody>
      </p:sp>
      <p:sp>
        <p:nvSpPr>
          <p:cNvPr id="10" name="Text 2">
            <a:extLst>
              <a:ext uri="{FF2B5EF4-FFF2-40B4-BE49-F238E27FC236}">
                <a16:creationId xmlns:a16="http://schemas.microsoft.com/office/drawing/2014/main" id="{8896AFBA-4659-D9D6-FF6A-E64A929BC3E8}"/>
              </a:ext>
            </a:extLst>
          </p:cNvPr>
          <p:cNvSpPr/>
          <p:nvPr/>
        </p:nvSpPr>
        <p:spPr>
          <a:xfrm>
            <a:off x="786170" y="4770120"/>
            <a:ext cx="12831246" cy="2006681"/>
          </a:xfrm>
          <a:prstGeom prst="rect">
            <a:avLst/>
          </a:prstGeom>
          <a:noFill/>
          <a:ln/>
        </p:spPr>
        <p:txBody>
          <a:bodyPr wrap="square" lIns="0" tIns="0" rIns="0" bIns="0" rtlCol="0" anchor="t"/>
          <a:lstStyle/>
          <a:p>
            <a:pPr>
              <a:lnSpc>
                <a:spcPts val="2850"/>
              </a:lnSpc>
            </a:pPr>
            <a:r>
              <a:rPr lang="en-US" sz="2000" dirty="0">
                <a:solidFill>
                  <a:srgbClr val="272525"/>
                </a:solidFill>
                <a:latin typeface="Nunito Sans" pitchFamily="2" charset="0"/>
                <a:ea typeface="Nunito" pitchFamily="34" charset="-122"/>
                <a:cs typeface="Nunito" pitchFamily="34" charset="-120"/>
              </a:rPr>
              <a:t>Modern research has shifted to using deep learning (DL) models like CNNs, Transformers, and Mixture-of-Experts frameworks. These models can learn features directly from raw signal data and have shown significant accuracy improvements, especially in low Signal-to-Noise Ratio (SNR) conditions down to 0 </a:t>
            </a:r>
            <a:r>
              <a:rPr lang="en-US" sz="2000" dirty="0" err="1">
                <a:solidFill>
                  <a:srgbClr val="272525"/>
                </a:solidFill>
                <a:latin typeface="Nunito Sans" pitchFamily="2" charset="0"/>
                <a:ea typeface="Nunito" pitchFamily="34" charset="-122"/>
                <a:cs typeface="Nunito" pitchFamily="34" charset="-120"/>
              </a:rPr>
              <a:t>dB.</a:t>
            </a:r>
            <a:endParaRPr lang="en-US" sz="2000" dirty="0">
              <a:latin typeface="Nunito Sans" pitchFamily="2" charset="0"/>
            </a:endParaRPr>
          </a:p>
        </p:txBody>
      </p:sp>
    </p:spTree>
    <p:extLst>
      <p:ext uri="{BB962C8B-B14F-4D97-AF65-F5344CB8AC3E}">
        <p14:creationId xmlns:p14="http://schemas.microsoft.com/office/powerpoint/2010/main" val="2910478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3057" y="650677"/>
            <a:ext cx="5447348" cy="574119"/>
          </a:xfrm>
          <a:prstGeom prst="rect">
            <a:avLst/>
          </a:prstGeom>
          <a:noFill/>
          <a:ln/>
        </p:spPr>
        <p:txBody>
          <a:bodyPr wrap="none" lIns="0" tIns="0" rIns="0" bIns="0" rtlCol="0" anchor="t"/>
          <a:lstStyle/>
          <a:p>
            <a:pPr marL="0" indent="0" algn="l">
              <a:lnSpc>
                <a:spcPts val="4500"/>
              </a:lnSpc>
              <a:buNone/>
            </a:pPr>
            <a:r>
              <a:rPr lang="en-US" sz="3600" b="1" dirty="0">
                <a:solidFill>
                  <a:srgbClr val="006A60"/>
                </a:solidFill>
                <a:latin typeface="Nunito Sans" pitchFamily="2" charset="0"/>
                <a:ea typeface="Nunito Sans Bold" pitchFamily="34" charset="-122"/>
                <a:cs typeface="Nunito Sans Bold" pitchFamily="34" charset="-120"/>
              </a:rPr>
              <a:t>Machine Learning in AMC</a:t>
            </a:r>
            <a:endParaRPr lang="en-US" sz="3600" dirty="0">
              <a:latin typeface="Nunito Sans" pitchFamily="2" charset="0"/>
            </a:endParaRPr>
          </a:p>
        </p:txBody>
      </p:sp>
      <p:sp>
        <p:nvSpPr>
          <p:cNvPr id="3" name="Text 1"/>
          <p:cNvSpPr/>
          <p:nvPr/>
        </p:nvSpPr>
        <p:spPr>
          <a:xfrm>
            <a:off x="643057" y="1592223"/>
            <a:ext cx="13344287" cy="293846"/>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Deep learning has reshaped AMC by learning discriminative features directly from raw I/Q samples. Recent contributions demonstrate tangible low-SNR gains:</a:t>
            </a:r>
            <a:endParaRPr lang="en-US" sz="1400" dirty="0">
              <a:latin typeface="Nunito Sans" pitchFamily="2" charset="0"/>
            </a:endParaRPr>
          </a:p>
        </p:txBody>
      </p:sp>
      <p:sp>
        <p:nvSpPr>
          <p:cNvPr id="4" name="Shape 2"/>
          <p:cNvSpPr/>
          <p:nvPr/>
        </p:nvSpPr>
        <p:spPr>
          <a:xfrm>
            <a:off x="7303770" y="2092762"/>
            <a:ext cx="22860" cy="5486162"/>
          </a:xfrm>
          <a:prstGeom prst="roundRect">
            <a:avLst>
              <a:gd name="adj" fmla="val 723400"/>
            </a:avLst>
          </a:prstGeom>
          <a:solidFill>
            <a:srgbClr val="000000">
              <a:alpha val="8000"/>
            </a:srgbClr>
          </a:solidFill>
          <a:ln/>
        </p:spPr>
        <p:txBody>
          <a:bodyPr/>
          <a:lstStyle/>
          <a:p>
            <a:endParaRPr lang="en-US">
              <a:latin typeface="Nunito Sans" pitchFamily="2" charset="0"/>
            </a:endParaRPr>
          </a:p>
        </p:txBody>
      </p:sp>
      <p:sp>
        <p:nvSpPr>
          <p:cNvPr id="5" name="Shape 3"/>
          <p:cNvSpPr/>
          <p:nvPr/>
        </p:nvSpPr>
        <p:spPr>
          <a:xfrm>
            <a:off x="6580227" y="2288024"/>
            <a:ext cx="551140" cy="22860"/>
          </a:xfrm>
          <a:prstGeom prst="roundRect">
            <a:avLst>
              <a:gd name="adj" fmla="val 723400"/>
            </a:avLst>
          </a:prstGeom>
          <a:solidFill>
            <a:srgbClr val="D7CD80"/>
          </a:solidFill>
          <a:ln/>
        </p:spPr>
        <p:txBody>
          <a:bodyPr/>
          <a:lstStyle/>
          <a:p>
            <a:endParaRPr lang="en-US">
              <a:latin typeface="Nunito Sans" pitchFamily="2" charset="0"/>
            </a:endParaRPr>
          </a:p>
        </p:txBody>
      </p:sp>
      <p:sp>
        <p:nvSpPr>
          <p:cNvPr id="6" name="Shape 4"/>
          <p:cNvSpPr/>
          <p:nvPr/>
        </p:nvSpPr>
        <p:spPr>
          <a:xfrm>
            <a:off x="7108508" y="2092762"/>
            <a:ext cx="413385" cy="413385"/>
          </a:xfrm>
          <a:prstGeom prst="roundRect">
            <a:avLst>
              <a:gd name="adj" fmla="val 40004"/>
            </a:avLst>
          </a:prstGeom>
          <a:solidFill>
            <a:srgbClr val="F1E79A"/>
          </a:solidFill>
          <a:ln w="7620">
            <a:solidFill>
              <a:srgbClr val="D7CD80"/>
            </a:solidFill>
            <a:prstDash val="solid"/>
          </a:ln>
        </p:spPr>
        <p:txBody>
          <a:bodyPr/>
          <a:lstStyle/>
          <a:p>
            <a:endParaRPr lang="en-US">
              <a:latin typeface="Nunito Sans" pitchFamily="2" charset="0"/>
            </a:endParaRPr>
          </a:p>
        </p:txBody>
      </p:sp>
      <p:sp>
        <p:nvSpPr>
          <p:cNvPr id="7" name="Text 5"/>
          <p:cNvSpPr/>
          <p:nvPr/>
        </p:nvSpPr>
        <p:spPr>
          <a:xfrm>
            <a:off x="7177445" y="2127230"/>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1</a:t>
            </a:r>
            <a:endParaRPr lang="en-US" sz="2150" dirty="0">
              <a:latin typeface="Nunito Sans" pitchFamily="2" charset="0"/>
            </a:endParaRPr>
          </a:p>
        </p:txBody>
      </p:sp>
      <p:sp>
        <p:nvSpPr>
          <p:cNvPr id="8" name="Text 6"/>
          <p:cNvSpPr/>
          <p:nvPr/>
        </p:nvSpPr>
        <p:spPr>
          <a:xfrm>
            <a:off x="3966924" y="2155865"/>
            <a:ext cx="2429589" cy="287060"/>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AbdElaziz et al. (2023)</a:t>
            </a:r>
            <a:endParaRPr lang="en-US" sz="1800" dirty="0">
              <a:latin typeface="Nunito Sans" pitchFamily="2" charset="0"/>
            </a:endParaRPr>
          </a:p>
        </p:txBody>
      </p:sp>
      <p:sp>
        <p:nvSpPr>
          <p:cNvPr id="9" name="Text 7"/>
          <p:cNvSpPr/>
          <p:nvPr/>
        </p:nvSpPr>
        <p:spPr>
          <a:xfrm>
            <a:off x="643057" y="2553057"/>
            <a:ext cx="5753457" cy="587693"/>
          </a:xfrm>
          <a:prstGeom prst="rect">
            <a:avLst/>
          </a:prstGeom>
          <a:noFill/>
          <a:ln/>
        </p:spPr>
        <p:txBody>
          <a:bodyPr wrap="square" lIns="0" tIns="0" rIns="0" bIns="0" rtlCol="0" anchor="t"/>
          <a:lstStyle/>
          <a:p>
            <a:pPr marL="0" indent="0" algn="r">
              <a:lnSpc>
                <a:spcPts val="2300"/>
              </a:lnSpc>
              <a:buNone/>
            </a:pPr>
            <a:r>
              <a:rPr lang="en-US" sz="1400" dirty="0">
                <a:solidFill>
                  <a:srgbClr val="272525"/>
                </a:solidFill>
                <a:latin typeface="Nunito Sans" pitchFamily="2" charset="0"/>
                <a:ea typeface="Nunito" pitchFamily="34" charset="-122"/>
                <a:cs typeface="Nunito" pitchFamily="34" charset="-120"/>
              </a:rPr>
              <a:t>Robust CNN with parallel asymmetric kernels achieved 96.5% accuracy at 0 dB and 86.1% at −2 dB across nine modulations.</a:t>
            </a:r>
            <a:endParaRPr lang="en-US" sz="1400" dirty="0">
              <a:latin typeface="Nunito Sans" pitchFamily="2" charset="0"/>
            </a:endParaRPr>
          </a:p>
        </p:txBody>
      </p:sp>
      <p:sp>
        <p:nvSpPr>
          <p:cNvPr id="10" name="Shape 8"/>
          <p:cNvSpPr/>
          <p:nvPr/>
        </p:nvSpPr>
        <p:spPr>
          <a:xfrm>
            <a:off x="7499033" y="3390424"/>
            <a:ext cx="551140" cy="22860"/>
          </a:xfrm>
          <a:prstGeom prst="roundRect">
            <a:avLst>
              <a:gd name="adj" fmla="val 723400"/>
            </a:avLst>
          </a:prstGeom>
          <a:solidFill>
            <a:srgbClr val="5BB3AB"/>
          </a:solidFill>
          <a:ln/>
        </p:spPr>
        <p:txBody>
          <a:bodyPr/>
          <a:lstStyle/>
          <a:p>
            <a:endParaRPr lang="en-US">
              <a:latin typeface="Nunito Sans" pitchFamily="2" charset="0"/>
            </a:endParaRPr>
          </a:p>
        </p:txBody>
      </p:sp>
      <p:sp>
        <p:nvSpPr>
          <p:cNvPr id="11" name="Shape 9"/>
          <p:cNvSpPr/>
          <p:nvPr/>
        </p:nvSpPr>
        <p:spPr>
          <a:xfrm>
            <a:off x="7108508" y="3195161"/>
            <a:ext cx="413385" cy="413385"/>
          </a:xfrm>
          <a:prstGeom prst="roundRect">
            <a:avLst>
              <a:gd name="adj" fmla="val 40004"/>
            </a:avLst>
          </a:prstGeom>
          <a:solidFill>
            <a:srgbClr val="429A92"/>
          </a:solidFill>
          <a:ln w="7620">
            <a:solidFill>
              <a:srgbClr val="5BB3AB"/>
            </a:solidFill>
            <a:prstDash val="solid"/>
          </a:ln>
        </p:spPr>
        <p:txBody>
          <a:bodyPr/>
          <a:lstStyle/>
          <a:p>
            <a:endParaRPr lang="en-US">
              <a:latin typeface="Nunito Sans" pitchFamily="2" charset="0"/>
            </a:endParaRPr>
          </a:p>
        </p:txBody>
      </p:sp>
      <p:sp>
        <p:nvSpPr>
          <p:cNvPr id="12" name="Text 10"/>
          <p:cNvSpPr/>
          <p:nvPr/>
        </p:nvSpPr>
        <p:spPr>
          <a:xfrm>
            <a:off x="7177445" y="3229630"/>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FFFFFF"/>
                </a:solidFill>
                <a:latin typeface="Nunito Sans" pitchFamily="2" charset="0"/>
                <a:ea typeface="Nunito Sans Bold" pitchFamily="34" charset="-122"/>
                <a:cs typeface="Nunito Sans Bold" pitchFamily="34" charset="-120"/>
              </a:rPr>
              <a:t>2</a:t>
            </a:r>
            <a:endParaRPr lang="en-US" sz="2150" dirty="0">
              <a:latin typeface="Nunito Sans" pitchFamily="2" charset="0"/>
            </a:endParaRPr>
          </a:p>
        </p:txBody>
      </p:sp>
      <p:sp>
        <p:nvSpPr>
          <p:cNvPr id="13" name="Text 11"/>
          <p:cNvSpPr/>
          <p:nvPr/>
        </p:nvSpPr>
        <p:spPr>
          <a:xfrm>
            <a:off x="8233886" y="3258264"/>
            <a:ext cx="2296716" cy="28706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Zhang et al. (2023)</a:t>
            </a:r>
            <a:endParaRPr lang="en-US" sz="1800" dirty="0">
              <a:latin typeface="Nunito Sans" pitchFamily="2" charset="0"/>
            </a:endParaRPr>
          </a:p>
        </p:txBody>
      </p:sp>
      <p:sp>
        <p:nvSpPr>
          <p:cNvPr id="14" name="Text 12"/>
          <p:cNvSpPr/>
          <p:nvPr/>
        </p:nvSpPr>
        <p:spPr>
          <a:xfrm>
            <a:off x="8233886" y="3655457"/>
            <a:ext cx="5753457" cy="881539"/>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MoE-AMC mixture-of-experts framework yielded ~71.8% averaged accuracy across −20…18 dB—about 10% higher than single-expert models.</a:t>
            </a:r>
            <a:endParaRPr lang="en-US" sz="1400" dirty="0">
              <a:latin typeface="Nunito Sans" pitchFamily="2" charset="0"/>
            </a:endParaRPr>
          </a:p>
        </p:txBody>
      </p:sp>
      <p:sp>
        <p:nvSpPr>
          <p:cNvPr id="15" name="Shape 13"/>
          <p:cNvSpPr/>
          <p:nvPr/>
        </p:nvSpPr>
        <p:spPr>
          <a:xfrm>
            <a:off x="6580227" y="4340662"/>
            <a:ext cx="551140" cy="22860"/>
          </a:xfrm>
          <a:prstGeom prst="roundRect">
            <a:avLst>
              <a:gd name="adj" fmla="val 723400"/>
            </a:avLst>
          </a:prstGeom>
          <a:solidFill>
            <a:srgbClr val="8AD2DF"/>
          </a:solidFill>
          <a:ln/>
        </p:spPr>
        <p:txBody>
          <a:bodyPr/>
          <a:lstStyle/>
          <a:p>
            <a:endParaRPr lang="en-US">
              <a:latin typeface="Nunito Sans" pitchFamily="2" charset="0"/>
            </a:endParaRPr>
          </a:p>
        </p:txBody>
      </p:sp>
      <p:sp>
        <p:nvSpPr>
          <p:cNvPr id="16" name="Shape 14"/>
          <p:cNvSpPr/>
          <p:nvPr/>
        </p:nvSpPr>
        <p:spPr>
          <a:xfrm>
            <a:off x="7108508" y="4145399"/>
            <a:ext cx="413385" cy="413385"/>
          </a:xfrm>
          <a:prstGeom prst="roundRect">
            <a:avLst>
              <a:gd name="adj" fmla="val 40004"/>
            </a:avLst>
          </a:prstGeom>
          <a:solidFill>
            <a:srgbClr val="A4ECF9"/>
          </a:solidFill>
          <a:ln w="7620">
            <a:solidFill>
              <a:srgbClr val="8AD2DF"/>
            </a:solidFill>
            <a:prstDash val="solid"/>
          </a:ln>
        </p:spPr>
        <p:txBody>
          <a:bodyPr/>
          <a:lstStyle/>
          <a:p>
            <a:endParaRPr lang="en-US">
              <a:latin typeface="Nunito Sans" pitchFamily="2" charset="0"/>
            </a:endParaRPr>
          </a:p>
        </p:txBody>
      </p:sp>
      <p:sp>
        <p:nvSpPr>
          <p:cNvPr id="17" name="Text 15"/>
          <p:cNvSpPr/>
          <p:nvPr/>
        </p:nvSpPr>
        <p:spPr>
          <a:xfrm>
            <a:off x="7177445" y="4179868"/>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3</a:t>
            </a:r>
            <a:endParaRPr lang="en-US" sz="2150" dirty="0">
              <a:latin typeface="Nunito Sans" pitchFamily="2" charset="0"/>
            </a:endParaRPr>
          </a:p>
        </p:txBody>
      </p:sp>
      <p:sp>
        <p:nvSpPr>
          <p:cNvPr id="18" name="Text 16"/>
          <p:cNvSpPr/>
          <p:nvPr/>
        </p:nvSpPr>
        <p:spPr>
          <a:xfrm>
            <a:off x="3689866" y="4208502"/>
            <a:ext cx="2706648" cy="287060"/>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Meta-Transformer (2024)</a:t>
            </a:r>
            <a:endParaRPr lang="en-US" sz="1800" dirty="0">
              <a:latin typeface="Nunito Sans" pitchFamily="2" charset="0"/>
            </a:endParaRPr>
          </a:p>
        </p:txBody>
      </p:sp>
      <p:sp>
        <p:nvSpPr>
          <p:cNvPr id="19" name="Text 17"/>
          <p:cNvSpPr/>
          <p:nvPr/>
        </p:nvSpPr>
        <p:spPr>
          <a:xfrm>
            <a:off x="643057" y="4605695"/>
            <a:ext cx="5753457" cy="587693"/>
          </a:xfrm>
          <a:prstGeom prst="rect">
            <a:avLst/>
          </a:prstGeom>
          <a:noFill/>
          <a:ln/>
        </p:spPr>
        <p:txBody>
          <a:bodyPr wrap="square" lIns="0" tIns="0" rIns="0" bIns="0" rtlCol="0" anchor="t"/>
          <a:lstStyle/>
          <a:p>
            <a:pPr marL="0" indent="0" algn="r">
              <a:lnSpc>
                <a:spcPts val="2300"/>
              </a:lnSpc>
              <a:buNone/>
            </a:pPr>
            <a:r>
              <a:rPr lang="en-US" sz="1400" dirty="0">
                <a:solidFill>
                  <a:srgbClr val="272525"/>
                </a:solidFill>
                <a:latin typeface="Nunito Sans" pitchFamily="2" charset="0"/>
                <a:ea typeface="Nunito" pitchFamily="34" charset="-122"/>
                <a:cs typeface="Nunito" pitchFamily="34" charset="-120"/>
              </a:rPr>
              <a:t>Leverages transformer encoders and few-shot learning to adapt rapidly to unseen modulations while maintaining superior accuracy.</a:t>
            </a:r>
            <a:endParaRPr lang="en-US" sz="1400" dirty="0">
              <a:latin typeface="Nunito Sans" pitchFamily="2" charset="0"/>
            </a:endParaRPr>
          </a:p>
        </p:txBody>
      </p:sp>
      <p:sp>
        <p:nvSpPr>
          <p:cNvPr id="20" name="Shape 18"/>
          <p:cNvSpPr/>
          <p:nvPr/>
        </p:nvSpPr>
        <p:spPr>
          <a:xfrm>
            <a:off x="7499033" y="5290899"/>
            <a:ext cx="551140" cy="22860"/>
          </a:xfrm>
          <a:prstGeom prst="roundRect">
            <a:avLst>
              <a:gd name="adj" fmla="val 723400"/>
            </a:avLst>
          </a:prstGeom>
          <a:solidFill>
            <a:srgbClr val="DF8D8D"/>
          </a:solidFill>
          <a:ln/>
        </p:spPr>
        <p:txBody>
          <a:bodyPr/>
          <a:lstStyle/>
          <a:p>
            <a:endParaRPr lang="en-US">
              <a:latin typeface="Nunito Sans" pitchFamily="2" charset="0"/>
            </a:endParaRPr>
          </a:p>
        </p:txBody>
      </p:sp>
      <p:sp>
        <p:nvSpPr>
          <p:cNvPr id="21" name="Shape 19"/>
          <p:cNvSpPr/>
          <p:nvPr/>
        </p:nvSpPr>
        <p:spPr>
          <a:xfrm>
            <a:off x="7108508" y="5095637"/>
            <a:ext cx="413385" cy="413385"/>
          </a:xfrm>
          <a:prstGeom prst="roundRect">
            <a:avLst>
              <a:gd name="adj" fmla="val 40004"/>
            </a:avLst>
          </a:prstGeom>
          <a:solidFill>
            <a:srgbClr val="F9A7A7"/>
          </a:solidFill>
          <a:ln w="7620">
            <a:solidFill>
              <a:srgbClr val="DF8D8D"/>
            </a:solidFill>
            <a:prstDash val="solid"/>
          </a:ln>
        </p:spPr>
        <p:txBody>
          <a:bodyPr/>
          <a:lstStyle/>
          <a:p>
            <a:endParaRPr lang="en-US">
              <a:latin typeface="Nunito Sans" pitchFamily="2" charset="0"/>
            </a:endParaRPr>
          </a:p>
        </p:txBody>
      </p:sp>
      <p:sp>
        <p:nvSpPr>
          <p:cNvPr id="22" name="Text 20"/>
          <p:cNvSpPr/>
          <p:nvPr/>
        </p:nvSpPr>
        <p:spPr>
          <a:xfrm>
            <a:off x="7177445" y="5130105"/>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4</a:t>
            </a:r>
            <a:endParaRPr lang="en-US" sz="2150" dirty="0">
              <a:latin typeface="Nunito Sans" pitchFamily="2" charset="0"/>
            </a:endParaRPr>
          </a:p>
        </p:txBody>
      </p:sp>
      <p:sp>
        <p:nvSpPr>
          <p:cNvPr id="23" name="Text 21"/>
          <p:cNvSpPr/>
          <p:nvPr/>
        </p:nvSpPr>
        <p:spPr>
          <a:xfrm>
            <a:off x="8233886" y="5158740"/>
            <a:ext cx="2296716" cy="28706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Rehman et al. (2025)</a:t>
            </a:r>
            <a:endParaRPr lang="en-US" sz="1800" dirty="0">
              <a:latin typeface="Nunito Sans" pitchFamily="2" charset="0"/>
            </a:endParaRPr>
          </a:p>
        </p:txBody>
      </p:sp>
      <p:sp>
        <p:nvSpPr>
          <p:cNvPr id="24" name="Text 22"/>
          <p:cNvSpPr/>
          <p:nvPr/>
        </p:nvSpPr>
        <p:spPr>
          <a:xfrm>
            <a:off x="8233886" y="5555933"/>
            <a:ext cx="5753457" cy="58769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DLAMC converts I/Q streams into eye diagrams, overcoming the 10–48% accuracy ceiling near −10 dB SNR.</a:t>
            </a:r>
            <a:endParaRPr lang="en-US" sz="1400" dirty="0">
              <a:latin typeface="Nunito Sans" pitchFamily="2" charset="0"/>
            </a:endParaRPr>
          </a:p>
        </p:txBody>
      </p:sp>
      <p:sp>
        <p:nvSpPr>
          <p:cNvPr id="25" name="Shape 23"/>
          <p:cNvSpPr/>
          <p:nvPr/>
        </p:nvSpPr>
        <p:spPr>
          <a:xfrm>
            <a:off x="6580227" y="6241137"/>
            <a:ext cx="551140" cy="22860"/>
          </a:xfrm>
          <a:prstGeom prst="roundRect">
            <a:avLst>
              <a:gd name="adj" fmla="val 723400"/>
            </a:avLst>
          </a:prstGeom>
          <a:solidFill>
            <a:srgbClr val="D7CD80"/>
          </a:solidFill>
          <a:ln/>
        </p:spPr>
        <p:txBody>
          <a:bodyPr/>
          <a:lstStyle/>
          <a:p>
            <a:endParaRPr lang="en-US">
              <a:latin typeface="Nunito Sans" pitchFamily="2" charset="0"/>
            </a:endParaRPr>
          </a:p>
        </p:txBody>
      </p:sp>
      <p:sp>
        <p:nvSpPr>
          <p:cNvPr id="26" name="Shape 24"/>
          <p:cNvSpPr/>
          <p:nvPr/>
        </p:nvSpPr>
        <p:spPr>
          <a:xfrm>
            <a:off x="7108508" y="6045875"/>
            <a:ext cx="413385" cy="413385"/>
          </a:xfrm>
          <a:prstGeom prst="roundRect">
            <a:avLst>
              <a:gd name="adj" fmla="val 40004"/>
            </a:avLst>
          </a:prstGeom>
          <a:solidFill>
            <a:srgbClr val="F1E79A"/>
          </a:solidFill>
          <a:ln w="7620">
            <a:solidFill>
              <a:srgbClr val="D7CD80"/>
            </a:solidFill>
            <a:prstDash val="solid"/>
          </a:ln>
        </p:spPr>
        <p:txBody>
          <a:bodyPr/>
          <a:lstStyle/>
          <a:p>
            <a:endParaRPr lang="en-US">
              <a:latin typeface="Nunito Sans" pitchFamily="2" charset="0"/>
            </a:endParaRPr>
          </a:p>
        </p:txBody>
      </p:sp>
      <p:sp>
        <p:nvSpPr>
          <p:cNvPr id="27" name="Text 25"/>
          <p:cNvSpPr/>
          <p:nvPr/>
        </p:nvSpPr>
        <p:spPr>
          <a:xfrm>
            <a:off x="7177445" y="6080343"/>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5</a:t>
            </a:r>
            <a:endParaRPr lang="en-US" sz="2150" dirty="0">
              <a:latin typeface="Nunito Sans" pitchFamily="2" charset="0"/>
            </a:endParaRPr>
          </a:p>
        </p:txBody>
      </p:sp>
      <p:sp>
        <p:nvSpPr>
          <p:cNvPr id="28" name="Text 26"/>
          <p:cNvSpPr/>
          <p:nvPr/>
        </p:nvSpPr>
        <p:spPr>
          <a:xfrm>
            <a:off x="3937278" y="6108978"/>
            <a:ext cx="2459236" cy="287060"/>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Jagannath et al. (2022)</a:t>
            </a:r>
            <a:endParaRPr lang="en-US" sz="1800" dirty="0">
              <a:latin typeface="Nunito Sans" pitchFamily="2" charset="0"/>
            </a:endParaRPr>
          </a:p>
        </p:txBody>
      </p:sp>
      <p:sp>
        <p:nvSpPr>
          <p:cNvPr id="29" name="Text 27"/>
          <p:cNvSpPr/>
          <p:nvPr/>
        </p:nvSpPr>
        <p:spPr>
          <a:xfrm>
            <a:off x="643057" y="6506170"/>
            <a:ext cx="5753457" cy="587693"/>
          </a:xfrm>
          <a:prstGeom prst="rect">
            <a:avLst/>
          </a:prstGeom>
          <a:noFill/>
          <a:ln/>
        </p:spPr>
        <p:txBody>
          <a:bodyPr wrap="square" lIns="0" tIns="0" rIns="0" bIns="0" rtlCol="0" anchor="t"/>
          <a:lstStyle/>
          <a:p>
            <a:pPr marL="0" indent="0" algn="r">
              <a:lnSpc>
                <a:spcPts val="2300"/>
              </a:lnSpc>
              <a:buNone/>
            </a:pPr>
            <a:r>
              <a:rPr lang="en-US" sz="1400" dirty="0">
                <a:solidFill>
                  <a:srgbClr val="272525"/>
                </a:solidFill>
                <a:latin typeface="Nunito Sans" pitchFamily="2" charset="0"/>
                <a:ea typeface="Nunito" pitchFamily="34" charset="-122"/>
                <a:cs typeface="Nunito" pitchFamily="34" charset="-120"/>
              </a:rPr>
              <a:t>Validated CNN-based multitask AMC on USRP SDR testbed, demonstrating &gt;98% accuracy in live over-the-air experiments.</a:t>
            </a:r>
            <a:endParaRPr lang="en-US" sz="1400" dirty="0">
              <a:latin typeface="Nunito Sans" pitchFamily="2" charset="0"/>
            </a:endParaRPr>
          </a:p>
        </p:txBody>
      </p:sp>
    </p:spTree>
    <p:extLst>
      <p:ext uri="{BB962C8B-B14F-4D97-AF65-F5344CB8AC3E}">
        <p14:creationId xmlns:p14="http://schemas.microsoft.com/office/powerpoint/2010/main" val="3326637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47180"/>
            <a:ext cx="12894826"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Denoising Autoencoders for Signal Enhancement</a:t>
            </a:r>
            <a:endParaRPr lang="en-US" sz="4450" dirty="0">
              <a:latin typeface="Nunito Sans" pitchFamily="2" charset="0"/>
            </a:endParaRPr>
          </a:p>
        </p:txBody>
      </p:sp>
      <p:sp>
        <p:nvSpPr>
          <p:cNvPr id="3" name="Text 1"/>
          <p:cNvSpPr/>
          <p:nvPr/>
        </p:nvSpPr>
        <p:spPr>
          <a:xfrm>
            <a:off x="793790" y="229612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Denoising frontends have emerged as an effective countermeasure when raw I/Q features are overwhelmed by interference.</a:t>
            </a:r>
            <a:endParaRPr lang="en-US" sz="1750" dirty="0">
              <a:latin typeface="Nunito Sans" pitchFamily="2" charset="0"/>
            </a:endParaRPr>
          </a:p>
        </p:txBody>
      </p:sp>
      <p:sp>
        <p:nvSpPr>
          <p:cNvPr id="4" name="Text 2"/>
          <p:cNvSpPr/>
          <p:nvPr/>
        </p:nvSpPr>
        <p:spPr>
          <a:xfrm>
            <a:off x="793790" y="3027521"/>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272525"/>
                </a:solidFill>
                <a:latin typeface="Nunito Sans" pitchFamily="2" charset="0"/>
                <a:ea typeface="Nunito Sans Bold" pitchFamily="34" charset="-122"/>
                <a:cs typeface="Nunito Sans Bold" pitchFamily="34" charset="-120"/>
              </a:rPr>
              <a:t>75%</a:t>
            </a:r>
            <a:endParaRPr lang="en-US" sz="5850" dirty="0">
              <a:latin typeface="Nunito Sans" pitchFamily="2" charset="0"/>
            </a:endParaRPr>
          </a:p>
        </p:txBody>
      </p:sp>
      <p:sp>
        <p:nvSpPr>
          <p:cNvPr id="5" name="Text 3"/>
          <p:cNvSpPr/>
          <p:nvPr/>
        </p:nvSpPr>
        <p:spPr>
          <a:xfrm>
            <a:off x="1455420" y="4059317"/>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Zhang et al.</a:t>
            </a:r>
            <a:endParaRPr lang="en-US" sz="2200" dirty="0">
              <a:latin typeface="Nunito Sans" pitchFamily="2" charset="0"/>
            </a:endParaRPr>
          </a:p>
        </p:txBody>
      </p:sp>
      <p:sp>
        <p:nvSpPr>
          <p:cNvPr id="6" name="Text 4"/>
          <p:cNvSpPr/>
          <p:nvPr/>
        </p:nvSpPr>
        <p:spPr>
          <a:xfrm>
            <a:off x="793790" y="4549735"/>
            <a:ext cx="4158615" cy="1088708"/>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Nunito Sans" pitchFamily="2" charset="0"/>
                <a:ea typeface="Nunito" pitchFamily="34" charset="-122"/>
                <a:cs typeface="Nunito" pitchFamily="34" charset="-120"/>
              </a:rPr>
              <a:t>Dual residual DAE with channel attention improved AMC accuracy by up to 75% across −12…8 dB SNR.</a:t>
            </a:r>
            <a:endParaRPr lang="en-US" sz="1750" dirty="0">
              <a:latin typeface="Nunito Sans" pitchFamily="2" charset="0"/>
            </a:endParaRPr>
          </a:p>
        </p:txBody>
      </p:sp>
      <p:sp>
        <p:nvSpPr>
          <p:cNvPr id="7" name="Text 5"/>
          <p:cNvSpPr/>
          <p:nvPr/>
        </p:nvSpPr>
        <p:spPr>
          <a:xfrm>
            <a:off x="5235893" y="3027521"/>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272525"/>
                </a:solidFill>
                <a:latin typeface="Nunito Sans" pitchFamily="2" charset="0"/>
                <a:ea typeface="Nunito Sans Bold" pitchFamily="34" charset="-122"/>
                <a:cs typeface="Nunito Sans Bold" pitchFamily="34" charset="-120"/>
              </a:rPr>
              <a:t>77.5%</a:t>
            </a:r>
            <a:endParaRPr lang="en-US" sz="5850" dirty="0">
              <a:latin typeface="Nunito Sans" pitchFamily="2" charset="0"/>
            </a:endParaRPr>
          </a:p>
        </p:txBody>
      </p:sp>
      <p:sp>
        <p:nvSpPr>
          <p:cNvPr id="8" name="Text 6"/>
          <p:cNvSpPr/>
          <p:nvPr/>
        </p:nvSpPr>
        <p:spPr>
          <a:xfrm>
            <a:off x="5897523" y="4059317"/>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DenoMAE</a:t>
            </a:r>
            <a:endParaRPr lang="en-US" sz="2200" dirty="0">
              <a:latin typeface="Nunito Sans" pitchFamily="2" charset="0"/>
            </a:endParaRPr>
          </a:p>
        </p:txBody>
      </p:sp>
      <p:sp>
        <p:nvSpPr>
          <p:cNvPr id="9" name="Text 7"/>
          <p:cNvSpPr/>
          <p:nvPr/>
        </p:nvSpPr>
        <p:spPr>
          <a:xfrm>
            <a:off x="5235893" y="4549735"/>
            <a:ext cx="4158615" cy="1451610"/>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Nunito Sans" pitchFamily="2" charset="0"/>
                <a:ea typeface="Nunito" pitchFamily="34" charset="-122"/>
                <a:cs typeface="Nunito" pitchFamily="34" charset="-120"/>
              </a:rPr>
              <a:t>Faysal et al.'s multimodal denoising masked autoencoder sustained 77.5% accuracy at −10 dB—roughly 22% higher without denoising.</a:t>
            </a:r>
            <a:endParaRPr lang="en-US" sz="1750" dirty="0">
              <a:latin typeface="Nunito Sans" pitchFamily="2" charset="0"/>
            </a:endParaRPr>
          </a:p>
        </p:txBody>
      </p:sp>
      <p:sp>
        <p:nvSpPr>
          <p:cNvPr id="10" name="Text 8"/>
          <p:cNvSpPr/>
          <p:nvPr/>
        </p:nvSpPr>
        <p:spPr>
          <a:xfrm>
            <a:off x="9677995" y="3027521"/>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272525"/>
                </a:solidFill>
                <a:latin typeface="Nunito Sans" pitchFamily="2" charset="0"/>
                <a:ea typeface="Nunito Sans Bold" pitchFamily="34" charset="-122"/>
                <a:cs typeface="Nunito Sans Bold" pitchFamily="34" charset="-120"/>
              </a:rPr>
              <a:t>70%</a:t>
            </a:r>
            <a:endParaRPr lang="en-US" sz="5850" dirty="0">
              <a:latin typeface="Nunito Sans" pitchFamily="2" charset="0"/>
            </a:endParaRPr>
          </a:p>
        </p:txBody>
      </p:sp>
      <p:sp>
        <p:nvSpPr>
          <p:cNvPr id="11" name="Text 9"/>
          <p:cNvSpPr/>
          <p:nvPr/>
        </p:nvSpPr>
        <p:spPr>
          <a:xfrm>
            <a:off x="10339626" y="4059317"/>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Thresholded AE</a:t>
            </a:r>
            <a:endParaRPr lang="en-US" sz="2200" dirty="0">
              <a:latin typeface="Nunito Sans" pitchFamily="2" charset="0"/>
            </a:endParaRPr>
          </a:p>
        </p:txBody>
      </p:sp>
      <p:sp>
        <p:nvSpPr>
          <p:cNvPr id="12" name="Text 10"/>
          <p:cNvSpPr/>
          <p:nvPr/>
        </p:nvSpPr>
        <p:spPr>
          <a:xfrm>
            <a:off x="9677995" y="4549735"/>
            <a:ext cx="4158615" cy="1451610"/>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Nunito Sans" pitchFamily="2" charset="0"/>
                <a:ea typeface="Nunito" pitchFamily="34" charset="-122"/>
                <a:cs typeface="Nunito" pitchFamily="34" charset="-120"/>
              </a:rPr>
              <a:t>An and Lee's thresholded autoencoder with SNR predictor delivered ~70% relative accuracy gains on low-SNR samples.</a:t>
            </a:r>
            <a:endParaRPr lang="en-US" sz="1750" dirty="0">
              <a:latin typeface="Nunito Sans" pitchFamily="2" charset="0"/>
            </a:endParaRPr>
          </a:p>
        </p:txBody>
      </p:sp>
      <p:sp>
        <p:nvSpPr>
          <p:cNvPr id="13" name="Text 11"/>
          <p:cNvSpPr/>
          <p:nvPr/>
        </p:nvSpPr>
        <p:spPr>
          <a:xfrm>
            <a:off x="793790" y="625649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These findings justify the DAE–AMC architecture explored in this project and provide design cues for gating strategies that conserve energy on SDR deployments.</a:t>
            </a:r>
            <a:endParaRPr lang="en-US" sz="1750" dirty="0">
              <a:latin typeface="Nunito Sans" pitchFamily="2" charset="0"/>
            </a:endParaRPr>
          </a:p>
        </p:txBody>
      </p:sp>
    </p:spTree>
    <p:extLst>
      <p:ext uri="{BB962C8B-B14F-4D97-AF65-F5344CB8AC3E}">
        <p14:creationId xmlns:p14="http://schemas.microsoft.com/office/powerpoint/2010/main" val="3116968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76920"/>
          </a:xfrm>
          <a:prstGeom prst="rect">
            <a:avLst/>
          </a:prstGeom>
        </p:spPr>
      </p:pic>
      <p:sp>
        <p:nvSpPr>
          <p:cNvPr id="3" name="Text 0"/>
          <p:cNvSpPr/>
          <p:nvPr/>
        </p:nvSpPr>
        <p:spPr>
          <a:xfrm>
            <a:off x="793790" y="3581757"/>
            <a:ext cx="13042821" cy="2835354"/>
          </a:xfrm>
          <a:prstGeom prst="rect">
            <a:avLst/>
          </a:prstGeom>
          <a:noFill/>
          <a:ln/>
        </p:spPr>
        <p:txBody>
          <a:bodyPr wrap="square" lIns="0" tIns="0" rIns="0" bIns="0" rtlCol="0" anchor="t"/>
          <a:lstStyle/>
          <a:p>
            <a:pPr marL="0" indent="0" algn="l">
              <a:lnSpc>
                <a:spcPts val="11150"/>
              </a:lnSpc>
              <a:buNone/>
            </a:pPr>
            <a:r>
              <a:rPr lang="en-US" sz="8900" b="1" dirty="0">
                <a:solidFill>
                  <a:srgbClr val="006A60"/>
                </a:solidFill>
                <a:latin typeface="Nunito Sans" pitchFamily="2" charset="0"/>
                <a:ea typeface="Nunito Sans Bold" pitchFamily="34" charset="-122"/>
                <a:cs typeface="Nunito Sans Bold" pitchFamily="34" charset="-120"/>
              </a:rPr>
              <a:t>CHAPTER THREE – METHODOLOGY</a:t>
            </a:r>
            <a:endParaRPr lang="en-US" sz="8900" dirty="0">
              <a:latin typeface="Nunito Sans" pitchFamily="2" charset="0"/>
            </a:endParaRPr>
          </a:p>
        </p:txBody>
      </p:sp>
      <p:sp>
        <p:nvSpPr>
          <p:cNvPr id="4" name="Text 1"/>
          <p:cNvSpPr/>
          <p:nvPr/>
        </p:nvSpPr>
        <p:spPr>
          <a:xfrm>
            <a:off x="793790" y="675727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A comprehensive framework for developing robust Automatic Modulation Classification systems tailored to challenging RF environments through deep learning and denoising techniques.</a:t>
            </a:r>
            <a:endParaRPr lang="en-US" sz="1750" dirty="0">
              <a:latin typeface="Nunito Sans" pitchFamily="2" charset="0"/>
            </a:endParaRPr>
          </a:p>
        </p:txBody>
      </p:sp>
    </p:spTree>
    <p:extLst>
      <p:ext uri="{BB962C8B-B14F-4D97-AF65-F5344CB8AC3E}">
        <p14:creationId xmlns:p14="http://schemas.microsoft.com/office/powerpoint/2010/main" val="1983814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51153"/>
            <a:ext cx="6349603"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Introduction to Methods</a:t>
            </a:r>
            <a:endParaRPr lang="en-US" sz="4450" dirty="0">
              <a:latin typeface="Nunito Sans" pitchFamily="2" charset="0"/>
            </a:endParaRPr>
          </a:p>
        </p:txBody>
      </p:sp>
      <p:sp>
        <p:nvSpPr>
          <p:cNvPr id="3" name="Text 1"/>
          <p:cNvSpPr/>
          <p:nvPr/>
        </p:nvSpPr>
        <p:spPr>
          <a:xfrm>
            <a:off x="793790" y="181356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We adopt an experimental research design anchored in reproducible data processing and quantitative benchmarking across four interconnected pillars:</a:t>
            </a:r>
            <a:endParaRPr lang="en-US" sz="1750" dirty="0">
              <a:latin typeface="Nunito Sans" pitchFamily="2" charset="0"/>
            </a:endParaRPr>
          </a:p>
        </p:txBody>
      </p:sp>
      <p:sp>
        <p:nvSpPr>
          <p:cNvPr id="4" name="Text 2"/>
          <p:cNvSpPr/>
          <p:nvPr/>
        </p:nvSpPr>
        <p:spPr>
          <a:xfrm>
            <a:off x="793790" y="279451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Sans Light" pitchFamily="34" charset="-122"/>
                <a:cs typeface="Nunito Sans Light" pitchFamily="34" charset="-120"/>
              </a:rPr>
              <a:t>01</a:t>
            </a:r>
            <a:endParaRPr lang="en-US" sz="1750" dirty="0">
              <a:latin typeface="Nunito Sans" pitchFamily="2" charset="0"/>
            </a:endParaRPr>
          </a:p>
        </p:txBody>
      </p:sp>
      <p:sp>
        <p:nvSpPr>
          <p:cNvPr id="5" name="Shape 3"/>
          <p:cNvSpPr/>
          <p:nvPr/>
        </p:nvSpPr>
        <p:spPr>
          <a:xfrm>
            <a:off x="793790" y="3149560"/>
            <a:ext cx="6407944" cy="30480"/>
          </a:xfrm>
          <a:prstGeom prst="rect">
            <a:avLst/>
          </a:prstGeom>
          <a:solidFill>
            <a:srgbClr val="F1E79A"/>
          </a:solidFill>
          <a:ln/>
        </p:spPr>
        <p:txBody>
          <a:bodyPr/>
          <a:lstStyle/>
          <a:p>
            <a:endParaRPr lang="en-US">
              <a:latin typeface="Nunito Sans" pitchFamily="2" charset="0"/>
            </a:endParaRPr>
          </a:p>
        </p:txBody>
      </p:sp>
      <p:sp>
        <p:nvSpPr>
          <p:cNvPr id="6" name="Text 4"/>
          <p:cNvSpPr/>
          <p:nvPr/>
        </p:nvSpPr>
        <p:spPr>
          <a:xfrm>
            <a:off x="793790" y="332386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Dataset Curation</a:t>
            </a:r>
            <a:endParaRPr lang="en-US" sz="2200" dirty="0">
              <a:latin typeface="Nunito Sans" pitchFamily="2" charset="0"/>
            </a:endParaRPr>
          </a:p>
        </p:txBody>
      </p:sp>
      <p:sp>
        <p:nvSpPr>
          <p:cNvPr id="7" name="Text 5"/>
          <p:cNvSpPr/>
          <p:nvPr/>
        </p:nvSpPr>
        <p:spPr>
          <a:xfrm>
            <a:off x="793790" y="3814286"/>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Aggregate I/Q datasets from simulated and real captures from RF Signal Data and </a:t>
            </a:r>
            <a:r>
              <a:rPr lang="en-US" sz="1750" dirty="0" err="1">
                <a:solidFill>
                  <a:srgbClr val="272525"/>
                </a:solidFill>
                <a:latin typeface="Nunito Sans" pitchFamily="2" charset="0"/>
                <a:ea typeface="Nunito" pitchFamily="34" charset="-122"/>
                <a:cs typeface="Nunito" pitchFamily="34" charset="-120"/>
              </a:rPr>
              <a:t>RadioML</a:t>
            </a:r>
            <a:r>
              <a:rPr lang="en-US" sz="1750" dirty="0">
                <a:solidFill>
                  <a:srgbClr val="272525"/>
                </a:solidFill>
                <a:latin typeface="Nunito Sans" pitchFamily="2" charset="0"/>
                <a:ea typeface="Nunito" pitchFamily="34" charset="-122"/>
                <a:cs typeface="Nunito" pitchFamily="34" charset="-120"/>
              </a:rPr>
              <a:t> 2018.01A</a:t>
            </a:r>
            <a:endParaRPr lang="en-US" sz="1750" dirty="0">
              <a:latin typeface="Nunito Sans" pitchFamily="2" charset="0"/>
            </a:endParaRPr>
          </a:p>
        </p:txBody>
      </p:sp>
      <p:sp>
        <p:nvSpPr>
          <p:cNvPr id="8" name="Text 6"/>
          <p:cNvSpPr/>
          <p:nvPr/>
        </p:nvSpPr>
        <p:spPr>
          <a:xfrm>
            <a:off x="7428548" y="279451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Sans Light" pitchFamily="34" charset="-122"/>
                <a:cs typeface="Nunito Sans Light" pitchFamily="34" charset="-120"/>
              </a:rPr>
              <a:t>02</a:t>
            </a:r>
            <a:endParaRPr lang="en-US" sz="1750" dirty="0">
              <a:latin typeface="Nunito Sans" pitchFamily="2" charset="0"/>
            </a:endParaRPr>
          </a:p>
        </p:txBody>
      </p:sp>
      <p:sp>
        <p:nvSpPr>
          <p:cNvPr id="9" name="Shape 7"/>
          <p:cNvSpPr/>
          <p:nvPr/>
        </p:nvSpPr>
        <p:spPr>
          <a:xfrm>
            <a:off x="7428548" y="3149560"/>
            <a:ext cx="6408063" cy="30480"/>
          </a:xfrm>
          <a:prstGeom prst="rect">
            <a:avLst/>
          </a:prstGeom>
          <a:solidFill>
            <a:srgbClr val="429A92"/>
          </a:solidFill>
          <a:ln/>
        </p:spPr>
        <p:txBody>
          <a:bodyPr/>
          <a:lstStyle/>
          <a:p>
            <a:endParaRPr lang="en-US">
              <a:latin typeface="Nunito Sans" pitchFamily="2" charset="0"/>
            </a:endParaRPr>
          </a:p>
        </p:txBody>
      </p:sp>
      <p:sp>
        <p:nvSpPr>
          <p:cNvPr id="10" name="Text 8"/>
          <p:cNvSpPr/>
          <p:nvPr/>
        </p:nvSpPr>
        <p:spPr>
          <a:xfrm>
            <a:off x="7428548" y="3323868"/>
            <a:ext cx="3402449"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Controlled SNR Scenarios</a:t>
            </a:r>
            <a:endParaRPr lang="en-US" sz="2200" dirty="0">
              <a:latin typeface="Nunito Sans" pitchFamily="2" charset="0"/>
            </a:endParaRPr>
          </a:p>
        </p:txBody>
      </p:sp>
      <p:sp>
        <p:nvSpPr>
          <p:cNvPr id="11" name="Text 9"/>
          <p:cNvSpPr/>
          <p:nvPr/>
        </p:nvSpPr>
        <p:spPr>
          <a:xfrm>
            <a:off x="7428548" y="3814286"/>
            <a:ext cx="6408063"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Generate SNR conditions (−12 to +18 dB) mimicking edge conditions with added impairments: Rician fading, frequency offsets, and timing jitter.</a:t>
            </a:r>
            <a:endParaRPr lang="en-US" sz="1750" dirty="0">
              <a:latin typeface="Nunito Sans" pitchFamily="2" charset="0"/>
            </a:endParaRPr>
          </a:p>
        </p:txBody>
      </p:sp>
      <p:sp>
        <p:nvSpPr>
          <p:cNvPr id="12" name="Text 10"/>
          <p:cNvSpPr/>
          <p:nvPr/>
        </p:nvSpPr>
        <p:spPr>
          <a:xfrm>
            <a:off x="793790" y="529982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Sans Light" pitchFamily="34" charset="-122"/>
                <a:cs typeface="Nunito Sans Light" pitchFamily="34" charset="-120"/>
              </a:rPr>
              <a:t>03</a:t>
            </a:r>
            <a:endParaRPr lang="en-US" sz="1750" dirty="0">
              <a:latin typeface="Nunito Sans" pitchFamily="2" charset="0"/>
            </a:endParaRPr>
          </a:p>
        </p:txBody>
      </p:sp>
      <p:sp>
        <p:nvSpPr>
          <p:cNvPr id="13" name="Shape 11"/>
          <p:cNvSpPr/>
          <p:nvPr/>
        </p:nvSpPr>
        <p:spPr>
          <a:xfrm>
            <a:off x="793790" y="5654873"/>
            <a:ext cx="6407944" cy="30480"/>
          </a:xfrm>
          <a:prstGeom prst="rect">
            <a:avLst/>
          </a:prstGeom>
          <a:solidFill>
            <a:srgbClr val="A4ECF9"/>
          </a:solidFill>
          <a:ln/>
        </p:spPr>
        <p:txBody>
          <a:bodyPr/>
          <a:lstStyle/>
          <a:p>
            <a:endParaRPr lang="en-US">
              <a:latin typeface="Nunito Sans" pitchFamily="2" charset="0"/>
            </a:endParaRPr>
          </a:p>
        </p:txBody>
      </p:sp>
      <p:sp>
        <p:nvSpPr>
          <p:cNvPr id="14" name="Text 12"/>
          <p:cNvSpPr/>
          <p:nvPr/>
        </p:nvSpPr>
        <p:spPr>
          <a:xfrm>
            <a:off x="793790" y="582918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Model Training</a:t>
            </a:r>
            <a:endParaRPr lang="en-US" sz="2200" dirty="0">
              <a:latin typeface="Nunito Sans" pitchFamily="2" charset="0"/>
            </a:endParaRPr>
          </a:p>
        </p:txBody>
      </p:sp>
      <p:sp>
        <p:nvSpPr>
          <p:cNvPr id="15" name="Text 13"/>
          <p:cNvSpPr/>
          <p:nvPr/>
        </p:nvSpPr>
        <p:spPr>
          <a:xfrm>
            <a:off x="793790" y="6319599"/>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Train Conv1D denoising autoencoder (unsupervised) and 1D CNN AMC classifier (supervised) both independently and as integrated pipeline.</a:t>
            </a:r>
            <a:endParaRPr lang="en-US" sz="1750" dirty="0">
              <a:latin typeface="Nunito Sans" pitchFamily="2" charset="0"/>
            </a:endParaRPr>
          </a:p>
        </p:txBody>
      </p:sp>
      <p:sp>
        <p:nvSpPr>
          <p:cNvPr id="16" name="Text 14"/>
          <p:cNvSpPr/>
          <p:nvPr/>
        </p:nvSpPr>
        <p:spPr>
          <a:xfrm>
            <a:off x="7428548" y="529982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Sans Light" pitchFamily="34" charset="-122"/>
                <a:cs typeface="Nunito Sans Light" pitchFamily="34" charset="-120"/>
              </a:rPr>
              <a:t>04</a:t>
            </a:r>
            <a:endParaRPr lang="en-US" sz="1750" dirty="0">
              <a:latin typeface="Nunito Sans" pitchFamily="2" charset="0"/>
            </a:endParaRPr>
          </a:p>
        </p:txBody>
      </p:sp>
      <p:sp>
        <p:nvSpPr>
          <p:cNvPr id="17" name="Shape 15"/>
          <p:cNvSpPr/>
          <p:nvPr/>
        </p:nvSpPr>
        <p:spPr>
          <a:xfrm>
            <a:off x="7428548" y="5654873"/>
            <a:ext cx="6408063" cy="30480"/>
          </a:xfrm>
          <a:prstGeom prst="rect">
            <a:avLst/>
          </a:prstGeom>
          <a:solidFill>
            <a:srgbClr val="F9A7A7"/>
          </a:solidFill>
          <a:ln/>
        </p:spPr>
        <p:txBody>
          <a:bodyPr/>
          <a:lstStyle/>
          <a:p>
            <a:endParaRPr lang="en-US">
              <a:latin typeface="Nunito Sans" pitchFamily="2" charset="0"/>
            </a:endParaRPr>
          </a:p>
        </p:txBody>
      </p:sp>
      <p:sp>
        <p:nvSpPr>
          <p:cNvPr id="18" name="Text 16"/>
          <p:cNvSpPr/>
          <p:nvPr/>
        </p:nvSpPr>
        <p:spPr>
          <a:xfrm>
            <a:off x="7428548" y="5829181"/>
            <a:ext cx="312955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Comparative Evaluation</a:t>
            </a:r>
            <a:endParaRPr lang="en-US" sz="2200" dirty="0">
              <a:latin typeface="Nunito Sans" pitchFamily="2" charset="0"/>
            </a:endParaRPr>
          </a:p>
        </p:txBody>
      </p:sp>
      <p:sp>
        <p:nvSpPr>
          <p:cNvPr id="19" name="Text 17"/>
          <p:cNvSpPr/>
          <p:nvPr/>
        </p:nvSpPr>
        <p:spPr>
          <a:xfrm>
            <a:off x="7428548" y="6319599"/>
            <a:ext cx="6408063"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Compare hybrid system against standalone baselines using accuracy curves, F1-scores, and confusion matrices for SDR deployment readiness.</a:t>
            </a:r>
            <a:endParaRPr lang="en-US" sz="1750" dirty="0">
              <a:latin typeface="Nunito Sans" pitchFamily="2" charset="0"/>
            </a:endParaRPr>
          </a:p>
        </p:txBody>
      </p:sp>
    </p:spTree>
    <p:extLst>
      <p:ext uri="{BB962C8B-B14F-4D97-AF65-F5344CB8AC3E}">
        <p14:creationId xmlns:p14="http://schemas.microsoft.com/office/powerpoint/2010/main" val="4177312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15077" y="501253"/>
            <a:ext cx="4393525" cy="549116"/>
          </a:xfrm>
          <a:prstGeom prst="rect">
            <a:avLst/>
          </a:prstGeom>
          <a:noFill/>
          <a:ln/>
        </p:spPr>
        <p:txBody>
          <a:bodyPr wrap="none" lIns="0" tIns="0" rIns="0" bIns="0" rtlCol="0" anchor="t"/>
          <a:lstStyle/>
          <a:p>
            <a:pPr marL="0" indent="0" algn="l">
              <a:lnSpc>
                <a:spcPts val="4300"/>
              </a:lnSpc>
              <a:buNone/>
            </a:pPr>
            <a:r>
              <a:rPr lang="en-US" sz="3450" b="1" dirty="0">
                <a:solidFill>
                  <a:srgbClr val="006A60"/>
                </a:solidFill>
                <a:latin typeface="Nunito Sans" pitchFamily="2" charset="0"/>
                <a:ea typeface="Nunito Sans Bold" pitchFamily="34" charset="-122"/>
                <a:cs typeface="Nunito Sans Bold" pitchFamily="34" charset="-120"/>
              </a:rPr>
              <a:t>Research Strategy</a:t>
            </a:r>
            <a:endParaRPr lang="en-US" sz="3450" dirty="0">
              <a:latin typeface="Nunito Sans" pitchFamily="2" charset="0"/>
            </a:endParaRPr>
          </a:p>
        </p:txBody>
      </p:sp>
      <p:pic>
        <p:nvPicPr>
          <p:cNvPr id="3" name="Image 0" descr="preencoded.png"/>
          <p:cNvPicPr>
            <a:picLocks noChangeAspect="1"/>
          </p:cNvPicPr>
          <p:nvPr/>
        </p:nvPicPr>
        <p:blipFill>
          <a:blip r:embed="rId3"/>
          <a:stretch>
            <a:fillRect/>
          </a:stretch>
        </p:blipFill>
        <p:spPr>
          <a:xfrm>
            <a:off x="615077" y="1401842"/>
            <a:ext cx="878681" cy="1054418"/>
          </a:xfrm>
          <a:prstGeom prst="rect">
            <a:avLst/>
          </a:prstGeom>
        </p:spPr>
      </p:pic>
      <p:sp>
        <p:nvSpPr>
          <p:cNvPr id="4" name="Text 1"/>
          <p:cNvSpPr/>
          <p:nvPr/>
        </p:nvSpPr>
        <p:spPr>
          <a:xfrm>
            <a:off x="1669494" y="1577578"/>
            <a:ext cx="2358747"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Dataset Harmonization</a:t>
            </a:r>
            <a:endParaRPr lang="en-US" sz="1700" dirty="0">
              <a:latin typeface="Nunito Sans" pitchFamily="2" charset="0"/>
            </a:endParaRPr>
          </a:p>
        </p:txBody>
      </p:sp>
      <p:sp>
        <p:nvSpPr>
          <p:cNvPr id="5" name="Text 2"/>
          <p:cNvSpPr/>
          <p:nvPr/>
        </p:nvSpPr>
        <p:spPr>
          <a:xfrm>
            <a:off x="1669494" y="1957507"/>
            <a:ext cx="12345829" cy="281107"/>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Nunito Sans" pitchFamily="2" charset="0"/>
                <a:ea typeface="Nunito" pitchFamily="34" charset="-122"/>
                <a:cs typeface="Nunito" pitchFamily="34" charset="-120"/>
              </a:rPr>
              <a:t>Convert datasets to unified tensor format (1024-sample length, normalized amplitude) with stratified train/validation/test splits by modulation and SNR.</a:t>
            </a:r>
            <a:endParaRPr lang="en-US" sz="1350" dirty="0">
              <a:latin typeface="Nunito Sans" pitchFamily="2" charset="0"/>
            </a:endParaRPr>
          </a:p>
        </p:txBody>
      </p:sp>
      <p:pic>
        <p:nvPicPr>
          <p:cNvPr id="6" name="Image 1" descr="preencoded.png"/>
          <p:cNvPicPr>
            <a:picLocks noChangeAspect="1"/>
          </p:cNvPicPr>
          <p:nvPr/>
        </p:nvPicPr>
        <p:blipFill>
          <a:blip r:embed="rId4"/>
          <a:stretch>
            <a:fillRect/>
          </a:stretch>
        </p:blipFill>
        <p:spPr>
          <a:xfrm>
            <a:off x="615077" y="2456259"/>
            <a:ext cx="878681" cy="1054418"/>
          </a:xfrm>
          <a:prstGeom prst="rect">
            <a:avLst/>
          </a:prstGeom>
        </p:spPr>
      </p:pic>
      <p:sp>
        <p:nvSpPr>
          <p:cNvPr id="7" name="Text 3"/>
          <p:cNvSpPr/>
          <p:nvPr/>
        </p:nvSpPr>
        <p:spPr>
          <a:xfrm>
            <a:off x="1669494" y="2631996"/>
            <a:ext cx="2196703"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Uganda Specific Noise Modeling</a:t>
            </a:r>
            <a:endParaRPr lang="en-US" sz="1700" dirty="0">
              <a:latin typeface="Nunito Sans" pitchFamily="2" charset="0"/>
            </a:endParaRPr>
          </a:p>
        </p:txBody>
      </p:sp>
      <p:sp>
        <p:nvSpPr>
          <p:cNvPr id="8" name="Text 4"/>
          <p:cNvSpPr/>
          <p:nvPr/>
        </p:nvSpPr>
        <p:spPr>
          <a:xfrm>
            <a:off x="1669494" y="3011924"/>
            <a:ext cx="12345829" cy="281107"/>
          </a:xfrm>
          <a:prstGeom prst="rect">
            <a:avLst/>
          </a:prstGeom>
          <a:noFill/>
          <a:ln/>
        </p:spPr>
        <p:txBody>
          <a:bodyPr wrap="none" lIns="0" tIns="0" rIns="0" bIns="0" rtlCol="0" anchor="t"/>
          <a:lstStyle/>
          <a:p>
            <a:r>
              <a:rPr lang="en-US" sz="1400" dirty="0"/>
              <a:t>Inject three UCC-documented interference types: booster oscillation (wideband impulse), </a:t>
            </a:r>
            <a:r>
              <a:rPr lang="en-US" sz="1400" dirty="0" err="1"/>
              <a:t>Bizindaalo</a:t>
            </a:r>
            <a:r>
              <a:rPr lang="en-US" sz="1400" dirty="0"/>
              <a:t> harmonics (narrowband FM tones), and rain fade attenuation.</a:t>
            </a:r>
          </a:p>
        </p:txBody>
      </p:sp>
      <p:pic>
        <p:nvPicPr>
          <p:cNvPr id="9" name="Image 2" descr="preencoded.png"/>
          <p:cNvPicPr>
            <a:picLocks noChangeAspect="1"/>
          </p:cNvPicPr>
          <p:nvPr/>
        </p:nvPicPr>
        <p:blipFill>
          <a:blip r:embed="rId5"/>
          <a:stretch>
            <a:fillRect/>
          </a:stretch>
        </p:blipFill>
        <p:spPr>
          <a:xfrm>
            <a:off x="615077" y="3510677"/>
            <a:ext cx="878681" cy="1054418"/>
          </a:xfrm>
          <a:prstGeom prst="rect">
            <a:avLst/>
          </a:prstGeom>
        </p:spPr>
      </p:pic>
      <p:sp>
        <p:nvSpPr>
          <p:cNvPr id="10" name="Text 5"/>
          <p:cNvSpPr/>
          <p:nvPr/>
        </p:nvSpPr>
        <p:spPr>
          <a:xfrm>
            <a:off x="1669494" y="3686413"/>
            <a:ext cx="2196703"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DAE Pretraining</a:t>
            </a:r>
            <a:endParaRPr lang="en-US" sz="1700" dirty="0">
              <a:latin typeface="Nunito Sans" pitchFamily="2" charset="0"/>
            </a:endParaRPr>
          </a:p>
        </p:txBody>
      </p:sp>
      <p:sp>
        <p:nvSpPr>
          <p:cNvPr id="11" name="Text 6"/>
          <p:cNvSpPr/>
          <p:nvPr/>
        </p:nvSpPr>
        <p:spPr>
          <a:xfrm>
            <a:off x="1669494" y="4066342"/>
            <a:ext cx="12345829" cy="281107"/>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Nunito Sans" pitchFamily="2" charset="0"/>
                <a:ea typeface="Nunito" pitchFamily="34" charset="-122"/>
                <a:cs typeface="Nunito" pitchFamily="34" charset="-120"/>
              </a:rPr>
              <a:t>Train Conv1D encoder–decoder on noisy/clean pairs using MSE loss until reconstruction PSNR converges, ensuring low-SNR fidelity.</a:t>
            </a:r>
            <a:endParaRPr lang="en-US" sz="1350" dirty="0">
              <a:latin typeface="Nunito Sans" pitchFamily="2" charset="0"/>
            </a:endParaRPr>
          </a:p>
        </p:txBody>
      </p:sp>
      <p:pic>
        <p:nvPicPr>
          <p:cNvPr id="12" name="Image 3" descr="preencoded.png"/>
          <p:cNvPicPr>
            <a:picLocks noChangeAspect="1"/>
          </p:cNvPicPr>
          <p:nvPr/>
        </p:nvPicPr>
        <p:blipFill>
          <a:blip r:embed="rId6"/>
          <a:stretch>
            <a:fillRect/>
          </a:stretch>
        </p:blipFill>
        <p:spPr>
          <a:xfrm>
            <a:off x="615077" y="4565094"/>
            <a:ext cx="878681" cy="1054418"/>
          </a:xfrm>
          <a:prstGeom prst="rect">
            <a:avLst/>
          </a:prstGeom>
        </p:spPr>
      </p:pic>
      <p:sp>
        <p:nvSpPr>
          <p:cNvPr id="13" name="Text 7"/>
          <p:cNvSpPr/>
          <p:nvPr/>
        </p:nvSpPr>
        <p:spPr>
          <a:xfrm>
            <a:off x="1669494" y="4740831"/>
            <a:ext cx="2196703"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AMC Training</a:t>
            </a:r>
            <a:endParaRPr lang="en-US" sz="1700" dirty="0">
              <a:latin typeface="Nunito Sans" pitchFamily="2" charset="0"/>
            </a:endParaRPr>
          </a:p>
        </p:txBody>
      </p:sp>
      <p:sp>
        <p:nvSpPr>
          <p:cNvPr id="14" name="Text 8"/>
          <p:cNvSpPr/>
          <p:nvPr/>
        </p:nvSpPr>
        <p:spPr>
          <a:xfrm>
            <a:off x="1669494" y="5120759"/>
            <a:ext cx="12345829" cy="281107"/>
          </a:xfrm>
          <a:prstGeom prst="rect">
            <a:avLst/>
          </a:prstGeom>
          <a:noFill/>
          <a:ln/>
        </p:spPr>
        <p:txBody>
          <a:bodyPr wrap="none" lIns="0" tIns="0" rIns="0" bIns="0" rtlCol="0" anchor="t"/>
          <a:lstStyle/>
          <a:p>
            <a:pPr>
              <a:lnSpc>
                <a:spcPts val="2200"/>
              </a:lnSpc>
            </a:pPr>
            <a:r>
              <a:rPr lang="en-US" sz="1350" dirty="0">
                <a:solidFill>
                  <a:srgbClr val="272525"/>
                </a:solidFill>
                <a:latin typeface="Nunito Sans" pitchFamily="2" charset="0"/>
                <a:ea typeface="Nunito" pitchFamily="34" charset="-122"/>
                <a:cs typeface="Nunito" pitchFamily="34" charset="-120"/>
              </a:rPr>
              <a:t>Train baseline on raw </a:t>
            </a:r>
            <a:r>
              <a:rPr lang="en-US" sz="1400" dirty="0"/>
              <a:t>GSM-family modulations (GMSK, GFSK, QPSK) </a:t>
            </a:r>
            <a:r>
              <a:rPr lang="en-US" sz="1350" dirty="0">
                <a:solidFill>
                  <a:srgbClr val="272525"/>
                </a:solidFill>
                <a:latin typeface="Nunito Sans" pitchFamily="2" charset="0"/>
                <a:ea typeface="Nunito" pitchFamily="34" charset="-122"/>
                <a:cs typeface="Nunito" pitchFamily="34" charset="-120"/>
              </a:rPr>
              <a:t>inputs, then retrain with DAE outputs to create hybrid pipeline, comparing frozen </a:t>
            </a:r>
          </a:p>
          <a:p>
            <a:pPr>
              <a:lnSpc>
                <a:spcPts val="2200"/>
              </a:lnSpc>
            </a:pPr>
            <a:r>
              <a:rPr lang="en-US" sz="1350" dirty="0">
                <a:solidFill>
                  <a:srgbClr val="272525"/>
                </a:solidFill>
                <a:latin typeface="Nunito Sans" pitchFamily="2" charset="0"/>
                <a:ea typeface="Nunito" pitchFamily="34" charset="-122"/>
                <a:cs typeface="Nunito" pitchFamily="34" charset="-120"/>
              </a:rPr>
              <a:t>and fine-tuned configurations.</a:t>
            </a:r>
            <a:endParaRPr lang="en-US" sz="1350" dirty="0">
              <a:latin typeface="Nunito Sans" pitchFamily="2" charset="0"/>
            </a:endParaRPr>
          </a:p>
        </p:txBody>
      </p:sp>
      <p:pic>
        <p:nvPicPr>
          <p:cNvPr id="15" name="Image 4" descr="preencoded.png"/>
          <p:cNvPicPr>
            <a:picLocks noChangeAspect="1"/>
          </p:cNvPicPr>
          <p:nvPr/>
        </p:nvPicPr>
        <p:blipFill>
          <a:blip r:embed="rId7"/>
          <a:stretch>
            <a:fillRect/>
          </a:stretch>
        </p:blipFill>
        <p:spPr>
          <a:xfrm>
            <a:off x="615077" y="5619512"/>
            <a:ext cx="878681" cy="1054418"/>
          </a:xfrm>
          <a:prstGeom prst="rect">
            <a:avLst/>
          </a:prstGeom>
        </p:spPr>
      </p:pic>
      <p:sp>
        <p:nvSpPr>
          <p:cNvPr id="16" name="Text 9"/>
          <p:cNvSpPr/>
          <p:nvPr/>
        </p:nvSpPr>
        <p:spPr>
          <a:xfrm>
            <a:off x="1669494" y="5795248"/>
            <a:ext cx="2605921"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Cross-Dataset Evaluation</a:t>
            </a:r>
            <a:endParaRPr lang="en-US" sz="1700" dirty="0">
              <a:latin typeface="Nunito Sans" pitchFamily="2" charset="0"/>
            </a:endParaRPr>
          </a:p>
        </p:txBody>
      </p:sp>
      <p:sp>
        <p:nvSpPr>
          <p:cNvPr id="17" name="Text 10"/>
          <p:cNvSpPr/>
          <p:nvPr/>
        </p:nvSpPr>
        <p:spPr>
          <a:xfrm>
            <a:off x="1669494" y="6175177"/>
            <a:ext cx="12345829" cy="281107"/>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Nunito Sans" pitchFamily="2" charset="0"/>
                <a:ea typeface="Nunito" pitchFamily="34" charset="-122"/>
                <a:cs typeface="Nunito" pitchFamily="34" charset="-120"/>
              </a:rPr>
              <a:t>Assess models on held-out SNR bins, unseen modulation families, and OTA-style splits to expose and quantify domain shift effects.</a:t>
            </a:r>
            <a:endParaRPr lang="en-US" sz="1350" dirty="0">
              <a:latin typeface="Nunito Sans" pitchFamily="2" charset="0"/>
            </a:endParaRPr>
          </a:p>
        </p:txBody>
      </p:sp>
      <p:pic>
        <p:nvPicPr>
          <p:cNvPr id="18" name="Image 5" descr="preencoded.png"/>
          <p:cNvPicPr>
            <a:picLocks noChangeAspect="1"/>
          </p:cNvPicPr>
          <p:nvPr/>
        </p:nvPicPr>
        <p:blipFill>
          <a:blip r:embed="rId8"/>
          <a:stretch>
            <a:fillRect/>
          </a:stretch>
        </p:blipFill>
        <p:spPr>
          <a:xfrm>
            <a:off x="615077" y="6673929"/>
            <a:ext cx="878681" cy="1054418"/>
          </a:xfrm>
          <a:prstGeom prst="rect">
            <a:avLst/>
          </a:prstGeom>
        </p:spPr>
      </p:pic>
      <p:sp>
        <p:nvSpPr>
          <p:cNvPr id="19" name="Text 11"/>
          <p:cNvSpPr/>
          <p:nvPr/>
        </p:nvSpPr>
        <p:spPr>
          <a:xfrm>
            <a:off x="1669494" y="6849666"/>
            <a:ext cx="2519839"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Deployment Prototyping</a:t>
            </a:r>
            <a:endParaRPr lang="en-US" sz="1700" dirty="0">
              <a:latin typeface="Nunito Sans" pitchFamily="2" charset="0"/>
            </a:endParaRPr>
          </a:p>
        </p:txBody>
      </p:sp>
      <p:sp>
        <p:nvSpPr>
          <p:cNvPr id="20" name="Text 12"/>
          <p:cNvSpPr/>
          <p:nvPr/>
        </p:nvSpPr>
        <p:spPr>
          <a:xfrm>
            <a:off x="1669494" y="7229594"/>
            <a:ext cx="12345829" cy="281107"/>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Nunito Sans" pitchFamily="2" charset="0"/>
                <a:ea typeface="Nunito" pitchFamily="34" charset="-122"/>
                <a:cs typeface="Nunito" pitchFamily="34" charset="-120"/>
              </a:rPr>
              <a:t>Integrate trained models into lightweight inference service with GUI for visualization and regulatory demonstrations.</a:t>
            </a:r>
            <a:endParaRPr lang="en-US" sz="1350" dirty="0">
              <a:latin typeface="Nunito Sans" pitchFamily="2" charset="0"/>
            </a:endParaRPr>
          </a:p>
        </p:txBody>
      </p:sp>
    </p:spTree>
    <p:extLst>
      <p:ext uri="{BB962C8B-B14F-4D97-AF65-F5344CB8AC3E}">
        <p14:creationId xmlns:p14="http://schemas.microsoft.com/office/powerpoint/2010/main" val="1522778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4009" y="506016"/>
            <a:ext cx="5349597" cy="575072"/>
          </a:xfrm>
          <a:prstGeom prst="rect">
            <a:avLst/>
          </a:prstGeom>
          <a:noFill/>
          <a:ln/>
        </p:spPr>
        <p:txBody>
          <a:bodyPr wrap="none" lIns="0" tIns="0" rIns="0" bIns="0" rtlCol="0" anchor="t"/>
          <a:lstStyle/>
          <a:p>
            <a:pPr marL="0" indent="0" algn="l">
              <a:lnSpc>
                <a:spcPts val="4500"/>
              </a:lnSpc>
              <a:buNone/>
            </a:pPr>
            <a:r>
              <a:rPr lang="en-US" sz="3600" b="1" dirty="0">
                <a:solidFill>
                  <a:srgbClr val="006A60"/>
                </a:solidFill>
                <a:latin typeface="Nunito Sans" pitchFamily="2" charset="0"/>
                <a:ea typeface="Nunito Sans Bold" pitchFamily="34" charset="-122"/>
                <a:cs typeface="Nunito Sans Bold" pitchFamily="34" charset="-120"/>
              </a:rPr>
              <a:t>Project Budget Overview</a:t>
            </a:r>
            <a:endParaRPr lang="en-US" sz="3600" dirty="0">
              <a:latin typeface="Nunito Sans" pitchFamily="2" charset="0"/>
            </a:endParaRPr>
          </a:p>
        </p:txBody>
      </p:sp>
      <p:sp>
        <p:nvSpPr>
          <p:cNvPr id="3" name="Text 1"/>
          <p:cNvSpPr/>
          <p:nvPr/>
        </p:nvSpPr>
        <p:spPr>
          <a:xfrm>
            <a:off x="644009" y="1357074"/>
            <a:ext cx="13342382" cy="58888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The successful execution of this project requires a structured allocation of resources. The total estimated budget is 800,000 UGX, covering critical areas from software to research.</a:t>
            </a:r>
            <a:endParaRPr lang="en-US" sz="1400" dirty="0">
              <a:latin typeface="Nunito Sans" pitchFamily="2" charset="0"/>
            </a:endParaRPr>
          </a:p>
        </p:txBody>
      </p:sp>
      <p:sp>
        <p:nvSpPr>
          <p:cNvPr id="4" name="Shape 2"/>
          <p:cNvSpPr/>
          <p:nvPr/>
        </p:nvSpPr>
        <p:spPr>
          <a:xfrm>
            <a:off x="644009" y="2152888"/>
            <a:ext cx="13342382" cy="4789051"/>
          </a:xfrm>
          <a:prstGeom prst="roundRect">
            <a:avLst>
              <a:gd name="adj" fmla="val 3458"/>
            </a:avLst>
          </a:prstGeom>
          <a:noFill/>
          <a:ln w="7620">
            <a:solidFill>
              <a:srgbClr val="000000">
                <a:alpha val="8000"/>
              </a:srgbClr>
            </a:solidFill>
            <a:prstDash val="solid"/>
          </a:ln>
        </p:spPr>
        <p:txBody>
          <a:bodyPr/>
          <a:lstStyle/>
          <a:p>
            <a:endParaRPr lang="en-US">
              <a:latin typeface="Nunito Sans" pitchFamily="2" charset="0"/>
            </a:endParaRPr>
          </a:p>
        </p:txBody>
      </p:sp>
      <p:sp>
        <p:nvSpPr>
          <p:cNvPr id="5" name="Shape 3"/>
          <p:cNvSpPr/>
          <p:nvPr/>
        </p:nvSpPr>
        <p:spPr>
          <a:xfrm>
            <a:off x="651629" y="2160508"/>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6" name="Text 4"/>
          <p:cNvSpPr/>
          <p:nvPr/>
        </p:nvSpPr>
        <p:spPr>
          <a:xfrm>
            <a:off x="835700" y="2278499"/>
            <a:ext cx="7624524"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Item</a:t>
            </a:r>
            <a:endParaRPr lang="en-US" sz="1400" dirty="0">
              <a:latin typeface="Nunito Sans" pitchFamily="2" charset="0"/>
            </a:endParaRPr>
          </a:p>
        </p:txBody>
      </p:sp>
      <p:sp>
        <p:nvSpPr>
          <p:cNvPr id="7" name="Text 5"/>
          <p:cNvSpPr/>
          <p:nvPr/>
        </p:nvSpPr>
        <p:spPr>
          <a:xfrm>
            <a:off x="8835747" y="2278499"/>
            <a:ext cx="4959072"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Cost (UGX)</a:t>
            </a:r>
            <a:endParaRPr lang="en-US" sz="1400" dirty="0">
              <a:latin typeface="Nunito Sans" pitchFamily="2" charset="0"/>
            </a:endParaRPr>
          </a:p>
        </p:txBody>
      </p:sp>
      <p:sp>
        <p:nvSpPr>
          <p:cNvPr id="8" name="Shape 6"/>
          <p:cNvSpPr/>
          <p:nvPr/>
        </p:nvSpPr>
        <p:spPr>
          <a:xfrm>
            <a:off x="651629" y="2690932"/>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9" name="Text 7"/>
          <p:cNvSpPr/>
          <p:nvPr/>
        </p:nvSpPr>
        <p:spPr>
          <a:xfrm>
            <a:off x="835700" y="2808923"/>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Software Licenses</a:t>
            </a:r>
            <a:endParaRPr lang="en-US" sz="1400" dirty="0">
              <a:latin typeface="Nunito Sans" pitchFamily="2" charset="0"/>
            </a:endParaRPr>
          </a:p>
        </p:txBody>
      </p:sp>
      <p:sp>
        <p:nvSpPr>
          <p:cNvPr id="10" name="Text 8"/>
          <p:cNvSpPr/>
          <p:nvPr/>
        </p:nvSpPr>
        <p:spPr>
          <a:xfrm>
            <a:off x="8835747" y="2808923"/>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200,000</a:t>
            </a:r>
            <a:endParaRPr lang="en-US" sz="1400" dirty="0">
              <a:latin typeface="Nunito Sans" pitchFamily="2" charset="0"/>
            </a:endParaRPr>
          </a:p>
        </p:txBody>
      </p:sp>
      <p:sp>
        <p:nvSpPr>
          <p:cNvPr id="11" name="Shape 9"/>
          <p:cNvSpPr/>
          <p:nvPr/>
        </p:nvSpPr>
        <p:spPr>
          <a:xfrm>
            <a:off x="651629" y="3221355"/>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12" name="Text 10"/>
          <p:cNvSpPr/>
          <p:nvPr/>
        </p:nvSpPr>
        <p:spPr>
          <a:xfrm>
            <a:off x="835700" y="3339346"/>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Data Curation</a:t>
            </a:r>
            <a:endParaRPr lang="en-US" sz="1400" dirty="0">
              <a:latin typeface="Nunito Sans" pitchFamily="2" charset="0"/>
            </a:endParaRPr>
          </a:p>
        </p:txBody>
      </p:sp>
      <p:sp>
        <p:nvSpPr>
          <p:cNvPr id="13" name="Text 11"/>
          <p:cNvSpPr/>
          <p:nvPr/>
        </p:nvSpPr>
        <p:spPr>
          <a:xfrm>
            <a:off x="8835747" y="3339346"/>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100,000</a:t>
            </a:r>
            <a:endParaRPr lang="en-US" sz="1400" dirty="0">
              <a:latin typeface="Nunito Sans" pitchFamily="2" charset="0"/>
            </a:endParaRPr>
          </a:p>
        </p:txBody>
      </p:sp>
      <p:sp>
        <p:nvSpPr>
          <p:cNvPr id="14" name="Shape 12"/>
          <p:cNvSpPr/>
          <p:nvPr/>
        </p:nvSpPr>
        <p:spPr>
          <a:xfrm>
            <a:off x="651629" y="3751778"/>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15" name="Text 13"/>
          <p:cNvSpPr/>
          <p:nvPr/>
        </p:nvSpPr>
        <p:spPr>
          <a:xfrm>
            <a:off x="835700" y="3869769"/>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Virtual Machines</a:t>
            </a:r>
            <a:endParaRPr lang="en-US" sz="1400" dirty="0">
              <a:latin typeface="Nunito Sans" pitchFamily="2" charset="0"/>
            </a:endParaRPr>
          </a:p>
        </p:txBody>
      </p:sp>
      <p:sp>
        <p:nvSpPr>
          <p:cNvPr id="16" name="Text 14"/>
          <p:cNvSpPr/>
          <p:nvPr/>
        </p:nvSpPr>
        <p:spPr>
          <a:xfrm>
            <a:off x="8835747" y="3869769"/>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200,000</a:t>
            </a:r>
            <a:endParaRPr lang="en-US" sz="1400" dirty="0">
              <a:latin typeface="Nunito Sans" pitchFamily="2" charset="0"/>
            </a:endParaRPr>
          </a:p>
        </p:txBody>
      </p:sp>
      <p:sp>
        <p:nvSpPr>
          <p:cNvPr id="17" name="Shape 15"/>
          <p:cNvSpPr/>
          <p:nvPr/>
        </p:nvSpPr>
        <p:spPr>
          <a:xfrm>
            <a:off x="651629" y="4282202"/>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18" name="Text 16"/>
          <p:cNvSpPr/>
          <p:nvPr/>
        </p:nvSpPr>
        <p:spPr>
          <a:xfrm>
            <a:off x="835700" y="4400193"/>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Cloud Databases</a:t>
            </a:r>
            <a:endParaRPr lang="en-US" sz="1400" dirty="0">
              <a:latin typeface="Nunito Sans" pitchFamily="2" charset="0"/>
            </a:endParaRPr>
          </a:p>
        </p:txBody>
      </p:sp>
      <p:sp>
        <p:nvSpPr>
          <p:cNvPr id="19" name="Text 17"/>
          <p:cNvSpPr/>
          <p:nvPr/>
        </p:nvSpPr>
        <p:spPr>
          <a:xfrm>
            <a:off x="8835747" y="4400193"/>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100,000</a:t>
            </a:r>
            <a:endParaRPr lang="en-US" sz="1400" dirty="0">
              <a:latin typeface="Nunito Sans" pitchFamily="2" charset="0"/>
            </a:endParaRPr>
          </a:p>
        </p:txBody>
      </p:sp>
      <p:sp>
        <p:nvSpPr>
          <p:cNvPr id="20" name="Shape 18"/>
          <p:cNvSpPr/>
          <p:nvPr/>
        </p:nvSpPr>
        <p:spPr>
          <a:xfrm>
            <a:off x="651629" y="4812625"/>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21" name="Text 19"/>
          <p:cNvSpPr/>
          <p:nvPr/>
        </p:nvSpPr>
        <p:spPr>
          <a:xfrm>
            <a:off x="835700" y="4930616"/>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Internet and Research</a:t>
            </a:r>
            <a:endParaRPr lang="en-US" sz="1400" dirty="0">
              <a:latin typeface="Nunito Sans" pitchFamily="2" charset="0"/>
            </a:endParaRPr>
          </a:p>
        </p:txBody>
      </p:sp>
      <p:sp>
        <p:nvSpPr>
          <p:cNvPr id="22" name="Text 20"/>
          <p:cNvSpPr/>
          <p:nvPr/>
        </p:nvSpPr>
        <p:spPr>
          <a:xfrm>
            <a:off x="8835747" y="4930616"/>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50,000</a:t>
            </a:r>
            <a:endParaRPr lang="en-US" sz="1400" dirty="0">
              <a:latin typeface="Nunito Sans" pitchFamily="2" charset="0"/>
            </a:endParaRPr>
          </a:p>
        </p:txBody>
      </p:sp>
      <p:sp>
        <p:nvSpPr>
          <p:cNvPr id="23" name="Shape 21"/>
          <p:cNvSpPr/>
          <p:nvPr/>
        </p:nvSpPr>
        <p:spPr>
          <a:xfrm>
            <a:off x="651629" y="5343049"/>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24" name="Text 22"/>
          <p:cNvSpPr/>
          <p:nvPr/>
        </p:nvSpPr>
        <p:spPr>
          <a:xfrm>
            <a:off x="835700" y="5461040"/>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Printing and Documentation</a:t>
            </a:r>
            <a:endParaRPr lang="en-US" sz="1400" dirty="0">
              <a:latin typeface="Nunito Sans" pitchFamily="2" charset="0"/>
            </a:endParaRPr>
          </a:p>
        </p:txBody>
      </p:sp>
      <p:sp>
        <p:nvSpPr>
          <p:cNvPr id="25" name="Text 23"/>
          <p:cNvSpPr/>
          <p:nvPr/>
        </p:nvSpPr>
        <p:spPr>
          <a:xfrm>
            <a:off x="8835747" y="5461040"/>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50,000</a:t>
            </a:r>
            <a:endParaRPr lang="en-US" sz="1400" dirty="0">
              <a:latin typeface="Nunito Sans" pitchFamily="2" charset="0"/>
            </a:endParaRPr>
          </a:p>
        </p:txBody>
      </p:sp>
      <p:sp>
        <p:nvSpPr>
          <p:cNvPr id="26" name="Shape 24"/>
          <p:cNvSpPr/>
          <p:nvPr/>
        </p:nvSpPr>
        <p:spPr>
          <a:xfrm>
            <a:off x="651629" y="5873472"/>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27" name="Text 25"/>
          <p:cNvSpPr/>
          <p:nvPr/>
        </p:nvSpPr>
        <p:spPr>
          <a:xfrm>
            <a:off x="835700" y="5991463"/>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Miscellaneous</a:t>
            </a:r>
            <a:endParaRPr lang="en-US" sz="1400" dirty="0">
              <a:latin typeface="Nunito Sans" pitchFamily="2" charset="0"/>
            </a:endParaRPr>
          </a:p>
        </p:txBody>
      </p:sp>
      <p:sp>
        <p:nvSpPr>
          <p:cNvPr id="28" name="Text 26"/>
          <p:cNvSpPr/>
          <p:nvPr/>
        </p:nvSpPr>
        <p:spPr>
          <a:xfrm>
            <a:off x="8835747" y="5991463"/>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100,000</a:t>
            </a:r>
            <a:endParaRPr lang="en-US" sz="1400" dirty="0">
              <a:latin typeface="Nunito Sans" pitchFamily="2" charset="0"/>
            </a:endParaRPr>
          </a:p>
        </p:txBody>
      </p:sp>
      <p:sp>
        <p:nvSpPr>
          <p:cNvPr id="29" name="Shape 27"/>
          <p:cNvSpPr/>
          <p:nvPr/>
        </p:nvSpPr>
        <p:spPr>
          <a:xfrm>
            <a:off x="651629" y="6403896"/>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30" name="Text 28"/>
          <p:cNvSpPr/>
          <p:nvPr/>
        </p:nvSpPr>
        <p:spPr>
          <a:xfrm>
            <a:off x="835700" y="6521887"/>
            <a:ext cx="7624524"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Total Estimated Cost</a:t>
            </a:r>
            <a:endParaRPr lang="en-US" sz="1400" dirty="0">
              <a:latin typeface="Nunito Sans" pitchFamily="2" charset="0"/>
            </a:endParaRPr>
          </a:p>
        </p:txBody>
      </p:sp>
      <p:sp>
        <p:nvSpPr>
          <p:cNvPr id="31" name="Text 29"/>
          <p:cNvSpPr/>
          <p:nvPr/>
        </p:nvSpPr>
        <p:spPr>
          <a:xfrm>
            <a:off x="8835747" y="6521887"/>
            <a:ext cx="4959072"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800,000</a:t>
            </a:r>
            <a:endParaRPr lang="en-US" sz="1400" dirty="0">
              <a:latin typeface="Nunito Sans" pitchFamily="2" charset="0"/>
            </a:endParaRPr>
          </a:p>
        </p:txBody>
      </p:sp>
      <p:sp>
        <p:nvSpPr>
          <p:cNvPr id="32" name="Text 30"/>
          <p:cNvSpPr/>
          <p:nvPr/>
        </p:nvSpPr>
        <p:spPr>
          <a:xfrm>
            <a:off x="644009" y="7148870"/>
            <a:ext cx="13342382" cy="58888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This budget ensures that all necessary technical infrastructure, data processing capabilities, and operational requirements are adequately funded to support the project's objectives.</a:t>
            </a:r>
            <a:endParaRPr lang="en-US" sz="1400" dirty="0">
              <a:latin typeface="Nunito Sans" pitchFamily="2" charset="0"/>
            </a:endParaRPr>
          </a:p>
        </p:txBody>
      </p:sp>
    </p:spTree>
    <p:extLst>
      <p:ext uri="{BB962C8B-B14F-4D97-AF65-F5344CB8AC3E}">
        <p14:creationId xmlns:p14="http://schemas.microsoft.com/office/powerpoint/2010/main" val="898450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71155" y="717947"/>
            <a:ext cx="6847999" cy="599242"/>
          </a:xfrm>
          <a:prstGeom prst="rect">
            <a:avLst/>
          </a:prstGeom>
          <a:noFill/>
          <a:ln/>
        </p:spPr>
        <p:txBody>
          <a:bodyPr wrap="none" lIns="0" tIns="0" rIns="0" bIns="0" rtlCol="0" anchor="t"/>
          <a:lstStyle/>
          <a:p>
            <a:pPr marL="0" indent="0" algn="l">
              <a:lnSpc>
                <a:spcPts val="4700"/>
              </a:lnSpc>
              <a:buNone/>
            </a:pPr>
            <a:r>
              <a:rPr lang="en-US" sz="3750" b="1" dirty="0">
                <a:solidFill>
                  <a:srgbClr val="006A60"/>
                </a:solidFill>
                <a:latin typeface="Nunito Sans" pitchFamily="2" charset="0"/>
                <a:ea typeface="Nunito Sans Bold" pitchFamily="34" charset="-122"/>
                <a:cs typeface="Nunito Sans Bold" pitchFamily="34" charset="-120"/>
              </a:rPr>
              <a:t>Project Timeline</a:t>
            </a:r>
            <a:endParaRPr lang="en-US" sz="3750" dirty="0">
              <a:latin typeface="Nunito Sans" pitchFamily="2" charset="0"/>
            </a:endParaRPr>
          </a:p>
        </p:txBody>
      </p:sp>
      <p:sp>
        <p:nvSpPr>
          <p:cNvPr id="3" name="Text 1"/>
          <p:cNvSpPr/>
          <p:nvPr/>
        </p:nvSpPr>
        <p:spPr>
          <a:xfrm>
            <a:off x="671155" y="1604724"/>
            <a:ext cx="13288089"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Our project will be executed in five distinct phases, ensuring a structured and efficient progression towards our objectives over a 14-week period.</a:t>
            </a:r>
            <a:endParaRPr lang="en-US" sz="1500" dirty="0">
              <a:latin typeface="Nunito Sans" pitchFamily="2" charset="0"/>
            </a:endParaRPr>
          </a:p>
        </p:txBody>
      </p:sp>
      <p:sp>
        <p:nvSpPr>
          <p:cNvPr id="4" name="Shape 2"/>
          <p:cNvSpPr/>
          <p:nvPr/>
        </p:nvSpPr>
        <p:spPr>
          <a:xfrm>
            <a:off x="671155" y="2127171"/>
            <a:ext cx="13288089" cy="4861917"/>
          </a:xfrm>
          <a:prstGeom prst="roundRect">
            <a:avLst>
              <a:gd name="adj" fmla="val 3550"/>
            </a:avLst>
          </a:prstGeom>
          <a:noFill/>
          <a:ln w="7620">
            <a:solidFill>
              <a:srgbClr val="000000">
                <a:alpha val="8000"/>
              </a:srgbClr>
            </a:solidFill>
            <a:prstDash val="solid"/>
          </a:ln>
        </p:spPr>
        <p:txBody>
          <a:bodyPr/>
          <a:lstStyle/>
          <a:p>
            <a:endParaRPr lang="en-US">
              <a:latin typeface="Nunito Sans" pitchFamily="2" charset="0"/>
            </a:endParaRPr>
          </a:p>
        </p:txBody>
      </p:sp>
      <p:sp>
        <p:nvSpPr>
          <p:cNvPr id="5" name="Shape 3"/>
          <p:cNvSpPr/>
          <p:nvPr/>
        </p:nvSpPr>
        <p:spPr>
          <a:xfrm>
            <a:off x="678775" y="2134791"/>
            <a:ext cx="13272849" cy="552093"/>
          </a:xfrm>
          <a:prstGeom prst="rect">
            <a:avLst/>
          </a:prstGeom>
          <a:solidFill>
            <a:srgbClr val="FFFFFF">
              <a:alpha val="4000"/>
            </a:srgbClr>
          </a:solidFill>
          <a:ln/>
        </p:spPr>
        <p:txBody>
          <a:bodyPr/>
          <a:lstStyle/>
          <a:p>
            <a:endParaRPr lang="en-US">
              <a:latin typeface="Nunito Sans" pitchFamily="2" charset="0"/>
            </a:endParaRPr>
          </a:p>
        </p:txBody>
      </p:sp>
      <p:sp>
        <p:nvSpPr>
          <p:cNvPr id="6" name="Text 4"/>
          <p:cNvSpPr/>
          <p:nvPr/>
        </p:nvSpPr>
        <p:spPr>
          <a:xfrm>
            <a:off x="870704" y="2257425"/>
            <a:ext cx="2930962" cy="306824"/>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Nunito Sans" pitchFamily="2" charset="0"/>
                <a:ea typeface="Nunito" pitchFamily="34" charset="-122"/>
                <a:cs typeface="Nunito" pitchFamily="34" charset="-120"/>
              </a:rPr>
              <a:t>Phase</a:t>
            </a:r>
            <a:endParaRPr lang="en-US" sz="1500" dirty="0">
              <a:latin typeface="Nunito Sans" pitchFamily="2" charset="0"/>
            </a:endParaRPr>
          </a:p>
        </p:txBody>
      </p:sp>
      <p:sp>
        <p:nvSpPr>
          <p:cNvPr id="7" name="Text 5"/>
          <p:cNvSpPr/>
          <p:nvPr/>
        </p:nvSpPr>
        <p:spPr>
          <a:xfrm>
            <a:off x="4192667" y="2257425"/>
            <a:ext cx="4254460" cy="306824"/>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Nunito Sans" pitchFamily="2" charset="0"/>
                <a:ea typeface="Nunito" pitchFamily="34" charset="-122"/>
                <a:cs typeface="Nunito" pitchFamily="34" charset="-120"/>
              </a:rPr>
              <a:t>Description</a:t>
            </a:r>
            <a:endParaRPr lang="en-US" sz="1500" dirty="0">
              <a:latin typeface="Nunito Sans" pitchFamily="2" charset="0"/>
            </a:endParaRPr>
          </a:p>
        </p:txBody>
      </p:sp>
      <p:sp>
        <p:nvSpPr>
          <p:cNvPr id="8" name="Text 6"/>
          <p:cNvSpPr/>
          <p:nvPr/>
        </p:nvSpPr>
        <p:spPr>
          <a:xfrm>
            <a:off x="8838128" y="2257425"/>
            <a:ext cx="1599843" cy="306824"/>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Nunito Sans" pitchFamily="2" charset="0"/>
                <a:ea typeface="Nunito" pitchFamily="34" charset="-122"/>
                <a:cs typeface="Nunito" pitchFamily="34" charset="-120"/>
              </a:rPr>
              <a:t>Weeks</a:t>
            </a:r>
            <a:endParaRPr lang="en-US" sz="1500" dirty="0">
              <a:latin typeface="Nunito Sans" pitchFamily="2" charset="0"/>
            </a:endParaRPr>
          </a:p>
        </p:txBody>
      </p:sp>
      <p:sp>
        <p:nvSpPr>
          <p:cNvPr id="9" name="Text 7"/>
          <p:cNvSpPr/>
          <p:nvPr/>
        </p:nvSpPr>
        <p:spPr>
          <a:xfrm>
            <a:off x="10828973" y="2257425"/>
            <a:ext cx="2930962" cy="306824"/>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Nunito Sans" pitchFamily="2" charset="0"/>
                <a:ea typeface="Nunito" pitchFamily="34" charset="-122"/>
                <a:cs typeface="Nunito" pitchFamily="34" charset="-120"/>
              </a:rPr>
              <a:t>Timeline (Week)</a:t>
            </a:r>
            <a:endParaRPr lang="en-US" sz="1500" dirty="0">
              <a:latin typeface="Nunito Sans" pitchFamily="2" charset="0"/>
            </a:endParaRPr>
          </a:p>
        </p:txBody>
      </p:sp>
      <p:sp>
        <p:nvSpPr>
          <p:cNvPr id="10" name="Shape 8"/>
          <p:cNvSpPr/>
          <p:nvPr/>
        </p:nvSpPr>
        <p:spPr>
          <a:xfrm>
            <a:off x="678775" y="2686883"/>
            <a:ext cx="13272849" cy="858917"/>
          </a:xfrm>
          <a:prstGeom prst="rect">
            <a:avLst/>
          </a:prstGeom>
          <a:solidFill>
            <a:srgbClr val="000000">
              <a:alpha val="4000"/>
            </a:srgbClr>
          </a:solidFill>
          <a:ln/>
        </p:spPr>
        <p:txBody>
          <a:bodyPr/>
          <a:lstStyle/>
          <a:p>
            <a:endParaRPr lang="en-US">
              <a:latin typeface="Nunito Sans" pitchFamily="2" charset="0"/>
            </a:endParaRPr>
          </a:p>
        </p:txBody>
      </p:sp>
      <p:sp>
        <p:nvSpPr>
          <p:cNvPr id="11" name="Text 9"/>
          <p:cNvSpPr/>
          <p:nvPr/>
        </p:nvSpPr>
        <p:spPr>
          <a:xfrm>
            <a:off x="870704" y="2809518"/>
            <a:ext cx="2930962"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1: Initiation &amp; Literature Review</a:t>
            </a:r>
            <a:endParaRPr lang="en-US" sz="1500" dirty="0">
              <a:latin typeface="Nunito Sans" pitchFamily="2" charset="0"/>
            </a:endParaRPr>
          </a:p>
        </p:txBody>
      </p:sp>
      <p:sp>
        <p:nvSpPr>
          <p:cNvPr id="12" name="Text 10"/>
          <p:cNvSpPr/>
          <p:nvPr/>
        </p:nvSpPr>
        <p:spPr>
          <a:xfrm>
            <a:off x="4192667" y="2809518"/>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Define problem, scope, objectives, and conduct literature review.</a:t>
            </a:r>
            <a:endParaRPr lang="en-US" sz="1500" dirty="0">
              <a:latin typeface="Nunito Sans" pitchFamily="2" charset="0"/>
            </a:endParaRPr>
          </a:p>
        </p:txBody>
      </p:sp>
      <p:sp>
        <p:nvSpPr>
          <p:cNvPr id="13" name="Text 11"/>
          <p:cNvSpPr/>
          <p:nvPr/>
        </p:nvSpPr>
        <p:spPr>
          <a:xfrm>
            <a:off x="8838128" y="2809518"/>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1-2</a:t>
            </a:r>
            <a:endParaRPr lang="en-US" sz="1500" dirty="0">
              <a:latin typeface="Nunito Sans" pitchFamily="2" charset="0"/>
            </a:endParaRPr>
          </a:p>
        </p:txBody>
      </p:sp>
      <p:sp>
        <p:nvSpPr>
          <p:cNvPr id="14" name="Text 12"/>
          <p:cNvSpPr/>
          <p:nvPr/>
        </p:nvSpPr>
        <p:spPr>
          <a:xfrm>
            <a:off x="10828973" y="2809518"/>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15" name="Shape 13"/>
          <p:cNvSpPr/>
          <p:nvPr/>
        </p:nvSpPr>
        <p:spPr>
          <a:xfrm>
            <a:off x="678775" y="3545800"/>
            <a:ext cx="13272849" cy="858917"/>
          </a:xfrm>
          <a:prstGeom prst="rect">
            <a:avLst/>
          </a:prstGeom>
          <a:solidFill>
            <a:srgbClr val="FFFFFF">
              <a:alpha val="4000"/>
            </a:srgbClr>
          </a:solidFill>
          <a:ln/>
        </p:spPr>
        <p:txBody>
          <a:bodyPr/>
          <a:lstStyle/>
          <a:p>
            <a:endParaRPr lang="en-US">
              <a:latin typeface="Nunito Sans" pitchFamily="2" charset="0"/>
            </a:endParaRPr>
          </a:p>
        </p:txBody>
      </p:sp>
      <p:sp>
        <p:nvSpPr>
          <p:cNvPr id="16" name="Text 14"/>
          <p:cNvSpPr/>
          <p:nvPr/>
        </p:nvSpPr>
        <p:spPr>
          <a:xfrm>
            <a:off x="870704" y="3668435"/>
            <a:ext cx="2930962"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2: Data Acquisition &amp; Preprocessing</a:t>
            </a:r>
            <a:endParaRPr lang="en-US" sz="1500" dirty="0">
              <a:latin typeface="Nunito Sans" pitchFamily="2" charset="0"/>
            </a:endParaRPr>
          </a:p>
        </p:txBody>
      </p:sp>
      <p:sp>
        <p:nvSpPr>
          <p:cNvPr id="17" name="Text 15"/>
          <p:cNvSpPr/>
          <p:nvPr/>
        </p:nvSpPr>
        <p:spPr>
          <a:xfrm>
            <a:off x="4192667" y="3668435"/>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Gather datasets, implement preprocessing pipelines, and perform feature extraction.</a:t>
            </a:r>
            <a:endParaRPr lang="en-US" sz="1500" dirty="0">
              <a:latin typeface="Nunito Sans" pitchFamily="2" charset="0"/>
            </a:endParaRPr>
          </a:p>
        </p:txBody>
      </p:sp>
      <p:sp>
        <p:nvSpPr>
          <p:cNvPr id="18" name="Text 16"/>
          <p:cNvSpPr/>
          <p:nvPr/>
        </p:nvSpPr>
        <p:spPr>
          <a:xfrm>
            <a:off x="8838128" y="3668435"/>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3-5</a:t>
            </a:r>
            <a:endParaRPr lang="en-US" sz="1500" dirty="0">
              <a:latin typeface="Nunito Sans" pitchFamily="2" charset="0"/>
            </a:endParaRPr>
          </a:p>
        </p:txBody>
      </p:sp>
      <p:sp>
        <p:nvSpPr>
          <p:cNvPr id="19" name="Text 17"/>
          <p:cNvSpPr/>
          <p:nvPr/>
        </p:nvSpPr>
        <p:spPr>
          <a:xfrm>
            <a:off x="10828973" y="3668435"/>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20" name="Shape 18"/>
          <p:cNvSpPr/>
          <p:nvPr/>
        </p:nvSpPr>
        <p:spPr>
          <a:xfrm>
            <a:off x="678775" y="4404717"/>
            <a:ext cx="13272849" cy="858917"/>
          </a:xfrm>
          <a:prstGeom prst="rect">
            <a:avLst/>
          </a:prstGeom>
          <a:solidFill>
            <a:srgbClr val="000000">
              <a:alpha val="4000"/>
            </a:srgbClr>
          </a:solidFill>
          <a:ln/>
        </p:spPr>
        <p:txBody>
          <a:bodyPr/>
          <a:lstStyle/>
          <a:p>
            <a:endParaRPr lang="en-US">
              <a:latin typeface="Nunito Sans" pitchFamily="2" charset="0"/>
            </a:endParaRPr>
          </a:p>
        </p:txBody>
      </p:sp>
      <p:sp>
        <p:nvSpPr>
          <p:cNvPr id="21" name="Text 19"/>
          <p:cNvSpPr/>
          <p:nvPr/>
        </p:nvSpPr>
        <p:spPr>
          <a:xfrm>
            <a:off x="870704" y="4527352"/>
            <a:ext cx="2930962"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3: Model Development &amp; Training</a:t>
            </a:r>
            <a:endParaRPr lang="en-US" sz="1500" dirty="0">
              <a:latin typeface="Nunito Sans" pitchFamily="2" charset="0"/>
            </a:endParaRPr>
          </a:p>
        </p:txBody>
      </p:sp>
      <p:sp>
        <p:nvSpPr>
          <p:cNvPr id="22" name="Text 20"/>
          <p:cNvSpPr/>
          <p:nvPr/>
        </p:nvSpPr>
        <p:spPr>
          <a:xfrm>
            <a:off x="4192667" y="4527352"/>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Select &amp; implement ML algorithms, develop models, train &amp; validate.</a:t>
            </a:r>
            <a:endParaRPr lang="en-US" sz="1500" dirty="0">
              <a:latin typeface="Nunito Sans" pitchFamily="2" charset="0"/>
            </a:endParaRPr>
          </a:p>
        </p:txBody>
      </p:sp>
      <p:sp>
        <p:nvSpPr>
          <p:cNvPr id="23" name="Text 21"/>
          <p:cNvSpPr/>
          <p:nvPr/>
        </p:nvSpPr>
        <p:spPr>
          <a:xfrm>
            <a:off x="8838128" y="4527352"/>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6-9</a:t>
            </a:r>
            <a:endParaRPr lang="en-US" sz="1500" dirty="0">
              <a:latin typeface="Nunito Sans" pitchFamily="2" charset="0"/>
            </a:endParaRPr>
          </a:p>
        </p:txBody>
      </p:sp>
      <p:sp>
        <p:nvSpPr>
          <p:cNvPr id="24" name="Text 22"/>
          <p:cNvSpPr/>
          <p:nvPr/>
        </p:nvSpPr>
        <p:spPr>
          <a:xfrm>
            <a:off x="10828973" y="4527352"/>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25" name="Shape 23"/>
          <p:cNvSpPr/>
          <p:nvPr/>
        </p:nvSpPr>
        <p:spPr>
          <a:xfrm>
            <a:off x="678775" y="5263634"/>
            <a:ext cx="13272849" cy="858917"/>
          </a:xfrm>
          <a:prstGeom prst="rect">
            <a:avLst/>
          </a:prstGeom>
          <a:solidFill>
            <a:srgbClr val="FFFFFF">
              <a:alpha val="4000"/>
            </a:srgbClr>
          </a:solidFill>
          <a:ln/>
        </p:spPr>
        <p:txBody>
          <a:bodyPr/>
          <a:lstStyle/>
          <a:p>
            <a:endParaRPr lang="en-US">
              <a:latin typeface="Nunito Sans" pitchFamily="2" charset="0"/>
            </a:endParaRPr>
          </a:p>
        </p:txBody>
      </p:sp>
      <p:sp>
        <p:nvSpPr>
          <p:cNvPr id="26" name="Text 24"/>
          <p:cNvSpPr/>
          <p:nvPr/>
        </p:nvSpPr>
        <p:spPr>
          <a:xfrm>
            <a:off x="870704" y="5386268"/>
            <a:ext cx="2930962"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4: Testing &amp; Optimization</a:t>
            </a:r>
            <a:endParaRPr lang="en-US" sz="1500" dirty="0">
              <a:latin typeface="Nunito Sans" pitchFamily="2" charset="0"/>
            </a:endParaRPr>
          </a:p>
        </p:txBody>
      </p:sp>
      <p:sp>
        <p:nvSpPr>
          <p:cNvPr id="27" name="Text 25"/>
          <p:cNvSpPr/>
          <p:nvPr/>
        </p:nvSpPr>
        <p:spPr>
          <a:xfrm>
            <a:off x="4192667" y="5386268"/>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Evaluate model performance, fine-tune hyperparameters, and optimize.</a:t>
            </a:r>
            <a:endParaRPr lang="en-US" sz="1500" dirty="0">
              <a:latin typeface="Nunito Sans" pitchFamily="2" charset="0"/>
            </a:endParaRPr>
          </a:p>
        </p:txBody>
      </p:sp>
      <p:sp>
        <p:nvSpPr>
          <p:cNvPr id="28" name="Text 26"/>
          <p:cNvSpPr/>
          <p:nvPr/>
        </p:nvSpPr>
        <p:spPr>
          <a:xfrm>
            <a:off x="8838128" y="5386268"/>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10-12</a:t>
            </a:r>
            <a:endParaRPr lang="en-US" sz="1500" dirty="0">
              <a:latin typeface="Nunito Sans" pitchFamily="2" charset="0"/>
            </a:endParaRPr>
          </a:p>
        </p:txBody>
      </p:sp>
      <p:sp>
        <p:nvSpPr>
          <p:cNvPr id="29" name="Text 27"/>
          <p:cNvSpPr/>
          <p:nvPr/>
        </p:nvSpPr>
        <p:spPr>
          <a:xfrm>
            <a:off x="10828973" y="5386268"/>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30" name="Shape 28"/>
          <p:cNvSpPr/>
          <p:nvPr/>
        </p:nvSpPr>
        <p:spPr>
          <a:xfrm>
            <a:off x="678775" y="6122551"/>
            <a:ext cx="13272849" cy="858917"/>
          </a:xfrm>
          <a:prstGeom prst="rect">
            <a:avLst/>
          </a:prstGeom>
          <a:solidFill>
            <a:srgbClr val="000000">
              <a:alpha val="4000"/>
            </a:srgbClr>
          </a:solidFill>
          <a:ln/>
        </p:spPr>
        <p:txBody>
          <a:bodyPr/>
          <a:lstStyle/>
          <a:p>
            <a:endParaRPr lang="en-US">
              <a:latin typeface="Nunito Sans" pitchFamily="2" charset="0"/>
            </a:endParaRPr>
          </a:p>
        </p:txBody>
      </p:sp>
      <p:sp>
        <p:nvSpPr>
          <p:cNvPr id="31" name="Text 29"/>
          <p:cNvSpPr/>
          <p:nvPr/>
        </p:nvSpPr>
        <p:spPr>
          <a:xfrm>
            <a:off x="870704" y="6245185"/>
            <a:ext cx="2930962"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5: Documentation &amp; Presentation</a:t>
            </a:r>
            <a:endParaRPr lang="en-US" sz="1500" dirty="0">
              <a:latin typeface="Nunito Sans" pitchFamily="2" charset="0"/>
            </a:endParaRPr>
          </a:p>
        </p:txBody>
      </p:sp>
      <p:sp>
        <p:nvSpPr>
          <p:cNvPr id="32" name="Text 30"/>
          <p:cNvSpPr/>
          <p:nvPr/>
        </p:nvSpPr>
        <p:spPr>
          <a:xfrm>
            <a:off x="4192667" y="6245185"/>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Compile research findings, methodologies, results, and prepare presentation.</a:t>
            </a:r>
            <a:endParaRPr lang="en-US" sz="1500" dirty="0">
              <a:latin typeface="Nunito Sans" pitchFamily="2" charset="0"/>
            </a:endParaRPr>
          </a:p>
        </p:txBody>
      </p:sp>
      <p:sp>
        <p:nvSpPr>
          <p:cNvPr id="33" name="Text 31"/>
          <p:cNvSpPr/>
          <p:nvPr/>
        </p:nvSpPr>
        <p:spPr>
          <a:xfrm>
            <a:off x="8838128" y="6245185"/>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13-14</a:t>
            </a:r>
            <a:endParaRPr lang="en-US" sz="1500" dirty="0">
              <a:latin typeface="Nunito Sans" pitchFamily="2" charset="0"/>
            </a:endParaRPr>
          </a:p>
        </p:txBody>
      </p:sp>
      <p:sp>
        <p:nvSpPr>
          <p:cNvPr id="34" name="Text 32"/>
          <p:cNvSpPr/>
          <p:nvPr/>
        </p:nvSpPr>
        <p:spPr>
          <a:xfrm>
            <a:off x="10828973" y="6245185"/>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35" name="Text 33"/>
          <p:cNvSpPr/>
          <p:nvPr/>
        </p:nvSpPr>
        <p:spPr>
          <a:xfrm>
            <a:off x="671155" y="7204710"/>
            <a:ext cx="13288089"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This timeline ensures a methodical approach to each stage, culminating in a robust and well-documented solution for intelligent signal processing.</a:t>
            </a:r>
            <a:endParaRPr lang="en-US" sz="1500" dirty="0">
              <a:latin typeface="Nunito Sans" pitchFamily="2" charset="0"/>
            </a:endParaRPr>
          </a:p>
        </p:txBody>
      </p:sp>
    </p:spTree>
    <p:extLst>
      <p:ext uri="{BB962C8B-B14F-4D97-AF65-F5344CB8AC3E}">
        <p14:creationId xmlns:p14="http://schemas.microsoft.com/office/powerpoint/2010/main" val="1272053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79DE0-9C80-8E84-E6AC-C3A7B367A48E}"/>
              </a:ext>
            </a:extLst>
          </p:cNvPr>
          <p:cNvSpPr txBox="1">
            <a:spLocks/>
          </p:cNvSpPr>
          <p:nvPr/>
        </p:nvSpPr>
        <p:spPr>
          <a:xfrm>
            <a:off x="838200" y="365126"/>
            <a:ext cx="10515600" cy="850358"/>
          </a:xfrm>
          <a:prstGeom prst="rect">
            <a:avLst/>
          </a:prstGeom>
        </p:spPr>
        <p:txBody>
          <a:bodyP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b="1" dirty="0">
                <a:solidFill>
                  <a:srgbClr val="006A60"/>
                </a:solidFill>
                <a:latin typeface="Nunito Sans" pitchFamily="2" charset="0"/>
                <a:ea typeface="Tahoma" panose="020B0604030504040204" pitchFamily="34" charset="0"/>
                <a:cs typeface="Times New Roman" panose="02020603050405020304" pitchFamily="18" charset="0"/>
              </a:rPr>
              <a:t>References</a:t>
            </a:r>
            <a:endParaRPr lang="en-US" sz="5400" dirty="0">
              <a:solidFill>
                <a:srgbClr val="006A60"/>
              </a:solidFill>
              <a:latin typeface="Nunito Sans" pitchFamily="2"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3879EDB-E086-0869-4416-68FE55BD417F}"/>
              </a:ext>
            </a:extLst>
          </p:cNvPr>
          <p:cNvSpPr txBox="1"/>
          <p:nvPr/>
        </p:nvSpPr>
        <p:spPr>
          <a:xfrm>
            <a:off x="0" y="1215484"/>
            <a:ext cx="14630400" cy="8063746"/>
          </a:xfrm>
          <a:prstGeom prst="rect">
            <a:avLst/>
          </a:prstGeom>
          <a:noFill/>
        </p:spPr>
        <p:txBody>
          <a:bodyPr wrap="square">
            <a:spAutoFit/>
          </a:bodyPr>
          <a:lstStyle/>
          <a:p>
            <a:pPr>
              <a:buNone/>
            </a:pPr>
            <a:r>
              <a:rPr lang="en-US" sz="1800" dirty="0">
                <a:effectLst/>
                <a:latin typeface="Nunito Sans" pitchFamily="2" charset="0"/>
              </a:rPr>
              <a:t>[1]: Uganda Communications Commission, “Telephone Subscriptions Rise to 33.2 Million,” </a:t>
            </a:r>
            <a:r>
              <a:rPr lang="en-US" sz="1800" i="1" dirty="0">
                <a:effectLst/>
                <a:latin typeface="Nunito Sans" pitchFamily="2" charset="0"/>
              </a:rPr>
              <a:t>UCC Communications Blog</a:t>
            </a:r>
            <a:r>
              <a:rPr lang="en-US" sz="1800" dirty="0">
                <a:effectLst/>
                <a:latin typeface="Nunito Sans" pitchFamily="2" charset="0"/>
              </a:rPr>
              <a:t>, 9 June 2023, https://uccinfoblog.com/2023/06/09/telephone-subscriptions-rise-to-33-2-million/.</a:t>
            </a:r>
            <a:br>
              <a:rPr lang="en-US" sz="1800" dirty="0">
                <a:effectLst/>
                <a:latin typeface="Nunito Sans" pitchFamily="2" charset="0"/>
              </a:rPr>
            </a:br>
            <a:r>
              <a:rPr lang="en-US" sz="1800" dirty="0">
                <a:effectLst/>
                <a:latin typeface="Nunito Sans" pitchFamily="2" charset="0"/>
              </a:rPr>
              <a:t>[2]: Atomic Energy Council, “Radiofrequency Radiation in Uganda,” 2022, </a:t>
            </a:r>
            <a:r>
              <a:rPr lang="en-US" sz="1800" dirty="0">
                <a:effectLst/>
                <a:latin typeface="Nunito Sans" pitchFamily="2" charset="0"/>
                <a:hlinkClick r:id="rId2"/>
              </a:rPr>
              <a:t>https://www.atomiccouncil.go.ug/non-ionizing-radiation-radiofrequency/</a:t>
            </a:r>
            <a:r>
              <a:rPr lang="en-US" sz="1800" dirty="0">
                <a:effectLst/>
                <a:latin typeface="Nunito Sans" pitchFamily="2" charset="0"/>
              </a:rPr>
              <a:t>.</a:t>
            </a:r>
          </a:p>
          <a:p>
            <a:pPr>
              <a:buNone/>
            </a:pPr>
            <a:r>
              <a:rPr lang="en-US" sz="1800" dirty="0">
                <a:effectLst/>
                <a:latin typeface="Nunito Sans" pitchFamily="2" charset="0"/>
              </a:rPr>
              <a:t>[3] </a:t>
            </a:r>
            <a:r>
              <a:rPr lang="en-US" dirty="0" err="1">
                <a:latin typeface="Nunito Sans" pitchFamily="2" charset="0"/>
              </a:rPr>
              <a:t>ChimpReports</a:t>
            </a:r>
            <a:r>
              <a:rPr lang="en-US" dirty="0">
                <a:latin typeface="Nunito Sans" pitchFamily="2" charset="0"/>
              </a:rPr>
              <a:t>, "Uganda’s Internet users hit 13 million," *</a:t>
            </a:r>
            <a:r>
              <a:rPr lang="en-US" dirty="0" err="1">
                <a:latin typeface="Nunito Sans" pitchFamily="2" charset="0"/>
              </a:rPr>
              <a:t>ChimpReports</a:t>
            </a:r>
            <a:r>
              <a:rPr lang="en-US" dirty="0">
                <a:latin typeface="Nunito Sans" pitchFamily="2" charset="0"/>
              </a:rPr>
              <a:t> News*, Mar. 25, 2024. [Online]. Available: [https://chimpreports.com/ugandas-internet-users-hit-13-million/]</a:t>
            </a:r>
          </a:p>
          <a:p>
            <a:pPr>
              <a:buNone/>
            </a:pPr>
            <a:r>
              <a:rPr lang="en-US" dirty="0">
                <a:latin typeface="Nunito Sans" pitchFamily="2" charset="0"/>
              </a:rPr>
              <a:t>[4] Uganda Communications Commission, "Access Infrastructure Program: Bridging the  Digital Divide," UCC Blog, Feb. 2024.</a:t>
            </a:r>
            <a:br>
              <a:rPr lang="en-US" sz="1800" dirty="0">
                <a:effectLst/>
                <a:latin typeface="Nunito Sans" pitchFamily="2" charset="0"/>
              </a:rPr>
            </a:br>
            <a:r>
              <a:rPr lang="en-US" sz="1800" dirty="0">
                <a:effectLst/>
                <a:latin typeface="Nunito Sans" pitchFamily="2" charset="0"/>
              </a:rPr>
              <a:t>[6]: Ghana Chamber of Telecommunications, “Mobile Internet Access Still Limited in Africa, Millions Remain Offline,” citing GSMA data, 2024, https://www.telecomschamber.org/industry-news/mobile-internet-access-still-limited-in-africa-millions-remain-offline/.</a:t>
            </a:r>
            <a:br>
              <a:rPr lang="en-US" sz="1800" dirty="0">
                <a:effectLst/>
                <a:latin typeface="Nunito Sans" pitchFamily="2" charset="0"/>
              </a:rPr>
            </a:br>
            <a:r>
              <a:rPr lang="en-US" sz="1800" dirty="0">
                <a:effectLst/>
                <a:latin typeface="Nunito Sans" pitchFamily="2" charset="0"/>
              </a:rPr>
              <a:t>[7]: Uganda Communications Commission, “UCC cracks down on illegal and non-compliant broadcasters,” 21 October 2024, https://www.ucc.co.ug/ucc-cracks-down-on-illegal-and-non-compliant-broadcasters/.</a:t>
            </a:r>
            <a:br>
              <a:rPr lang="en-US" sz="1800" dirty="0">
                <a:effectLst/>
                <a:latin typeface="Nunito Sans" pitchFamily="2" charset="0"/>
              </a:rPr>
            </a:br>
            <a:r>
              <a:rPr lang="en-US" sz="1800" dirty="0">
                <a:effectLst/>
                <a:latin typeface="Nunito Sans" pitchFamily="2" charset="0"/>
              </a:rPr>
              <a:t>[8]: Xiaolin Zhang et al., “Dual Residual Denoising Autoencoder with Channel Attention Mechanism for Modulation of Signals,” </a:t>
            </a:r>
            <a:r>
              <a:rPr lang="en-US" sz="1800" i="1" dirty="0">
                <a:effectLst/>
                <a:latin typeface="Nunito Sans" pitchFamily="2" charset="0"/>
              </a:rPr>
              <a:t>Sensors</a:t>
            </a:r>
            <a:r>
              <a:rPr lang="en-US" sz="1800" dirty="0">
                <a:effectLst/>
                <a:latin typeface="Nunito Sans" pitchFamily="2" charset="0"/>
              </a:rPr>
              <a:t> 23, no. 1023 (2023), https://pmc.ncbi.nlm.nih.gov/articles/PMC9861137/.</a:t>
            </a:r>
            <a:br>
              <a:rPr lang="en-US" sz="1800" dirty="0">
                <a:effectLst/>
                <a:latin typeface="Nunito Sans" pitchFamily="2" charset="0"/>
              </a:rPr>
            </a:br>
            <a:r>
              <a:rPr lang="en-US" sz="1800" dirty="0">
                <a:effectLst/>
                <a:latin typeface="Nunito Sans" pitchFamily="2" charset="0"/>
              </a:rPr>
              <a:t>[9]: </a:t>
            </a:r>
            <a:r>
              <a:rPr lang="en-US" sz="1800" i="1" dirty="0">
                <a:effectLst/>
                <a:latin typeface="Nunito Sans" pitchFamily="2" charset="0"/>
              </a:rPr>
              <a:t>Low SNR, Interference &amp; Illegal Transmissions in Uganda’s Wireless Networks</a:t>
            </a:r>
            <a:r>
              <a:rPr lang="en-US" sz="1800" dirty="0">
                <a:effectLst/>
                <a:latin typeface="Nunito Sans" pitchFamily="2" charset="0"/>
              </a:rPr>
              <a:t>, internal research brief, 2025 (synthesizing UCC QoS surveys and enforcement bulletins).</a:t>
            </a:r>
            <a:br>
              <a:rPr lang="en-US" sz="1800" dirty="0">
                <a:effectLst/>
                <a:latin typeface="Nunito Sans" pitchFamily="2" charset="0"/>
              </a:rPr>
            </a:br>
            <a:r>
              <a:rPr lang="en-US" sz="1800" dirty="0">
                <a:effectLst/>
                <a:latin typeface="Nunito Sans" pitchFamily="2" charset="0"/>
              </a:rPr>
              <a:t>[10]: </a:t>
            </a:r>
            <a:r>
              <a:rPr lang="en-US" sz="1800" i="1" dirty="0">
                <a:effectLst/>
                <a:latin typeface="Nunito Sans" pitchFamily="2" charset="0"/>
              </a:rPr>
              <a:t>Quantifying the Impact of Low SNR and Interference on Wireless Service Resilience</a:t>
            </a:r>
            <a:r>
              <a:rPr lang="en-US" sz="1800" dirty="0">
                <a:effectLst/>
                <a:latin typeface="Nunito Sans" pitchFamily="2" charset="0"/>
              </a:rPr>
              <a:t>, internal research brief, 2025 (summarizing NDPIII/NBP mandates and AMC accuracy benchmarks).</a:t>
            </a:r>
            <a:br>
              <a:rPr lang="en-US" sz="1800" dirty="0">
                <a:effectLst/>
                <a:latin typeface="Nunito Sans" pitchFamily="2" charset="0"/>
              </a:rPr>
            </a:br>
            <a:r>
              <a:rPr lang="en-US" sz="1800" dirty="0">
                <a:effectLst/>
                <a:latin typeface="Nunito Sans" pitchFamily="2" charset="0"/>
              </a:rPr>
              <a:t>[11]: RF Signal Data, Kaggle, accessed 2025, https://www.kaggle.com/datasets/suraj520/rf-signal-data.</a:t>
            </a:r>
            <a:br>
              <a:rPr lang="en-US" sz="1800" dirty="0">
                <a:effectLst/>
                <a:latin typeface="Nunito Sans" pitchFamily="2" charset="0"/>
              </a:rPr>
            </a:br>
            <a:r>
              <a:rPr lang="en-US" sz="1800" dirty="0">
                <a:effectLst/>
                <a:latin typeface="Nunito Sans" pitchFamily="2" charset="0"/>
              </a:rPr>
              <a:t>[12]: </a:t>
            </a:r>
            <a:r>
              <a:rPr lang="en-US" sz="1800" dirty="0" err="1">
                <a:effectLst/>
                <a:latin typeface="Nunito Sans" pitchFamily="2" charset="0"/>
              </a:rPr>
              <a:t>DeepSig</a:t>
            </a:r>
            <a:r>
              <a:rPr lang="en-US" sz="1800" dirty="0">
                <a:effectLst/>
                <a:latin typeface="Nunito Sans" pitchFamily="2" charset="0"/>
              </a:rPr>
              <a:t> Dataset: </a:t>
            </a:r>
            <a:r>
              <a:rPr lang="en-US" sz="1800" dirty="0" err="1">
                <a:effectLst/>
                <a:latin typeface="Nunito Sans" pitchFamily="2" charset="0"/>
              </a:rPr>
              <a:t>RadioML</a:t>
            </a:r>
            <a:r>
              <a:rPr lang="en-US" sz="1800" dirty="0">
                <a:effectLst/>
                <a:latin typeface="Nunito Sans" pitchFamily="2" charset="0"/>
              </a:rPr>
              <a:t> 2018.01A, Kaggle, accessed 2025, https://www.kaggle.com/datasets/pinxau1000/radioml2018.</a:t>
            </a:r>
            <a:br>
              <a:rPr lang="en-US" sz="1800" dirty="0">
                <a:effectLst/>
                <a:latin typeface="Nunito Sans" pitchFamily="2" charset="0"/>
              </a:rPr>
            </a:br>
            <a:r>
              <a:rPr lang="en-US" sz="1800" dirty="0">
                <a:effectLst/>
                <a:latin typeface="Nunito Sans" pitchFamily="2" charset="0"/>
              </a:rPr>
              <a:t>[13]: Ramiro Utrilla, “MIGOU-MOD: A dataset of modulated radio signals acquired with MIGOU, a low-power IoT experimental platform,” Mendeley Data V1, 2020, https://data.mendeley.com/datasets/fkwr8mzndr/1.</a:t>
            </a:r>
            <a:br>
              <a:rPr lang="en-US" sz="1800" dirty="0">
                <a:effectLst/>
                <a:latin typeface="Nunito Sans" pitchFamily="2" charset="0"/>
              </a:rPr>
            </a:br>
            <a:r>
              <a:rPr lang="en-US" sz="1800" dirty="0">
                <a:effectLst/>
                <a:latin typeface="Nunito Sans" pitchFamily="2" charset="0"/>
              </a:rPr>
              <a:t>[14]: </a:t>
            </a:r>
            <a:r>
              <a:rPr lang="en-US" sz="1800" dirty="0" err="1">
                <a:effectLst/>
                <a:latin typeface="Nunito Sans" pitchFamily="2" charset="0"/>
              </a:rPr>
              <a:t>DeepSig</a:t>
            </a:r>
            <a:r>
              <a:rPr lang="en-US" sz="1800" dirty="0">
                <a:effectLst/>
                <a:latin typeface="Nunito Sans" pitchFamily="2" charset="0"/>
              </a:rPr>
              <a:t>, “</a:t>
            </a:r>
            <a:r>
              <a:rPr lang="en-US" sz="1800" dirty="0" err="1">
                <a:effectLst/>
                <a:latin typeface="Nunito Sans" pitchFamily="2" charset="0"/>
              </a:rPr>
              <a:t>RadioML</a:t>
            </a:r>
            <a:r>
              <a:rPr lang="en-US" sz="1800" dirty="0">
                <a:effectLst/>
                <a:latin typeface="Nunito Sans" pitchFamily="2" charset="0"/>
              </a:rPr>
              <a:t> 2016.10A Dataset,” https://www.deepsig.ai/datasets/, accessed 2025.</a:t>
            </a:r>
            <a:br>
              <a:rPr lang="en-US" sz="1800" dirty="0">
                <a:effectLst/>
                <a:latin typeface="Nunito Sans" pitchFamily="2" charset="0"/>
              </a:rPr>
            </a:br>
            <a:r>
              <a:rPr lang="en-US" sz="1800" dirty="0">
                <a:effectLst/>
                <a:latin typeface="Nunito Sans" pitchFamily="2" charset="0"/>
              </a:rPr>
              <a:t>[15]: O. F. Abd-Elaziz, A. M. El-Ghandour, and F. H. Ismail, “Deep Learning-Based Automatic Modulation Classification Using Robust CNN Architecture for Cognitive Radio Networks,” </a:t>
            </a:r>
            <a:r>
              <a:rPr lang="en-US" sz="1800" i="1" dirty="0">
                <a:effectLst/>
                <a:latin typeface="Nunito Sans" pitchFamily="2" charset="0"/>
              </a:rPr>
              <a:t>Sensors</a:t>
            </a:r>
            <a:r>
              <a:rPr lang="en-US" sz="1800" dirty="0">
                <a:effectLst/>
                <a:latin typeface="Nunito Sans" pitchFamily="2" charset="0"/>
              </a:rPr>
              <a:t>, vol. 23, no. 23, 2023, Art. 9467, doi:10.3390/s23239467.</a:t>
            </a:r>
            <a:br>
              <a:rPr lang="en-US" sz="1800" dirty="0">
                <a:effectLst/>
                <a:latin typeface="Nunito Sans" pitchFamily="2" charset="0"/>
              </a:rPr>
            </a:br>
            <a:r>
              <a:rPr lang="en-US" sz="1800" dirty="0">
                <a:effectLst/>
                <a:latin typeface="Nunito Sans" pitchFamily="2" charset="0"/>
              </a:rPr>
              <a:t>[16]: J. Gao, Z. Zhang, and Y. Zhang, “</a:t>
            </a:r>
            <a:r>
              <a:rPr lang="en-US" sz="1800" dirty="0" err="1">
                <a:effectLst/>
                <a:latin typeface="Nunito Sans" pitchFamily="2" charset="0"/>
              </a:rPr>
              <a:t>MoE</a:t>
            </a:r>
            <a:r>
              <a:rPr lang="en-US" sz="1800" dirty="0">
                <a:effectLst/>
                <a:latin typeface="Nunito Sans" pitchFamily="2" charset="0"/>
              </a:rPr>
              <a:t>-AMC: Enhancing Automatic Modulation Classification Performance Using Mixture-of-Experts,” </a:t>
            </a:r>
            <a:r>
              <a:rPr lang="en-US" sz="1800" i="1" dirty="0" err="1">
                <a:effectLst/>
                <a:latin typeface="Nunito Sans" pitchFamily="2" charset="0"/>
              </a:rPr>
              <a:t>arXiv</a:t>
            </a:r>
            <a:r>
              <a:rPr lang="en-US" sz="1800" i="1" dirty="0">
                <a:effectLst/>
                <a:latin typeface="Nunito Sans" pitchFamily="2" charset="0"/>
              </a:rPr>
              <a:t> preprint</a:t>
            </a:r>
            <a:r>
              <a:rPr lang="en-US" sz="1800" dirty="0">
                <a:effectLst/>
                <a:latin typeface="Nunito Sans" pitchFamily="2" charset="0"/>
              </a:rPr>
              <a:t>, 2023, </a:t>
            </a:r>
            <a:r>
              <a:rPr lang="en-US" sz="1800" dirty="0">
                <a:effectLst/>
                <a:latin typeface="Nunito Sans" pitchFamily="2" charset="0"/>
                <a:hlinkClick r:id="rId3"/>
              </a:rPr>
              <a:t>https://arxiv.org/abs/2312.02298</a:t>
            </a:r>
            <a:r>
              <a:rPr lang="en-US" sz="1800" dirty="0">
                <a:effectLst/>
                <a:latin typeface="Nunito Sans" pitchFamily="2" charset="0"/>
              </a:rPr>
              <a:t>.</a:t>
            </a:r>
          </a:p>
          <a:p>
            <a:pPr>
              <a:buNone/>
            </a:pPr>
            <a:br>
              <a:rPr lang="en-US" sz="1800" dirty="0">
                <a:effectLst/>
                <a:latin typeface="Nunito Sans" pitchFamily="2" charset="0"/>
              </a:rPr>
            </a:br>
            <a:endParaRPr lang="en-US" sz="1400" dirty="0">
              <a:effectLst/>
              <a:latin typeface="Nunito Sans" pitchFamily="2" charset="0"/>
            </a:endParaRPr>
          </a:p>
        </p:txBody>
      </p:sp>
    </p:spTree>
    <p:extLst>
      <p:ext uri="{BB962C8B-B14F-4D97-AF65-F5344CB8AC3E}">
        <p14:creationId xmlns:p14="http://schemas.microsoft.com/office/powerpoint/2010/main" val="3800507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A292E-11E8-E59F-DADE-1B940CBAFC5E}"/>
              </a:ext>
            </a:extLst>
          </p:cNvPr>
          <p:cNvSpPr txBox="1">
            <a:spLocks/>
          </p:cNvSpPr>
          <p:nvPr/>
        </p:nvSpPr>
        <p:spPr>
          <a:xfrm>
            <a:off x="1584960" y="3108326"/>
            <a:ext cx="12603480" cy="4496434"/>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9600" b="1" dirty="0">
                <a:solidFill>
                  <a:srgbClr val="006A60"/>
                </a:solidFill>
                <a:latin typeface="Nunito Sans" pitchFamily="2" charset="0"/>
                <a:ea typeface="Tahoma" panose="020B0604030504040204" pitchFamily="34" charset="0"/>
                <a:cs typeface="Times New Roman" panose="02020603050405020304" pitchFamily="18" charset="0"/>
              </a:rPr>
              <a:t>Thanx for Listening</a:t>
            </a:r>
            <a:endParaRPr lang="en-US" sz="9600" dirty="0">
              <a:solidFill>
                <a:srgbClr val="006A60"/>
              </a:solidFill>
              <a:latin typeface="Nunito Sans" pitchFamily="2"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62537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636</TotalTime>
  <Words>2683</Words>
  <Application>Microsoft Office PowerPoint</Application>
  <PresentationFormat>Custom</PresentationFormat>
  <Paragraphs>237</Paragraphs>
  <Slides>21</Slides>
  <Notes>19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Nunito Sans Bold</vt:lpstr>
      <vt:lpstr>Arial</vt:lpstr>
      <vt:lpstr>Nunito Sans Light</vt:lpstr>
      <vt:lpstr>Nunito Sans</vt:lpstr>
      <vt:lpstr>Nunito</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Sharif Ssemujju</dc:creator>
  <cp:lastModifiedBy>Sharif Semujju</cp:lastModifiedBy>
  <cp:revision>10</cp:revision>
  <dcterms:created xsi:type="dcterms:W3CDTF">2025-11-24T04:15:22Z</dcterms:created>
  <dcterms:modified xsi:type="dcterms:W3CDTF">2026-03-16T16:48:45Z</dcterms:modified>
</cp:coreProperties>
</file>