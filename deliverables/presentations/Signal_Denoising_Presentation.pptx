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51290" y="820341"/>
            <a:ext cx="42412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KYAMBOGO UNIVERSITY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451290" y="1159371"/>
            <a:ext cx="42412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225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Electrical and Electronics Engineering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451290" y="1591717"/>
            <a:ext cx="4241271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Aft>
                <a:spcPts val="9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Denoising and Intelligent</a:t>
            </a:r>
            <a:endParaRPr lang="en-US" sz="2400" dirty="0"/>
          </a:p>
          <a:p>
            <a:pPr algn="ctr" indent="0" marL="0">
              <a:lnSpc>
                <a:spcPts val="3120"/>
              </a:lnSpc>
              <a:spcAft>
                <a:spcPts val="9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Modulation Classification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451290" y="2498378"/>
            <a:ext cx="424127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350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Machine Learning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39157" y="3119289"/>
            <a:ext cx="4065389" cy="815132"/>
          </a:xfrm>
          <a:prstGeom prst="roundRect">
            <a:avLst>
              <a:gd name="adj" fmla="val 934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20157" y="3347889"/>
            <a:ext cx="1644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Ssemujju Sharif Abdukarim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920157" y="3559225"/>
            <a:ext cx="1644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18/U/ETD/181/GV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104061" y="3347889"/>
            <a:ext cx="114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Kisige Tom Derrick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104061" y="3559225"/>
            <a:ext cx="1141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22/U/ETD/0953/GV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451290" y="4163020"/>
            <a:ext cx="42412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</a:t>
            </a:r>
            <a:pPr algn="ctr" indent="0" marL="0">
              <a:lnSpc>
                <a:spcPts val="1260"/>
              </a:lnSpc>
              <a:spcBef>
                <a:spcPts val="18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DC04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Dickson Mugerwa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Outline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81000" y="16383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685032"/>
            <a:ext cx="6741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20002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046982"/>
            <a:ext cx="108115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81000" y="23622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2408932"/>
            <a:ext cx="5897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27241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2000" y="2770882"/>
            <a:ext cx="14954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 &amp; Significance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1000" y="30861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2000" y="3132832"/>
            <a:ext cx="11374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the Project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81000" y="34480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2000" y="3494782"/>
            <a:ext cx="9827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714875" y="16383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95875" y="1685032"/>
            <a:ext cx="7233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14875" y="20002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95875" y="2046982"/>
            <a:ext cx="117967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Equipment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714875" y="23622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95875" y="2408932"/>
            <a:ext cx="8285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Budget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714875" y="27241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95875" y="2770882"/>
            <a:ext cx="8985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14875" y="308610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95875" y="3132832"/>
            <a:ext cx="6249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714875" y="3448050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95875" y="3494782"/>
            <a:ext cx="6459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381000" y="4743450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Project Proposal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50423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Background: Uganda's Mobile Network Challenge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704850"/>
            <a:ext cx="2768650" cy="860971"/>
          </a:xfrm>
          <a:prstGeom prst="roundRect">
            <a:avLst>
              <a:gd name="adj" fmla="val 885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3131" y="876300"/>
            <a:ext cx="255198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9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33.2M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13131" y="1261021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Subscriptions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187750" y="704850"/>
            <a:ext cx="2768650" cy="860971"/>
          </a:xfrm>
          <a:prstGeom prst="roundRect">
            <a:avLst>
              <a:gd name="adj" fmla="val 8850"/>
            </a:avLst>
          </a:prstGeom>
          <a:solidFill>
            <a:srgbClr val="D9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96080" y="876300"/>
            <a:ext cx="255198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296080" y="1261021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Without Internet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70699" y="704850"/>
            <a:ext cx="2768650" cy="860971"/>
          </a:xfrm>
          <a:prstGeom prst="roundRect">
            <a:avLst>
              <a:gd name="adj" fmla="val 8850"/>
            </a:avLst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79030" y="876300"/>
            <a:ext cx="255198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19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179030" y="1261021"/>
            <a:ext cx="25519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 Coverage Only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" y="242128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2411760"/>
            <a:ext cx="70514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Uganda's mobile data traffic has 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doubled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217 million GB (2020) to 421.5 million GB (2022), but network expansion cannot keep up.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4800" y="276418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2754660"/>
            <a:ext cx="58824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areas suffer from 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signals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interference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illegal boosters and unlicensed radio stations.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4800" y="3107085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7200" y="3097560"/>
            <a:ext cx="65065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conditions require 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technology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clean up noisy signals and identify what type of signal is being transmitted.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4114949"/>
            <a:ext cx="8534400" cy="41329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23850" y="4114949"/>
            <a:ext cx="0" cy="413296"/>
          </a:xfrm>
          <a:prstGeom prst="line">
            <a:avLst/>
          </a:prstGeom>
          <a:noFill/>
          <a:ln w="38100">
            <a:solidFill>
              <a:srgbClr val="FCDC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250" y="4248299"/>
            <a:ext cx="8394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UCC needs better tools to monitor the airwaves, catch illegal transmitters, and ensure quality service for all Ugandans.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UCC Communications Report 2022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Background: Our Proposed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1654522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44997"/>
            <a:ext cx="55961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Modulation Classification (AMC)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how regulators identify signal types. This helps catch illegal transmitters interfering with aviation and other services.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4800" y="2187922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D9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2178397"/>
            <a:ext cx="55961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signals are weak and noisy (common in rural Uganda), current AMC systems make many mistakes and cannot identify signals correctly.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04800" y="2721322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2711797"/>
            <a:ext cx="55961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 use a 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Autoencoder (DAE)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 computer program that learns to clean up noisy signals before identifying them.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800" y="3254722"/>
            <a:ext cx="57150" cy="57150"/>
          </a:xfrm>
          <a:prstGeom prst="roundRect">
            <a:avLst>
              <a:gd name="adj" fmla="val 1600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245197"/>
            <a:ext cx="55961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Helps: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removing noise first, we can correctly identify signals even when very weak (-90 dBm). This improves reliability at network edges.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72200" y="593527"/>
            <a:ext cx="2667000" cy="4046041"/>
          </a:xfrm>
          <a:prstGeom prst="roundRect">
            <a:avLst>
              <a:gd name="adj" fmla="val 35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5217" y="784027"/>
            <a:ext cx="1300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OUR SYSTEM WORKS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324600" y="1165027"/>
            <a:ext cx="2362200" cy="361950"/>
          </a:xfrm>
          <a:prstGeom prst="roundRect">
            <a:avLst>
              <a:gd name="adj" fmla="val 13158"/>
            </a:avLst>
          </a:prstGeom>
          <a:solidFill>
            <a:srgbClr val="D9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36995" y="1279327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NOISY SIGNAL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471696" y="1774627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24600" y="2151757"/>
            <a:ext cx="2362200" cy="361950"/>
          </a:xfrm>
          <a:prstGeom prst="roundRect">
            <a:avLst>
              <a:gd name="adj" fmla="val 13158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36995" y="2266057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(DAE)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471696" y="2761357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24600" y="3138488"/>
            <a:ext cx="2362200" cy="361950"/>
          </a:xfrm>
          <a:prstGeom prst="roundRect">
            <a:avLst>
              <a:gd name="adj" fmla="val 13158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36995" y="3252788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(AMC)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471696" y="3748087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24600" y="4125218"/>
            <a:ext cx="2362200" cy="361950"/>
          </a:xfrm>
          <a:prstGeom prst="roundRect">
            <a:avLst>
              <a:gd name="adj" fmla="val 13158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36995" y="4239518"/>
            <a:ext cx="21374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RESULT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DAE-AMC: Denoising Autoencoder + Automatic Modulation Classification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D9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704850"/>
            <a:ext cx="8534400" cy="685800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 w="19050">
            <a:solidFill>
              <a:srgbClr val="D9000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876300"/>
            <a:ext cx="84330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Uganda's mobile networks are being pushed to their limits. In rural areas, signals are often 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weak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(around -90 dBm) and suffer from 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interference</a:t>
            </a:r>
            <a:pPr algn="l" indent="0" marL="0">
              <a:lnSpc>
                <a:spcPts val="13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makes it difficult for regulators to monitor the airwaves.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4800" y="2174677"/>
            <a:ext cx="2768650" cy="1118146"/>
          </a:xfrm>
          <a:prstGeom prst="roundRect">
            <a:avLst>
              <a:gd name="adj" fmla="val 511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9100" y="2327077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9100" y="2593777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Illegal Signal Boosters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19100" y="2873722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boosters cause massive interference. UCC found 70% of call failures in some areas are from illegal devices.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187750" y="2174677"/>
            <a:ext cx="2768650" cy="1118146"/>
          </a:xfrm>
          <a:prstGeom prst="roundRect">
            <a:avLst>
              <a:gd name="adj" fmla="val 511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02050" y="2327077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02050" y="2593777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Unlicensed Broadcasters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302050" y="2873722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Bizindaalo (unlicensed FM stations) use cheap equipment creating interference in mobile frequencies.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70699" y="2174677"/>
            <a:ext cx="2768650" cy="1118146"/>
          </a:xfrm>
          <a:prstGeom prst="roundRect">
            <a:avLst>
              <a:gd name="adj" fmla="val 511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4999" y="2327077"/>
            <a:ext cx="25908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D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84999" y="2593777"/>
            <a:ext cx="25908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Tools Fail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184999" y="2873722"/>
            <a:ext cx="25908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classification systems achieve only 72% accuracy in noisy conditions - not enough for reliable monitoring.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04800" y="4076849"/>
            <a:ext cx="8534400" cy="451396"/>
          </a:xfrm>
          <a:prstGeom prst="roundRect">
            <a:avLst>
              <a:gd name="adj" fmla="val 12661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9100" y="4229249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</a:t>
            </a:r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Without better tools to identify signals in noisy environments, UCC cannot catch illegal transmitters and operators cannot diagnose rural network problems.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UCC Quality of Service Audits, 2019-2024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Objective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43484" y="1515517"/>
            <a:ext cx="6256883" cy="2297162"/>
          </a:xfrm>
          <a:prstGeom prst="roundRect">
            <a:avLst>
              <a:gd name="adj" fmla="val 4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57150" dir="5400000">
              <a:srgbClr val="000000">
                <a:alpha val="1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91811" y="1782217"/>
            <a:ext cx="57602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91811" y="2029867"/>
            <a:ext cx="57602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design, build, and test a 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signal processing system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combines: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38463" y="2395538"/>
            <a:ext cx="1558826" cy="622846"/>
          </a:xfrm>
          <a:prstGeom prst="roundRect">
            <a:avLst>
              <a:gd name="adj" fmla="val 91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17184" y="2547938"/>
            <a:ext cx="12013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Autoencoder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3117184" y="2732633"/>
            <a:ext cx="12013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 noisy signals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648575" y="2573536"/>
            <a:ext cx="113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13412" y="2395538"/>
            <a:ext cx="1291828" cy="622846"/>
          </a:xfrm>
          <a:prstGeom prst="roundRect">
            <a:avLst>
              <a:gd name="adj" fmla="val 917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94803" y="2547938"/>
            <a:ext cx="9290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AMC Classifier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5094803" y="2732633"/>
            <a:ext cx="929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signal types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48284" y="3170783"/>
            <a:ext cx="5647283" cy="413296"/>
          </a:xfrm>
          <a:prstGeom prst="roundRect">
            <a:avLst>
              <a:gd name="adj" fmla="val 13828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847259" y="3304133"/>
            <a:ext cx="54493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accurately identify radio signals even in very noisy, weak-signal conditions found across rural Uganda.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DAE-AMC Pipeline for Low-SNR Environments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Objectives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961281"/>
            <a:ext cx="381000" cy="756196"/>
          </a:xfrm>
          <a:prstGeom prst="roundRect">
            <a:avLst>
              <a:gd name="adj" fmla="val 1500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0100" y="961281"/>
            <a:ext cx="8039100" cy="756196"/>
          </a:xfrm>
          <a:prstGeom prst="roundRect">
            <a:avLst>
              <a:gd name="adj" fmla="val 75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33450" y="1094631"/>
            <a:ext cx="79278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Existing Research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933450" y="1450777"/>
            <a:ext cx="79278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published work on signal classification and noise removal methods that work well in weak signal conditions.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800" y="1812727"/>
            <a:ext cx="381000" cy="756196"/>
          </a:xfrm>
          <a:prstGeom prst="roundRect">
            <a:avLst>
              <a:gd name="adj" fmla="val 1500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0100" y="1812727"/>
            <a:ext cx="8039100" cy="756196"/>
          </a:xfrm>
          <a:prstGeom prst="roundRect">
            <a:avLst>
              <a:gd name="adj" fmla="val 75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33450" y="1946077"/>
            <a:ext cx="79278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Noise Removal System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933450" y="2302222"/>
            <a:ext cx="79278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train a Denoising Autoencoder that takes dirty, noisy signals and reconstructs clean versions - even when signals are very weak.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04800" y="2664172"/>
            <a:ext cx="381000" cy="756196"/>
          </a:xfrm>
          <a:prstGeom prst="roundRect">
            <a:avLst>
              <a:gd name="adj" fmla="val 15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00100" y="2664172"/>
            <a:ext cx="8039100" cy="756196"/>
          </a:xfrm>
          <a:prstGeom prst="roundRect">
            <a:avLst>
              <a:gd name="adj" fmla="val 75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3450" y="2797522"/>
            <a:ext cx="79278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Signal Classifier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933450" y="3153668"/>
            <a:ext cx="79278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machine learning classifier that identifies different radio signal types and measure how well cleaned signals preserve important features.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4800" y="3515618"/>
            <a:ext cx="381000" cy="756196"/>
          </a:xfrm>
          <a:prstGeom prst="roundRect">
            <a:avLst>
              <a:gd name="adj" fmla="val 15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0100" y="3515618"/>
            <a:ext cx="8039100" cy="756196"/>
          </a:xfrm>
          <a:prstGeom prst="roundRect">
            <a:avLst>
              <a:gd name="adj" fmla="val 755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3450" y="3648968"/>
            <a:ext cx="79278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and Compare Performance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933450" y="4005114"/>
            <a:ext cx="79278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our combined DAE-AMC system against standard methods using accuracy scores across different noise levels.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objective builds upon the previous one to create a complete solution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Justification and Significance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704850"/>
            <a:ext cx="4219575" cy="639961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19088" y="704850"/>
            <a:ext cx="0" cy="639961"/>
          </a:xfrm>
          <a:prstGeom prst="line">
            <a:avLst/>
          </a:prstGeom>
          <a:noFill/>
          <a:ln w="28575">
            <a:solidFill>
              <a:srgbClr val="006B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7675" y="819150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UCC Requirements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47675" y="990600"/>
            <a:ext cx="404164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UCC requires resolving 95% of faults within 24 hours. Impossible when current tools only achieve 72% accuracy.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4619625" y="764828"/>
            <a:ext cx="4219575" cy="52000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33913" y="764828"/>
            <a:ext cx="0" cy="520005"/>
          </a:xfrm>
          <a:prstGeom prst="line">
            <a:avLst/>
          </a:prstGeom>
          <a:noFill/>
          <a:ln w="28575">
            <a:solidFill>
              <a:srgbClr val="FCDC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500" y="879128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225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National Policy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62500" y="1050578"/>
            <a:ext cx="40416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Aligns with Uganda's National Development Plan (NDPIII) and National Broadband Policy goals.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04800" y="2237333"/>
            <a:ext cx="2781300" cy="998190"/>
          </a:xfrm>
          <a:prstGeom prst="roundRect">
            <a:avLst>
              <a:gd name="adj" fmla="val 7634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66828" y="2408783"/>
            <a:ext cx="12570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 Surveillance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3004" y="2797373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UCC detect illegal transmitters and remove interference affecting aviation and public safety.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81350" y="2237333"/>
            <a:ext cx="2781300" cy="998190"/>
          </a:xfrm>
          <a:prstGeom prst="roundRect">
            <a:avLst>
              <a:gd name="adj" fmla="val 7634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99128" y="2408783"/>
            <a:ext cx="9457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Broadband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9554" y="2797373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reliable service in weak-signal areas, supporting 30 million Ugandans lacking mobile internet.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57900" y="2237333"/>
            <a:ext cx="2781300" cy="998190"/>
          </a:xfrm>
          <a:prstGeom prst="roundRect">
            <a:avLst>
              <a:gd name="adj" fmla="val 7634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94806" y="2408783"/>
            <a:ext cx="9074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Services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66104" y="2797373"/>
            <a:ext cx="25648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stability for Mobile Money and e-Government services millions of Ugandans depend on.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4800" y="4128195"/>
            <a:ext cx="8534400" cy="400050"/>
          </a:xfrm>
          <a:prstGeom prst="roundRect">
            <a:avLst>
              <a:gd name="adj" fmla="val 14286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150" y="4261545"/>
            <a:ext cx="8433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</a:t>
            </a:r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Our solution replaces old, unreliable methods with intelligent technology that adapts to Uganda's unique interference challenges without needing more radio spectrum.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NDPIII/NBP directives for spectrum-efficient technologies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of the Project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1188839"/>
            <a:ext cx="2781300" cy="1059061"/>
          </a:xfrm>
          <a:prstGeom prst="roundRect">
            <a:avLst>
              <a:gd name="adj" fmla="val 539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284089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1626989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Computer-Based Research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00050" y="1874639"/>
            <a:ext cx="26426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work on computers using existing signal data. No live radio equipment.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181350" y="1248817"/>
            <a:ext cx="2781300" cy="939105"/>
          </a:xfrm>
          <a:prstGeom prst="roundRect">
            <a:avLst>
              <a:gd name="adj" fmla="val 608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76600" y="1344067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76600" y="1686967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Datasets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76600" y="1934617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RadioML 2018.01A and MIGOU-MOD for training and testing.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6057900" y="1188839"/>
            <a:ext cx="2781300" cy="1059061"/>
          </a:xfrm>
          <a:prstGeom prst="roundRect">
            <a:avLst>
              <a:gd name="adj" fmla="val 539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53150" y="1284089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53150" y="1626989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Noise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53150" y="1874639"/>
            <a:ext cx="26426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controlled noise (SNR -12 dB to +18 dB) to mimic real conditions.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04800" y="2343150"/>
            <a:ext cx="2781300" cy="939105"/>
          </a:xfrm>
          <a:prstGeom prst="roundRect">
            <a:avLst>
              <a:gd name="adj" fmla="val 608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24384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0050" y="2781300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0050" y="3028950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DAE and signal classifier using machine learning.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181350" y="2343150"/>
            <a:ext cx="2781300" cy="939105"/>
          </a:xfrm>
          <a:prstGeom prst="roundRect">
            <a:avLst>
              <a:gd name="adj" fmla="val 608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76600" y="24384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76600" y="2781300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Types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76600" y="3028950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BPSK, QPSK, 8PSK, 16QAM, 64QAM, AM, and FM signals.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6057900" y="2343150"/>
            <a:ext cx="2781300" cy="939105"/>
          </a:xfrm>
          <a:prstGeom prst="roundRect">
            <a:avLst>
              <a:gd name="adj" fmla="val 608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53150" y="2438400"/>
            <a:ext cx="266700" cy="266700"/>
          </a:xfrm>
          <a:prstGeom prst="roundRect">
            <a:avLst>
              <a:gd name="adj" fmla="val 14286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53150" y="2781300"/>
            <a:ext cx="26426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53150" y="3028950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weeks covering research, development, testing.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04800" y="3377505"/>
            <a:ext cx="8534400" cy="666750"/>
          </a:xfrm>
          <a:prstGeom prst="roundRect">
            <a:avLst>
              <a:gd name="adj" fmla="val 8571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9100" y="3529905"/>
            <a:ext cx="8471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AND TOOLS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19100" y="3758505"/>
            <a:ext cx="594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OS:</a:t>
            </a:r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Windows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53864" y="3758505"/>
            <a:ext cx="8208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</a:t>
            </a:r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110978" y="3758505"/>
            <a:ext cx="1353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</a:t>
            </a:r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TensorFlow/Keras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590479" y="3758505"/>
            <a:ext cx="999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Dev:</a:t>
            </a:r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Jupyter Notebook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22614" y="3758505"/>
            <a:ext cx="9287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Cloud:</a:t>
            </a:r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Cloud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laboratory environment using publicly available datasets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7350" y="1853654"/>
            <a:ext cx="58293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TWO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55202" y="2230785"/>
            <a:ext cx="36335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57350" y="2840385"/>
            <a:ext cx="582930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researchers have discovered about signal classification and noise removal using machine learning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9937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Shift from Old Methods to Machine Learning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1648867"/>
            <a:ext cx="4171950" cy="546646"/>
          </a:xfrm>
          <a:prstGeom prst="roundRect">
            <a:avLst>
              <a:gd name="adj" fmla="val 10455"/>
            </a:avLst>
          </a:prstGeom>
          <a:solidFill>
            <a:srgbClr val="D9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9098" y="1763167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METHODS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99098" y="1961257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Approach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04800" y="2290763"/>
            <a:ext cx="4171950" cy="1293316"/>
          </a:xfrm>
          <a:prstGeom prst="roundRect">
            <a:avLst>
              <a:gd name="adj" fmla="val 4419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9100" y="2443163"/>
            <a:ext cx="40222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signal classification used </a:t>
            </a:r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formulas</a:t>
            </a:r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hand-designed rules</a:t>
            </a:r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analyse signals.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9100" y="2843213"/>
            <a:ext cx="3943350" cy="626566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2957513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D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LIMITATION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495300" y="3115568"/>
            <a:ext cx="38667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methods </a:t>
            </a:r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completely</a:t>
            </a:r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signals are weak or when there is unexpected interference.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667250" y="1648867"/>
            <a:ext cx="4171950" cy="546646"/>
          </a:xfrm>
          <a:prstGeom prst="roundRect">
            <a:avLst>
              <a:gd name="adj" fmla="val 10455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1548" y="1763167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61548" y="1961257"/>
            <a:ext cx="398335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Standard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4667250" y="2290763"/>
            <a:ext cx="4171950" cy="1293316"/>
          </a:xfrm>
          <a:prstGeom prst="roundRect">
            <a:avLst>
              <a:gd name="adj" fmla="val 4419"/>
            </a:avLst>
          </a:prstGeom>
          <a:solidFill>
            <a:srgbClr val="F0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81550" y="2443163"/>
            <a:ext cx="40222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research uses </a:t>
            </a:r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pPr algn="l" indent="0" marL="0">
              <a:lnSpc>
                <a:spcPts val="11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systems that learn patterns directly from signal data, like the brain learns from experience.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81550" y="2843213"/>
            <a:ext cx="3943350" cy="626566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7750" y="2957513"/>
            <a:ext cx="3866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75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857750" y="3115568"/>
            <a:ext cx="38667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systems can </a:t>
            </a:r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and improve</a:t>
            </a:r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over time, handling different types of interference without reprogramming.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shift motivates our choice of machine learning for the DAE-AMC system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Recent Research Has Achieved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1125587"/>
            <a:ext cx="2781300" cy="966490"/>
          </a:xfrm>
          <a:prstGeom prst="roundRect">
            <a:avLst>
              <a:gd name="adj" fmla="val 591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1258937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Abd-Elaziz et al. (2023)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400050" y="1493193"/>
            <a:ext cx="26426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96.5%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00050" y="1847404"/>
            <a:ext cx="2642616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at 0 dB noise using special CNN with parallel filters.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181350" y="1069925"/>
            <a:ext cx="2781300" cy="1077813"/>
          </a:xfrm>
          <a:prstGeom prst="roundRect">
            <a:avLst>
              <a:gd name="adj" fmla="val 5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76600" y="1203275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Zhang et al. (2023)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276600" y="1437531"/>
            <a:ext cx="26426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71.8%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76600" y="1791742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accuracy using "Mixture of Experts" - 10% better than single models.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6057900" y="1069925"/>
            <a:ext cx="2781300" cy="1077813"/>
          </a:xfrm>
          <a:prstGeom prst="roundRect">
            <a:avLst>
              <a:gd name="adj" fmla="val 5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53150" y="1203275"/>
            <a:ext cx="26426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Jagannath et al. (2022)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6153150" y="1437531"/>
            <a:ext cx="26426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98%+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53150" y="1791742"/>
            <a:ext cx="264261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tests with actual radio equipment proved lab results transfer.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04800" y="2242989"/>
            <a:ext cx="8534400" cy="1424732"/>
          </a:xfrm>
          <a:prstGeom prst="roundRect">
            <a:avLst>
              <a:gd name="adj" fmla="val 4011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9100" y="2395389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OF DENOISING (Cleaning Signals First)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19100" y="2618184"/>
            <a:ext cx="2692450" cy="935236"/>
          </a:xfrm>
          <a:prstGeom prst="roundRect">
            <a:avLst>
              <a:gd name="adj" fmla="val 407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31925" y="2751534"/>
            <a:ext cx="4667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1808" y="3300115"/>
            <a:ext cx="12268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with Zhang's DAE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225850" y="2618184"/>
            <a:ext cx="2692450" cy="935236"/>
          </a:xfrm>
          <a:prstGeom prst="roundRect">
            <a:avLst>
              <a:gd name="adj" fmla="val 407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241369" y="2751534"/>
            <a:ext cx="66126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77.5%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01327" y="3300115"/>
            <a:ext cx="13413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at -10 dB with DenoMAE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6032599" y="2618184"/>
            <a:ext cx="2692450" cy="935236"/>
          </a:xfrm>
          <a:prstGeom prst="roundRect">
            <a:avLst>
              <a:gd name="adj" fmla="val 407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145424" y="2751534"/>
            <a:ext cx="4667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02651" y="3300115"/>
            <a:ext cx="115219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gain with An and Lee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304800" y="3762970"/>
            <a:ext cx="8534400" cy="400050"/>
          </a:xfrm>
          <a:prstGeom prst="roundRect">
            <a:avLst>
              <a:gd name="adj" fmla="val 14286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0050" y="3896320"/>
            <a:ext cx="85107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Cleaning the signal before classifying dramatically improves accuracy. This justifies our DAE-AMC approach.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IEEE Access, Sensors Journal, arXiv preprints (2022-2025)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23617" y="1975545"/>
            <a:ext cx="52966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THREE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245685" y="2352675"/>
            <a:ext cx="26523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923617" y="2962275"/>
            <a:ext cx="5296617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build and test the noise-cleaning and signal classification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Four-Step Research Approach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1455986"/>
            <a:ext cx="2047875" cy="1219051"/>
          </a:xfrm>
          <a:prstGeom prst="roundRect">
            <a:avLst>
              <a:gd name="adj" fmla="val 6251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1589336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970336"/>
            <a:ext cx="1816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Data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50" y="2263676"/>
            <a:ext cx="18167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signal datasets. Add noise to simulate real-world Uganda conditions.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2466975" y="1455986"/>
            <a:ext cx="2047875" cy="1219051"/>
          </a:xfrm>
          <a:prstGeom prst="roundRect">
            <a:avLst>
              <a:gd name="adj" fmla="val 6251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00325" y="1589336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00325" y="1970336"/>
            <a:ext cx="1816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Noise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00325" y="2263676"/>
            <a:ext cx="18167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controlled noise (-12 to +18 dB) plus fading and frequency errors.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629150" y="1455986"/>
            <a:ext cx="2047875" cy="1219051"/>
          </a:xfrm>
          <a:prstGeom prst="roundRect">
            <a:avLst>
              <a:gd name="adj" fmla="val 6251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2500" y="1589336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0" y="1970336"/>
            <a:ext cx="1816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Models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62500" y="2263676"/>
            <a:ext cx="18167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train the DAE and Classifier both separately and together.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6791325" y="1455986"/>
            <a:ext cx="2047875" cy="1219051"/>
          </a:xfrm>
          <a:prstGeom prst="roundRect">
            <a:avLst>
              <a:gd name="adj" fmla="val 6251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24675" y="1589336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24675" y="1970336"/>
            <a:ext cx="1816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924675" y="2263676"/>
            <a:ext cx="181679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DAE-AMC against standard methods. Measure accuracy at each noise level.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04800" y="3540621"/>
            <a:ext cx="8534400" cy="987623"/>
          </a:xfrm>
          <a:prstGeom prst="roundRect">
            <a:avLst>
              <a:gd name="adj" fmla="val 578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9100" y="3693021"/>
            <a:ext cx="84719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APPROACH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9100" y="3921621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Method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9100" y="4264521"/>
            <a:ext cx="4138803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let the computer learn patterns from real signal data rather than programming fixed rules.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67250" y="3921621"/>
            <a:ext cx="41388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Two-Stage Learning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67250" y="4264521"/>
            <a:ext cx="4138803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DAE cleans signals. Stage 2: Classifier identifies types. Together they work better.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research design with reproducible benchmarking</a:t>
            </a:r>
            <a:endParaRPr lang="en-US" sz="6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Strategy: Step by Step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1782812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1820912"/>
            <a:ext cx="3669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Data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71500" y="1992362"/>
            <a:ext cx="3669575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datasets to same format (1024 samples per signal) and split into training and test sets.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04800" y="2217986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1500" y="2256086"/>
            <a:ext cx="33551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Realistic Noise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71500" y="2427536"/>
            <a:ext cx="3355187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random noise (AWGN), signal fading, frequency errors, and sudden interference.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04800" y="2653159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691259"/>
            <a:ext cx="3407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Denoiser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1500" y="2862709"/>
            <a:ext cx="3407104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DAE to reconstruct clean signals from noisy ones by comparing output to original.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4648200" y="1782812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14900" y="1820912"/>
            <a:ext cx="33632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the Classifier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14900" y="1992362"/>
            <a:ext cx="3363233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train on raw noisy signals, then retrain using DAE-cleaned signals. Compare both.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4648200" y="2217986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14900" y="2256086"/>
            <a:ext cx="35074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Across Conditions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14900" y="2427536"/>
            <a:ext cx="3507447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at different noise levels matching UCUSAF coverage conditions (-90 to -60 dBm).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4648200" y="2653159"/>
            <a:ext cx="190500" cy="190500"/>
          </a:xfrm>
          <a:prstGeom prst="roundRect">
            <a:avLst>
              <a:gd name="adj" fmla="val 15000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14900" y="2691259"/>
            <a:ext cx="30620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Demo System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14900" y="2862709"/>
            <a:ext cx="3062052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77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simple interface showing before/after cleaning and classification results.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04800" y="4318695"/>
            <a:ext cx="8534400" cy="596205"/>
          </a:xfrm>
          <a:prstGeom prst="roundRect">
            <a:avLst>
              <a:gd name="adj" fmla="val 9586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8150" y="4452045"/>
            <a:ext cx="84330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MEASURE SUCCESS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38150" y="4661595"/>
            <a:ext cx="113246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</a:t>
            </a:r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often correct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1700808" y="4661595"/>
            <a:ext cx="14483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F1-Score:</a:t>
            </a:r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Balance of precision/recall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3273177" y="4661595"/>
            <a:ext cx="130218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Matrix:</a:t>
            </a:r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Error patterns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4702225" y="4661595"/>
            <a:ext cx="14044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 Curves:</a:t>
            </a:r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Performance vs noise</a:t>
            </a:r>
            <a:endParaRPr lang="en-US" sz="6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Budget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948779"/>
            <a:ext cx="4983510" cy="375196"/>
          </a:xfrm>
          <a:prstGeom prst="roundRect">
            <a:avLst>
              <a:gd name="adj" fmla="val 10155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50" y="1063079"/>
            <a:ext cx="31037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3603060" y="1063079"/>
            <a:ext cx="15518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(UGX)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04800" y="1362075"/>
            <a:ext cx="4983510" cy="3238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150" y="1457325"/>
            <a:ext cx="3103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Licenses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03060" y="1457325"/>
            <a:ext cx="1551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4800" y="1724025"/>
            <a:ext cx="4983510" cy="3238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8150" y="1819275"/>
            <a:ext cx="3103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Curation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03060" y="1819275"/>
            <a:ext cx="1551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4800" y="2085975"/>
            <a:ext cx="4983510" cy="3238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150" y="2181225"/>
            <a:ext cx="3103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Machines (Cloud)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603060" y="2181225"/>
            <a:ext cx="1551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4800" y="2447925"/>
            <a:ext cx="4983510" cy="3238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8150" y="2543175"/>
            <a:ext cx="3103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03060" y="2543175"/>
            <a:ext cx="1551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04800" y="2809875"/>
            <a:ext cx="4983510" cy="3238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8150" y="2905125"/>
            <a:ext cx="3103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and Research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03060" y="2905125"/>
            <a:ext cx="1551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04800" y="3171825"/>
            <a:ext cx="4983510" cy="3238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38150" y="3267075"/>
            <a:ext cx="3103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and Documentation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03060" y="3267075"/>
            <a:ext cx="1551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04800" y="3533775"/>
            <a:ext cx="4983510" cy="32385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8150" y="3629025"/>
            <a:ext cx="3103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Miscellaneous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03060" y="3629025"/>
            <a:ext cx="15518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4800" y="3895725"/>
            <a:ext cx="4983510" cy="388590"/>
          </a:xfrm>
          <a:prstGeom prst="rect">
            <a:avLst/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8150" y="4010025"/>
            <a:ext cx="31037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03060" y="4010025"/>
            <a:ext cx="15518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800,000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16910" y="1580406"/>
            <a:ext cx="3322290" cy="1045666"/>
          </a:xfrm>
          <a:prstGeom prst="roundRect">
            <a:avLst>
              <a:gd name="adj" fmla="val 5465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19704" y="1751856"/>
            <a:ext cx="31167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BUDGET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619704" y="1909911"/>
            <a:ext cx="311670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800,000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5619704" y="2321272"/>
            <a:ext cx="3116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Uganda Shillings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516910" y="2721322"/>
            <a:ext cx="3322290" cy="931366"/>
          </a:xfrm>
          <a:prstGeom prst="roundRect">
            <a:avLst>
              <a:gd name="adj" fmla="val 613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31210" y="2873722"/>
            <a:ext cx="3155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Notes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31210" y="3064222"/>
            <a:ext cx="31555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work uses free software (Python, TensorFlow)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5631210" y="3222278"/>
            <a:ext cx="31555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 needed for ML training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5631210" y="3380333"/>
            <a:ext cx="31555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hardware purchase - all computer-based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covers all technical infrastructure and operational requirements</a:t>
            </a:r>
            <a:endParaRPr lang="en-US" sz="6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Timeline: 14 Weeks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879425"/>
            <a:ext cx="1524000" cy="481905"/>
          </a:xfrm>
          <a:prstGeom prst="roundRect">
            <a:avLst>
              <a:gd name="adj" fmla="val 7906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974675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Planning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00050" y="1146125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1-2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1924050" y="1082278"/>
            <a:ext cx="5295900" cy="76200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24050" y="1082278"/>
            <a:ext cx="741313" cy="76200"/>
          </a:xfrm>
          <a:prstGeom prst="rect">
            <a:avLst/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0" y="1060400"/>
            <a:ext cx="15544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scope; Literature review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04800" y="1437531"/>
            <a:ext cx="1524000" cy="481905"/>
          </a:xfrm>
          <a:prstGeom prst="roundRect">
            <a:avLst>
              <a:gd name="adj" fmla="val 7906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1532781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Data Prep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00050" y="1704231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3-5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1924050" y="1640384"/>
            <a:ext cx="5295900" cy="76200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924050" y="1640384"/>
            <a:ext cx="1112044" cy="76200"/>
          </a:xfrm>
          <a:prstGeom prst="rect">
            <a:avLst/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5200" y="1618506"/>
            <a:ext cx="15544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and process datasets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04800" y="1995636"/>
            <a:ext cx="1524000" cy="481905"/>
          </a:xfrm>
          <a:prstGeom prst="roundRect">
            <a:avLst>
              <a:gd name="adj" fmla="val 7906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0050" y="2090886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Model Building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0050" y="2262336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6-9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924050" y="2198489"/>
            <a:ext cx="5295900" cy="76200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24050" y="2198489"/>
            <a:ext cx="1535757" cy="76200"/>
          </a:xfrm>
          <a:prstGeom prst="rect">
            <a:avLst/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15200" y="2176611"/>
            <a:ext cx="15544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DAE and AMC models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04800" y="2553742"/>
            <a:ext cx="1524000" cy="481905"/>
          </a:xfrm>
          <a:prstGeom prst="roundRect">
            <a:avLst>
              <a:gd name="adj" fmla="val 7906"/>
            </a:avLst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0050" y="2648992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Testing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00050" y="2820442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10-12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1924050" y="2756595"/>
            <a:ext cx="5295900" cy="76200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924050" y="2756595"/>
            <a:ext cx="1112044" cy="76200"/>
          </a:xfrm>
          <a:prstGeom prst="rect">
            <a:avLst/>
          </a:prstGeom>
          <a:solidFill>
            <a:srgbClr val="FCDC0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15200" y="2734717"/>
            <a:ext cx="15544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and fine-tune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304800" y="3111847"/>
            <a:ext cx="1524000" cy="481905"/>
          </a:xfrm>
          <a:prstGeom prst="roundRect">
            <a:avLst>
              <a:gd name="adj" fmla="val 7906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00050" y="3207097"/>
            <a:ext cx="1360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5: Documentation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00050" y="3378547"/>
            <a:ext cx="136017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13-14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1924050" y="3314700"/>
            <a:ext cx="5295900" cy="76200"/>
          </a:xfrm>
          <a:prstGeom prst="roundRect">
            <a:avLst>
              <a:gd name="adj" fmla="val 50000"/>
            </a:avLst>
          </a:prstGeom>
          <a:solidFill>
            <a:srgbClr val="E9EC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924050" y="3314700"/>
            <a:ext cx="741313" cy="76200"/>
          </a:xfrm>
          <a:prstGeom prst="rect">
            <a:avLst/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315200" y="3292822"/>
            <a:ext cx="15544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report; Present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04800" y="3708053"/>
            <a:ext cx="8534400" cy="664666"/>
          </a:xfrm>
          <a:prstGeom prst="roundRect">
            <a:avLst>
              <a:gd name="adj" fmla="val 859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276857" y="3841403"/>
            <a:ext cx="47469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276857" y="4119414"/>
            <a:ext cx="4746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Weeks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3972636" y="3841403"/>
            <a:ext cx="29176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3972636" y="4119414"/>
            <a:ext cx="2917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4484251" y="3841403"/>
            <a:ext cx="60114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484251" y="4119414"/>
            <a:ext cx="60114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Building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5302560" y="3841403"/>
            <a:ext cx="56547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302560" y="4119414"/>
            <a:ext cx="5654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Testing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approach ensuring thorough research, development, and documentation</a:t>
            </a:r>
            <a:endParaRPr lang="en-US" sz="6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704850"/>
            <a:ext cx="8534400" cy="646658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19088" y="704850"/>
            <a:ext cx="0" cy="646658"/>
          </a:xfrm>
          <a:prstGeom prst="line">
            <a:avLst/>
          </a:prstGeom>
          <a:noFill/>
          <a:ln w="28575">
            <a:solidFill>
              <a:srgbClr val="D9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5775" y="857250"/>
            <a:ext cx="83650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D9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85775" y="1041946"/>
            <a:ext cx="836504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Uganda suffers from weak mobile signals and heavy interference. Current monitoring tools fail in noisy conditions, achieving only about 72% accuracy.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04800" y="1465808"/>
            <a:ext cx="8534400" cy="646658"/>
          </a:xfrm>
          <a:prstGeom prst="rect">
            <a:avLst/>
          </a:prstGeom>
          <a:solidFill>
            <a:srgbClr val="F0F9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19088" y="1465808"/>
            <a:ext cx="0" cy="646658"/>
          </a:xfrm>
          <a:prstGeom prst="line">
            <a:avLst/>
          </a:prstGeom>
          <a:noFill/>
          <a:ln w="28575">
            <a:solidFill>
              <a:srgbClr val="006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5775" y="1618208"/>
            <a:ext cx="836504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06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485775" y="1802904"/>
            <a:ext cx="836504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two-stage system that first </a:t>
            </a:r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 noisy signals</a:t>
            </a:r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(DAE), then </a:t>
            </a:r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signal types</a:t>
            </a:r>
            <a:pPr algn="l" indent="0" marL="0">
              <a:lnSpc>
                <a:spcPts val="1238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(AMC). Research shows this approach can improve accuracy by up to 75%.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04800" y="2958405"/>
            <a:ext cx="2768650" cy="838051"/>
          </a:xfrm>
          <a:prstGeom prst="roundRect">
            <a:avLst>
              <a:gd name="adj" fmla="val 6819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43806" y="3129855"/>
            <a:ext cx="8906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Monitoring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34878" y="3505051"/>
            <a:ext cx="230849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UCC catch illegal transmitters even in noisy conditions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187750" y="2958405"/>
            <a:ext cx="2768650" cy="838051"/>
          </a:xfrm>
          <a:prstGeom prst="roundRect">
            <a:avLst>
              <a:gd name="adj" fmla="val 6819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77004" y="3129855"/>
            <a:ext cx="7899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Coverage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480828" y="3505051"/>
            <a:ext cx="218234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network expansion to underserved communities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6070699" y="2958405"/>
            <a:ext cx="2768650" cy="838051"/>
          </a:xfrm>
          <a:prstGeom prst="roundRect">
            <a:avLst>
              <a:gd name="adj" fmla="val 6819"/>
            </a:avLst>
          </a:prstGeom>
          <a:solidFill>
            <a:srgbClr val="006B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80751" y="3129855"/>
            <a:ext cx="7483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Goals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307912" y="3505051"/>
            <a:ext cx="22942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with NDPIII and National Broadband Policy objectives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practical, software-based solution for Uganda's spectrum management challenges</a:t>
            </a:r>
            <a:endParaRPr lang="en-US" sz="6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006B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04800" y="1268164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Uganda Communications Commission, "Telephone Subscriptions Rise to 33.2 Million," UCC Blog, June 2023.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304800" y="1502420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Ghana Chamber of Telecommunications, "Mobile Internet Access Still Limited in Africa," citing GSMA data, 2024.</a:t>
            </a:r>
            <a:endParaRPr lang="en-US" sz="675" dirty="0"/>
          </a:p>
        </p:txBody>
      </p:sp>
      <p:sp>
        <p:nvSpPr>
          <p:cNvPr id="5" name="Text 3"/>
          <p:cNvSpPr/>
          <p:nvPr/>
        </p:nvSpPr>
        <p:spPr>
          <a:xfrm>
            <a:off x="304800" y="173667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Uganda Communications Commission, "UCC cracks down on illegal broadcasters," October 2024.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04800" y="1970931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X. Zhang et al., "Dual Residual Denoising Autoencoder with Channel Attention for Signals," Sensors 23, 2023.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304800" y="2205186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RF Signal Data, Kaggle, 2025. https://www.kaggle.com/datasets/suraj520/rf-signal-data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04800" y="2439442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DeepSig Dataset: RadioML 2018.01A, Kaggle, 2025. https://www.kaggle.com/datasets/pinxau1000/radioml2018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304800" y="2673697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R. Utrilla, "MIGOU-MOD: A dataset of modulated radio signals," Mendeley Data, 2020.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304800" y="2907953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O. F. Abd-Elaziz et al., "Deep Learning-Based AMC Using Robust CNN," Sensors, vol. 23, 2023.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04800" y="3142208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J. Gao et al., "MoE-AMC: Enhancing AMC Using Mixture-of-Experts," arXiv preprint, 2023.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304800" y="3376464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A. Jagannath, "Multi-Task Learning for Modulation Classification for 5G," Physical Communication, 2022.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04800" y="3610719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[11] M. Faysal et al., "DenoMAE: A Multimodal Autoencoder for Denoising Signals," arXiv preprint, 2025.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04800" y="384497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[12] H. An and B.-M. Lee, "Robust AMC in Low Signal-to-Noise Ratio," IEEE Access, vol. 11, 2023.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04800" y="4756845"/>
            <a:ext cx="870508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6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reference list available in the written proposal document</a:t>
            </a:r>
            <a:endParaRPr lang="en-US" sz="6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84696" y="929878"/>
            <a:ext cx="257460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595807" y="1615678"/>
            <a:ext cx="395238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0"/>
              </a:spcAft>
              <a:buNone/>
            </a:pPr>
            <a:r>
              <a:rPr lang="en-US" sz="1350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Attention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634555" y="2236589"/>
            <a:ext cx="3874889" cy="1268462"/>
          </a:xfrm>
          <a:prstGeom prst="roundRect">
            <a:avLst>
              <a:gd name="adj" fmla="val 901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84427" y="2503289"/>
            <a:ext cx="317514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welcome your questions and feedback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99431" y="2880420"/>
            <a:ext cx="164465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Ssemujju Sharif Abdukarim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2999431" y="3091755"/>
            <a:ext cx="164465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18/U/ETD/181/GV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997765" y="2880420"/>
            <a:ext cx="114187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Kisige Tom Derrick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4997765" y="3091755"/>
            <a:ext cx="11418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22/U/ETD/0953/GV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595807" y="3790801"/>
            <a:ext cx="395238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Electrical and Electronics Engineering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95807" y="3988891"/>
            <a:ext cx="395238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CDC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KYAMBOGO UNIVERSITY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Denoising and Intelligent Modulation Classification</dc:title>
  <dc:subject>Final Year Project Proposal</dc:subject>
  <dc:creator>Ssemujju Sharif Abdukarim &amp; Kisige Tom Derrick</dc:creator>
  <cp:lastModifiedBy>Ssemujju Sharif Abdukarim &amp; Kisige Tom Derrick</cp:lastModifiedBy>
  <cp:revision>1</cp:revision>
  <dcterms:created xsi:type="dcterms:W3CDTF">2026-01-09T05:07:50Z</dcterms:created>
  <dcterms:modified xsi:type="dcterms:W3CDTF">2026-01-09T05:07:50Z</dcterms:modified>
</cp:coreProperties>
</file>