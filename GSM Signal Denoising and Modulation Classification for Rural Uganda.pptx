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9" r:id="rId2"/>
  </p:sldMasterIdLst>
  <p:notesMasterIdLst>
    <p:notesMasterId r:id="rId27"/>
  </p:notesMasterIdLst>
  <p:sldIdLst>
    <p:sldId id="256" r:id="rId3"/>
    <p:sldId id="285" r:id="rId4"/>
    <p:sldId id="286" r:id="rId5"/>
    <p:sldId id="258" r:id="rId6"/>
    <p:sldId id="260" r:id="rId7"/>
    <p:sldId id="261" r:id="rId8"/>
    <p:sldId id="262" r:id="rId9"/>
    <p:sldId id="264" r:id="rId10"/>
    <p:sldId id="288" r:id="rId11"/>
    <p:sldId id="265" r:id="rId12"/>
    <p:sldId id="268" r:id="rId13"/>
    <p:sldId id="293" r:id="rId14"/>
    <p:sldId id="269" r:id="rId15"/>
    <p:sldId id="273" r:id="rId16"/>
    <p:sldId id="274" r:id="rId17"/>
    <p:sldId id="295" r:id="rId18"/>
    <p:sldId id="296" r:id="rId19"/>
    <p:sldId id="297" r:id="rId20"/>
    <p:sldId id="289" r:id="rId21"/>
    <p:sldId id="290" r:id="rId22"/>
    <p:sldId id="298" r:id="rId23"/>
    <p:sldId id="299" r:id="rId24"/>
    <p:sldId id="300" r:id="rId25"/>
    <p:sldId id="292" r:id="rId26"/>
  </p:sldIdLst>
  <p:sldSz cx="14630400" cy="8229600"/>
  <p:notesSz cx="8229600" cy="14630400"/>
  <p:embeddedFontLst>
    <p:embeddedFont>
      <p:font typeface="Nunito" pitchFamily="2" charset="0"/>
      <p:regular r:id="rId28"/>
      <p:bold r:id="rId29"/>
      <p:italic r:id="rId30"/>
      <p:boldItalic r:id="rId31"/>
    </p:embeddedFont>
    <p:embeddedFont>
      <p:font typeface="Nunito Sans" pitchFamily="2" charset="0"/>
      <p:regular r:id="rId32"/>
      <p:bold r:id="rId33"/>
      <p:italic r:id="rId34"/>
      <p:boldItalic r:id="rId35"/>
    </p:embeddedFont>
    <p:embeddedFont>
      <p:font typeface="Nunito Sans Bold" charset="0"/>
      <p:bold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A60"/>
    <a:srgbClr val="E6F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22" d="100"/>
          <a:sy n="122" d="100"/>
        </p:scale>
        <p:origin x="120" y="5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font" Target="fonts/font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767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261AE-2625-C732-8C62-CB40263E9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590CB-9BAD-AB42-C950-D364A23D6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3FD06-F27B-491F-A38A-61A23C62DE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3A9AAA-10E5-B252-AA02-98C1530E8A3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57031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DDBB4-E18F-B8D6-FC8E-8DFA8D7B3E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72042-CB83-3EA8-E273-6393A80A4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EA5E9D-9D55-B3B9-721D-95E0B19059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BE5591-247D-33D7-E398-F35985BCEDD6}"/>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626495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476F4-985F-47BD-5821-758FE10CB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AC694-446F-96B4-B153-C1002FE38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3AD3F-B86B-7621-C4C7-ABB3391074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72F8D2-F30C-F635-A5C3-B345E2A79E8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999086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51070-1763-7A08-3B97-B06EB6D76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EC4349-A68B-7CBE-9BF9-04F3A2C389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0F65D3-718C-3747-41CB-1996F14853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0BAF88-2D62-9C90-6E24-6E5F0D7452B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1883347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F9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1"/>
    <p:sldLayoutId id="2147483671" r:id="rId2"/>
    <p:sldLayoutId id="2147483670" r:id="rId3"/>
    <p:sldLayoutId id="2147483669" r:id="rId4"/>
    <p:sldLayoutId id="2147483668" r:id="rId5"/>
    <p:sldLayoutId id="2147483667" r:id="rId6"/>
    <p:sldLayoutId id="2147483666" r:id="rId7"/>
    <p:sldLayoutId id="2147483665" r:id="rId8"/>
    <p:sldLayoutId id="2147483664" r:id="rId9"/>
    <p:sldLayoutId id="2147483663" r:id="rId10"/>
    <p:sldLayoutId id="2147483662" r:id="rId11"/>
    <p:sldLayoutId id="2147483661" r:id="rId12"/>
    <p:sldLayoutId id="2147483660"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9.xml"/><Relationship Id="rId16" Type="http://schemas.openxmlformats.org/officeDocument/2006/relationships/image" Target="../media/image18.svg"/><Relationship Id="rId1" Type="http://schemas.openxmlformats.org/officeDocument/2006/relationships/slideLayout" Target="../slideLayouts/slideLayout12.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1.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1.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1.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8" Type="http://schemas.openxmlformats.org/officeDocument/2006/relationships/hyperlink" Target="https://pmc.ncbi.nlm.nih.gov/articles/PMC9861137/" TargetMode="External"/><Relationship Id="rId3" Type="http://schemas.openxmlformats.org/officeDocument/2006/relationships/hyperlink" Target="https://www.atomiccouncil.go.ug/non-ionizing-radiation-radiofrequency/" TargetMode="External"/><Relationship Id="rId7" Type="http://schemas.openxmlformats.org/officeDocument/2006/relationships/hyperlink" Target="https://www.ucc.co.ug/ucc-cracks-down-on-illegal-and-non-compliant-broadcasters/" TargetMode="External"/><Relationship Id="rId2" Type="http://schemas.openxmlformats.org/officeDocument/2006/relationships/hyperlink" Target="https://uccinfoblog.com/2023/06/09/telephone-subscriptions-rise-to-33-2-million/" TargetMode="External"/><Relationship Id="rId1" Type="http://schemas.openxmlformats.org/officeDocument/2006/relationships/slideLayout" Target="../slideLayouts/slideLayout12.xml"/><Relationship Id="rId6" Type="http://schemas.openxmlformats.org/officeDocument/2006/relationships/hyperlink" Target="https://www.telecomschamber.org/industry-news/mobile-internet-access-still-limited-in-africa-millions-remain-offline/" TargetMode="External"/><Relationship Id="rId5" Type="http://schemas.openxmlformats.org/officeDocument/2006/relationships/hyperlink" Target="https://techjaja.com/ucusaf-why-is-ucc-still-rolling-out-own-telecom-network/" TargetMode="External"/><Relationship Id="rId4" Type="http://schemas.openxmlformats.org/officeDocument/2006/relationships/hyperlink" Target="https://chimpreports.com/ugandas-internet-users-hit-13-million/"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www.itu.int/dms_pubrec/itu-r/rec/p/R-REC-P.530-18-202109-I!!PDF-E.pdf" TargetMode="External"/><Relationship Id="rId3" Type="http://schemas.openxmlformats.org/officeDocument/2006/relationships/hyperlink" Target="https://www.kaggle.com/datasets/pinxau1000/radioml2018" TargetMode="External"/><Relationship Id="rId7" Type="http://schemas.openxmlformats.org/officeDocument/2006/relationships/hyperlink" Target="https://uccinfoblog.com/2021/07/26/public-notice-signal-interference-arising-out-of-usage-of-network-repeaters-boosters/" TargetMode="External"/><Relationship Id="rId2" Type="http://schemas.openxmlformats.org/officeDocument/2006/relationships/hyperlink" Target="https://www.kaggle.com/datasets/suraj520/rf-signal-data" TargetMode="External"/><Relationship Id="rId1" Type="http://schemas.openxmlformats.org/officeDocument/2006/relationships/slideLayout" Target="../slideLayouts/slideLayout12.xml"/><Relationship Id="rId6" Type="http://schemas.openxmlformats.org/officeDocument/2006/relationships/hyperlink" Target="https://arxiv.org/abs/2312.02298" TargetMode="External"/><Relationship Id="rId5" Type="http://schemas.openxmlformats.org/officeDocument/2006/relationships/hyperlink" Target="https://www.deepsig.ai/datasets/" TargetMode="External"/><Relationship Id="rId4" Type="http://schemas.openxmlformats.org/officeDocument/2006/relationships/hyperlink" Target="https://data.mendeley.com/datasets/fkwr8mzndr/1" TargetMode="External"/><Relationship Id="rId9" Type="http://schemas.openxmlformats.org/officeDocument/2006/relationships/hyperlink" Target="https://www.itu.int/rec/R-REC-P.838-3-200503-P/en"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newvision-media.s3.amazonaws.com/cms/b295e426-f529-44b6-928d-330d8b911.pdf" TargetMode="External"/><Relationship Id="rId2" Type="http://schemas.openxmlformats.org/officeDocument/2006/relationships/hyperlink" Target="https://www.mdpi.com/2079-9292/15/3/674" TargetMode="External"/><Relationship Id="rId1" Type="http://schemas.openxmlformats.org/officeDocument/2006/relationships/slideLayout" Target="../slideLayouts/slideLayout12.xml"/><Relationship Id="rId4" Type="http://schemas.openxmlformats.org/officeDocument/2006/relationships/hyperlink" Target="https://arxiv.org/abs/2501.11538"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0"/>
          </a:blip>
          <a:srcRect r="74571"/>
          <a:stretch>
            <a:fillRect/>
          </a:stretch>
        </p:blipFill>
        <p:spPr>
          <a:xfrm>
            <a:off x="13145895" y="-555082"/>
            <a:ext cx="1633095" cy="9024712"/>
          </a:xfrm>
          <a:prstGeom prst="rect">
            <a:avLst/>
          </a:prstGeom>
          <a:effectLst>
            <a:softEdge rad="63500"/>
          </a:effectLst>
        </p:spPr>
      </p:pic>
      <p:sp>
        <p:nvSpPr>
          <p:cNvPr id="3" name="Text 0"/>
          <p:cNvSpPr/>
          <p:nvPr/>
        </p:nvSpPr>
        <p:spPr>
          <a:xfrm>
            <a:off x="2188325" y="2734765"/>
            <a:ext cx="10464918" cy="1471475"/>
          </a:xfrm>
          <a:prstGeom prst="rect">
            <a:avLst/>
          </a:prstGeom>
          <a:noFill/>
          <a:ln/>
        </p:spPr>
        <p:txBody>
          <a:bodyPr wrap="square" lIns="0" tIns="0" rIns="0" bIns="0" rtlCol="0" anchor="t"/>
          <a:lstStyle/>
          <a:p>
            <a:pPr algn="ctr">
              <a:lnSpc>
                <a:spcPts val="5550"/>
              </a:lnSpc>
            </a:pPr>
            <a:r>
              <a:rPr lang="en-US" sz="3600" b="1" dirty="0">
                <a:solidFill>
                  <a:srgbClr val="006A60"/>
                </a:solidFill>
                <a:latin typeface="Nunito Sans" pitchFamily="2" charset="0"/>
              </a:rPr>
              <a:t>GSM Signal Denoising and Modulation Classification for Rural Uganda</a:t>
            </a:r>
          </a:p>
          <a:p>
            <a:pPr marL="0" indent="0" algn="ctr">
              <a:lnSpc>
                <a:spcPts val="5550"/>
              </a:lnSpc>
              <a:buNone/>
            </a:pPr>
            <a:endParaRPr lang="en-US" sz="3600" dirty="0">
              <a:latin typeface="Nunito Sans" pitchFamily="2" charset="0"/>
            </a:endParaRPr>
          </a:p>
        </p:txBody>
      </p:sp>
      <p:sp>
        <p:nvSpPr>
          <p:cNvPr id="4" name="Text 1"/>
          <p:cNvSpPr/>
          <p:nvPr/>
        </p:nvSpPr>
        <p:spPr>
          <a:xfrm>
            <a:off x="2348269" y="1701885"/>
            <a:ext cx="10304973" cy="721824"/>
          </a:xfrm>
          <a:prstGeom prst="rect">
            <a:avLst/>
          </a:prstGeom>
          <a:noFill/>
          <a:ln/>
        </p:spPr>
        <p:txBody>
          <a:bodyPr wrap="none" lIns="0" tIns="0" rIns="0" bIns="0" rtlCol="0" anchor="t"/>
          <a:lstStyle/>
          <a:p>
            <a:pPr marL="0" indent="0" algn="ctr">
              <a:lnSpc>
                <a:spcPts val="2850"/>
              </a:lnSpc>
              <a:buNone/>
            </a:pPr>
            <a:r>
              <a:rPr lang="en-US" sz="1750" b="1" dirty="0">
                <a:solidFill>
                  <a:srgbClr val="272525"/>
                </a:solidFill>
                <a:latin typeface="Nunito" pitchFamily="34" charset="0"/>
                <a:ea typeface="Nunito" pitchFamily="34" charset="-122"/>
                <a:cs typeface="Nunito" pitchFamily="34" charset="-120"/>
              </a:rPr>
              <a:t>Final Year Project: </a:t>
            </a:r>
          </a:p>
          <a:p>
            <a:pPr marL="0" indent="0" algn="ctr">
              <a:lnSpc>
                <a:spcPts val="2850"/>
              </a:lnSpc>
              <a:buNone/>
            </a:pPr>
            <a:r>
              <a:rPr lang="en-US" sz="1750" dirty="0">
                <a:solidFill>
                  <a:srgbClr val="272525"/>
                </a:solidFill>
                <a:latin typeface="Nunito" pitchFamily="34" charset="0"/>
                <a:ea typeface="Nunito" pitchFamily="34" charset="-122"/>
                <a:cs typeface="Nunito" pitchFamily="34" charset="-120"/>
              </a:rPr>
              <a:t>Department of Electrical and Electronics Engineering</a:t>
            </a:r>
            <a:endParaRPr lang="en-US" sz="1750" dirty="0"/>
          </a:p>
        </p:txBody>
      </p:sp>
      <p:sp>
        <p:nvSpPr>
          <p:cNvPr id="5" name="Shape 2"/>
          <p:cNvSpPr/>
          <p:nvPr/>
        </p:nvSpPr>
        <p:spPr>
          <a:xfrm>
            <a:off x="2340383" y="4774380"/>
            <a:ext cx="10026613" cy="1677380"/>
          </a:xfrm>
          <a:prstGeom prst="roundRect">
            <a:avLst>
              <a:gd name="adj" fmla="val 15514"/>
            </a:avLst>
          </a:prstGeom>
          <a:noFill/>
          <a:ln w="7620">
            <a:solidFill>
              <a:srgbClr val="000000">
                <a:alpha val="8000"/>
              </a:srgbClr>
            </a:solidFill>
            <a:prstDash val="solid"/>
          </a:ln>
        </p:spPr>
        <p:txBody>
          <a:bodyPr/>
          <a:lstStyle/>
          <a:p>
            <a:endParaRPr lang="en-US"/>
          </a:p>
        </p:txBody>
      </p:sp>
      <p:sp>
        <p:nvSpPr>
          <p:cNvPr id="6" name="Shape 3"/>
          <p:cNvSpPr/>
          <p:nvPr/>
        </p:nvSpPr>
        <p:spPr>
          <a:xfrm>
            <a:off x="2348272" y="4964844"/>
            <a:ext cx="10006392" cy="828976"/>
          </a:xfrm>
          <a:prstGeom prst="rect">
            <a:avLst/>
          </a:prstGeom>
          <a:solidFill>
            <a:srgbClr val="FFFFFF">
              <a:alpha val="4000"/>
            </a:srgbClr>
          </a:solidFill>
          <a:ln/>
        </p:spPr>
        <p:txBody>
          <a:bodyPr/>
          <a:lstStyle/>
          <a:p>
            <a:endParaRPr lang="en-US"/>
          </a:p>
        </p:txBody>
      </p:sp>
      <p:sp>
        <p:nvSpPr>
          <p:cNvPr id="7" name="Text 4"/>
          <p:cNvSpPr/>
          <p:nvPr/>
        </p:nvSpPr>
        <p:spPr>
          <a:xfrm>
            <a:off x="2649265" y="5187512"/>
            <a:ext cx="4396221" cy="462600"/>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 Ssemujju Sharif Abdukarim</a:t>
            </a:r>
            <a:endParaRPr lang="en-US" sz="1750" dirty="0"/>
          </a:p>
        </p:txBody>
      </p:sp>
      <p:sp>
        <p:nvSpPr>
          <p:cNvPr id="8" name="Text 5"/>
          <p:cNvSpPr/>
          <p:nvPr/>
        </p:nvSpPr>
        <p:spPr>
          <a:xfrm>
            <a:off x="6423665" y="5187512"/>
            <a:ext cx="4396221" cy="462600"/>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18/U/ETD/181/GV</a:t>
            </a:r>
            <a:endParaRPr lang="en-US" sz="1750" dirty="0"/>
          </a:p>
        </p:txBody>
      </p:sp>
      <p:sp>
        <p:nvSpPr>
          <p:cNvPr id="9" name="Shape 6"/>
          <p:cNvSpPr/>
          <p:nvPr/>
        </p:nvSpPr>
        <p:spPr>
          <a:xfrm>
            <a:off x="2348272" y="5615163"/>
            <a:ext cx="10006392" cy="828976"/>
          </a:xfrm>
          <a:prstGeom prst="rect">
            <a:avLst/>
          </a:prstGeom>
          <a:solidFill>
            <a:srgbClr val="000000">
              <a:alpha val="4000"/>
            </a:srgbClr>
          </a:solidFill>
          <a:ln/>
        </p:spPr>
        <p:txBody>
          <a:bodyPr/>
          <a:lstStyle/>
          <a:p>
            <a:endParaRPr lang="en-US"/>
          </a:p>
        </p:txBody>
      </p:sp>
      <p:sp>
        <p:nvSpPr>
          <p:cNvPr id="10" name="Text 7"/>
          <p:cNvSpPr/>
          <p:nvPr/>
        </p:nvSpPr>
        <p:spPr>
          <a:xfrm>
            <a:off x="2649265" y="5837832"/>
            <a:ext cx="4396221" cy="462600"/>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Kisige Tom Derrick</a:t>
            </a:r>
            <a:endParaRPr lang="en-US" sz="1750" dirty="0"/>
          </a:p>
        </p:txBody>
      </p:sp>
      <p:sp>
        <p:nvSpPr>
          <p:cNvPr id="11" name="Text 8"/>
          <p:cNvSpPr/>
          <p:nvPr/>
        </p:nvSpPr>
        <p:spPr>
          <a:xfrm>
            <a:off x="6423665" y="5837832"/>
            <a:ext cx="4396221" cy="462600"/>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22/U/ETD/0953/GV</a:t>
            </a:r>
            <a:endParaRPr lang="en-US" sz="1750" dirty="0"/>
          </a:p>
        </p:txBody>
      </p:sp>
      <p:sp>
        <p:nvSpPr>
          <p:cNvPr id="12" name="Text 9"/>
          <p:cNvSpPr/>
          <p:nvPr/>
        </p:nvSpPr>
        <p:spPr>
          <a:xfrm>
            <a:off x="2348270" y="6706910"/>
            <a:ext cx="10018726"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Nunito" pitchFamily="34" charset="0"/>
                <a:ea typeface="Nunito" pitchFamily="34" charset="-122"/>
                <a:cs typeface="Nunito" pitchFamily="34" charset="-120"/>
              </a:rPr>
              <a:t>Supervisor: Dr. Dickson Mugerwa</a:t>
            </a:r>
            <a:endParaRPr lang="en-US" sz="1750" dirty="0"/>
          </a:p>
        </p:txBody>
      </p:sp>
      <p:sp>
        <p:nvSpPr>
          <p:cNvPr id="13" name="Title 1">
            <a:extLst>
              <a:ext uri="{FF2B5EF4-FFF2-40B4-BE49-F238E27FC236}">
                <a16:creationId xmlns:a16="http://schemas.microsoft.com/office/drawing/2014/main" id="{D964EA8A-902D-2E35-3505-0C30F118C9F8}"/>
              </a:ext>
            </a:extLst>
          </p:cNvPr>
          <p:cNvSpPr>
            <a:spLocks noGrp="1"/>
          </p:cNvSpPr>
          <p:nvPr/>
        </p:nvSpPr>
        <p:spPr>
          <a:xfrm>
            <a:off x="2348270" y="726486"/>
            <a:ext cx="10304971" cy="721824"/>
          </a:xfrm>
          <a:prstGeom prst="rect">
            <a:avLst/>
          </a:prstGeom>
        </p:spPr>
        <p:txBody>
          <a:bodyPr vert="horz" lIns="91440" tIns="45720" rIns="91440" bIns="45720" rtlCol="0" anchor="b">
            <a:normAutofit/>
          </a:bodyPr>
          <a:lstStyle>
            <a:lvl1pPr marL="0" algn="ctr" defTabSz="914400" rtl="0" eaLnBrk="1" latinLnBrk="0" hangingPunct="1">
              <a:lnSpc>
                <a:spcPct val="85000"/>
              </a:lnSpc>
              <a:spcBef>
                <a:spcPct val="0"/>
              </a:spcBef>
              <a:buNone/>
              <a:defRPr sz="3600" kern="1200" spc="-50" baseline="0">
                <a:solidFill>
                  <a:schemeClr val="tx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defRPr>
            </a:lvl1pPr>
          </a:lstStyle>
          <a:p>
            <a:r>
              <a:rPr lang="en-US" b="1" dirty="0">
                <a:solidFill>
                  <a:srgbClr val="006A60"/>
                </a:solidFill>
                <a:latin typeface="Nunito Sans" pitchFamily="2" charset="0"/>
              </a:rPr>
              <a:t>KYAMBOGO           UNIVERSITY</a:t>
            </a:r>
          </a:p>
        </p:txBody>
      </p:sp>
      <p:pic>
        <p:nvPicPr>
          <p:cNvPr id="1026" name="Picture 2" descr="Students Portal">
            <a:extLst>
              <a:ext uri="{FF2B5EF4-FFF2-40B4-BE49-F238E27FC236}">
                <a16:creationId xmlns:a16="http://schemas.microsoft.com/office/drawing/2014/main" id="{F41F80AE-0220-0A45-31B7-DC3C8D8ED8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5971" y="522456"/>
            <a:ext cx="1061897" cy="83400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B2E8161-650A-DFF3-DEF4-C42D800BC4D1}"/>
              </a:ext>
            </a:extLst>
          </p:cNvPr>
          <p:cNvSpPr txBox="1"/>
          <p:nvPr/>
        </p:nvSpPr>
        <p:spPr>
          <a:xfrm>
            <a:off x="3016125" y="4190136"/>
            <a:ext cx="9456103" cy="369332"/>
          </a:xfrm>
          <a:prstGeom prst="rect">
            <a:avLst/>
          </a:prstGeom>
          <a:noFill/>
        </p:spPr>
        <p:txBody>
          <a:bodyPr wrap="square" rtlCol="0">
            <a:spAutoFit/>
          </a:bodyPr>
          <a:lstStyle/>
          <a:p>
            <a:pPr algn="ctr"/>
            <a:r>
              <a:rPr lang="en-US" dirty="0">
                <a:solidFill>
                  <a:schemeClr val="bg1">
                    <a:lumMod val="50000"/>
                  </a:schemeClr>
                </a:solidFill>
              </a:rPr>
              <a:t>Improving Connectivity in Underserved Areas Using Machine Learning</a:t>
            </a:r>
          </a:p>
        </p:txBody>
      </p:sp>
      <p:pic>
        <p:nvPicPr>
          <p:cNvPr id="15" name="Image 0" descr="preencoded.png">
            <a:extLst>
              <a:ext uri="{FF2B5EF4-FFF2-40B4-BE49-F238E27FC236}">
                <a16:creationId xmlns:a16="http://schemas.microsoft.com/office/drawing/2014/main" id="{86DBC9E2-8425-BC38-B4C9-576AE363563A}"/>
              </a:ext>
            </a:extLst>
          </p:cNvPr>
          <p:cNvPicPr>
            <a:picLocks noChangeAspect="1"/>
          </p:cNvPicPr>
          <p:nvPr/>
        </p:nvPicPr>
        <p:blipFill>
          <a:blip r:embed="rId3">
            <a:alphaModFix amt="20000"/>
          </a:blip>
          <a:srcRect r="74571"/>
          <a:stretch>
            <a:fillRect/>
          </a:stretch>
        </p:blipFill>
        <p:spPr>
          <a:xfrm>
            <a:off x="-171450" y="-703672"/>
            <a:ext cx="1633095" cy="9024712"/>
          </a:xfrm>
          <a:prstGeom prst="rect">
            <a:avLst/>
          </a:prstGeom>
          <a:ln>
            <a:noFill/>
          </a:ln>
          <a:effectLst>
            <a:softEdge rad="112500"/>
          </a:effectLst>
          <a:scene3d>
            <a:camera prst="orthographicFront">
              <a:rot lat="0" lon="10800000" rev="0"/>
            </a:camera>
            <a:lightRig rig="threePt" dir="t"/>
          </a:scene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245195" y="835184"/>
            <a:ext cx="12356505" cy="547642"/>
          </a:xfrm>
          <a:prstGeom prst="rect">
            <a:avLst/>
          </a:prstGeom>
          <a:noFill/>
          <a:ln/>
        </p:spPr>
        <p:txBody>
          <a:bodyPr wrap="none" lIns="0" tIns="0" rIns="0" bIns="0" rtlCol="0" anchor="t"/>
          <a:lstStyle/>
          <a:p>
            <a:pPr marL="0" indent="0">
              <a:lnSpc>
                <a:spcPts val="2750"/>
              </a:lnSpc>
              <a:buNone/>
            </a:pPr>
            <a:r>
              <a:rPr lang="en-US" sz="4800" b="1" dirty="0">
                <a:solidFill>
                  <a:srgbClr val="006A60"/>
                </a:solidFill>
                <a:latin typeface="Nunito Sans" pitchFamily="2" charset="0"/>
                <a:ea typeface="Nunito Sans Bold" pitchFamily="34" charset="-122"/>
                <a:cs typeface="Nunito Sans Bold" pitchFamily="34" charset="-120"/>
              </a:rPr>
              <a:t>Proposal Outline</a:t>
            </a:r>
            <a:endParaRPr lang="en-US" sz="4800" dirty="0">
              <a:latin typeface="Nunito Sans" pitchFamily="2" charset="0"/>
            </a:endParaRPr>
          </a:p>
        </p:txBody>
      </p:sp>
      <p:sp>
        <p:nvSpPr>
          <p:cNvPr id="5" name="Shape 3"/>
          <p:cNvSpPr/>
          <p:nvPr/>
        </p:nvSpPr>
        <p:spPr>
          <a:xfrm>
            <a:off x="1245195" y="1840825"/>
            <a:ext cx="453628" cy="649962"/>
          </a:xfrm>
          <a:prstGeom prst="roundRect">
            <a:avLst>
              <a:gd name="adj" fmla="val 18470"/>
            </a:avLst>
          </a:prstGeom>
          <a:solidFill>
            <a:srgbClr val="F1E79A"/>
          </a:solidFill>
          <a:ln/>
        </p:spPr>
        <p:txBody>
          <a:bodyPr/>
          <a:lstStyle/>
          <a:p>
            <a:endParaRPr lang="en-US" sz="2400">
              <a:latin typeface="Nunito Sans" pitchFamily="2" charset="0"/>
            </a:endParaRPr>
          </a:p>
        </p:txBody>
      </p:sp>
      <p:sp>
        <p:nvSpPr>
          <p:cNvPr id="6" name="Text 4"/>
          <p:cNvSpPr/>
          <p:nvPr/>
        </p:nvSpPr>
        <p:spPr>
          <a:xfrm>
            <a:off x="1383189" y="2157397"/>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000000"/>
                </a:solidFill>
                <a:latin typeface="Nunito Sans" pitchFamily="2" charset="0"/>
                <a:ea typeface="Nunito Sans Bold" pitchFamily="34" charset="-122"/>
                <a:cs typeface="Nunito Sans Bold" pitchFamily="34" charset="-120"/>
              </a:rPr>
              <a:t>1</a:t>
            </a:r>
            <a:endParaRPr lang="en-US" sz="2400" dirty="0">
              <a:latin typeface="Nunito Sans" pitchFamily="2" charset="0"/>
            </a:endParaRPr>
          </a:p>
        </p:txBody>
      </p:sp>
      <p:sp>
        <p:nvSpPr>
          <p:cNvPr id="7" name="Text 5"/>
          <p:cNvSpPr/>
          <p:nvPr/>
        </p:nvSpPr>
        <p:spPr>
          <a:xfrm>
            <a:off x="2238202" y="2178108"/>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Background</a:t>
            </a:r>
            <a:endParaRPr lang="en-US" sz="2400" dirty="0">
              <a:latin typeface="Nunito Sans" pitchFamily="2" charset="0"/>
            </a:endParaRPr>
          </a:p>
        </p:txBody>
      </p:sp>
      <p:sp>
        <p:nvSpPr>
          <p:cNvPr id="9" name="Shape 7"/>
          <p:cNvSpPr/>
          <p:nvPr/>
        </p:nvSpPr>
        <p:spPr>
          <a:xfrm>
            <a:off x="1245195" y="2634615"/>
            <a:ext cx="453628" cy="649962"/>
          </a:xfrm>
          <a:prstGeom prst="roundRect">
            <a:avLst>
              <a:gd name="adj" fmla="val 18470"/>
            </a:avLst>
          </a:prstGeom>
          <a:solidFill>
            <a:srgbClr val="429A92"/>
          </a:solidFill>
          <a:ln/>
        </p:spPr>
        <p:txBody>
          <a:bodyPr/>
          <a:lstStyle/>
          <a:p>
            <a:endParaRPr lang="en-US" sz="2400">
              <a:latin typeface="Nunito Sans" pitchFamily="2" charset="0"/>
            </a:endParaRPr>
          </a:p>
        </p:txBody>
      </p:sp>
      <p:sp>
        <p:nvSpPr>
          <p:cNvPr id="10" name="Text 8"/>
          <p:cNvSpPr/>
          <p:nvPr/>
        </p:nvSpPr>
        <p:spPr>
          <a:xfrm>
            <a:off x="1383189" y="2923189"/>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FFFFFF"/>
                </a:solidFill>
                <a:latin typeface="Nunito Sans" pitchFamily="2" charset="0"/>
                <a:ea typeface="Nunito Sans Bold" pitchFamily="34" charset="-122"/>
                <a:cs typeface="Nunito Sans Bold" pitchFamily="34" charset="-120"/>
              </a:rPr>
              <a:t>2</a:t>
            </a:r>
            <a:endParaRPr lang="en-US" sz="2400" dirty="0">
              <a:latin typeface="Nunito Sans" pitchFamily="2" charset="0"/>
            </a:endParaRPr>
          </a:p>
        </p:txBody>
      </p:sp>
      <p:sp>
        <p:nvSpPr>
          <p:cNvPr id="11" name="Text 9"/>
          <p:cNvSpPr/>
          <p:nvPr/>
        </p:nvSpPr>
        <p:spPr>
          <a:xfrm>
            <a:off x="2238202" y="2934577"/>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Problem Statement</a:t>
            </a:r>
            <a:endParaRPr lang="en-US" sz="2400" dirty="0">
              <a:latin typeface="Nunito Sans" pitchFamily="2" charset="0"/>
            </a:endParaRPr>
          </a:p>
        </p:txBody>
      </p:sp>
      <p:sp>
        <p:nvSpPr>
          <p:cNvPr id="13" name="Shape 11"/>
          <p:cNvSpPr/>
          <p:nvPr/>
        </p:nvSpPr>
        <p:spPr>
          <a:xfrm>
            <a:off x="1245195" y="3428405"/>
            <a:ext cx="453628" cy="649962"/>
          </a:xfrm>
          <a:prstGeom prst="roundRect">
            <a:avLst>
              <a:gd name="adj" fmla="val 18470"/>
            </a:avLst>
          </a:prstGeom>
          <a:solidFill>
            <a:srgbClr val="A4ECF9"/>
          </a:solidFill>
          <a:ln/>
        </p:spPr>
        <p:txBody>
          <a:bodyPr/>
          <a:lstStyle/>
          <a:p>
            <a:endParaRPr lang="en-US" sz="2400" dirty="0">
              <a:latin typeface="Nunito Sans" pitchFamily="2" charset="0"/>
            </a:endParaRPr>
          </a:p>
        </p:txBody>
      </p:sp>
      <p:sp>
        <p:nvSpPr>
          <p:cNvPr id="14" name="Text 12"/>
          <p:cNvSpPr/>
          <p:nvPr/>
        </p:nvSpPr>
        <p:spPr>
          <a:xfrm>
            <a:off x="1383189" y="3763637"/>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000000"/>
                </a:solidFill>
                <a:latin typeface="Nunito Sans" pitchFamily="2" charset="0"/>
                <a:ea typeface="Nunito Sans Bold" pitchFamily="34" charset="-122"/>
                <a:cs typeface="Nunito Sans Bold" pitchFamily="34" charset="-120"/>
              </a:rPr>
              <a:t>3</a:t>
            </a:r>
            <a:endParaRPr lang="en-US" sz="2400" dirty="0">
              <a:latin typeface="Nunito Sans" pitchFamily="2" charset="0"/>
            </a:endParaRPr>
          </a:p>
        </p:txBody>
      </p:sp>
      <p:sp>
        <p:nvSpPr>
          <p:cNvPr id="15" name="Text 13"/>
          <p:cNvSpPr/>
          <p:nvPr/>
        </p:nvSpPr>
        <p:spPr>
          <a:xfrm>
            <a:off x="2238202" y="3737691"/>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Objectives</a:t>
            </a:r>
            <a:endParaRPr lang="en-US" sz="2400" dirty="0">
              <a:latin typeface="Nunito Sans" pitchFamily="2" charset="0"/>
            </a:endParaRPr>
          </a:p>
        </p:txBody>
      </p:sp>
      <p:sp>
        <p:nvSpPr>
          <p:cNvPr id="17" name="Shape 15"/>
          <p:cNvSpPr/>
          <p:nvPr/>
        </p:nvSpPr>
        <p:spPr>
          <a:xfrm>
            <a:off x="1245195" y="4222194"/>
            <a:ext cx="453628" cy="649962"/>
          </a:xfrm>
          <a:prstGeom prst="roundRect">
            <a:avLst>
              <a:gd name="adj" fmla="val 18470"/>
            </a:avLst>
          </a:prstGeom>
          <a:solidFill>
            <a:srgbClr val="F9A7A7"/>
          </a:solidFill>
          <a:ln/>
        </p:spPr>
        <p:txBody>
          <a:bodyPr/>
          <a:lstStyle/>
          <a:p>
            <a:endParaRPr lang="en-US" sz="2400">
              <a:latin typeface="Nunito Sans" pitchFamily="2" charset="0"/>
            </a:endParaRPr>
          </a:p>
        </p:txBody>
      </p:sp>
      <p:sp>
        <p:nvSpPr>
          <p:cNvPr id="18" name="Text 16"/>
          <p:cNvSpPr/>
          <p:nvPr/>
        </p:nvSpPr>
        <p:spPr>
          <a:xfrm>
            <a:off x="1383189" y="4534099"/>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000000"/>
                </a:solidFill>
                <a:latin typeface="Nunito Sans" pitchFamily="2" charset="0"/>
                <a:ea typeface="Nunito Sans Bold" pitchFamily="34" charset="-122"/>
                <a:cs typeface="Nunito Sans Bold" pitchFamily="34" charset="-120"/>
              </a:rPr>
              <a:t>4</a:t>
            </a:r>
            <a:endParaRPr lang="en-US" sz="2400" dirty="0">
              <a:latin typeface="Nunito Sans" pitchFamily="2" charset="0"/>
            </a:endParaRPr>
          </a:p>
        </p:txBody>
      </p:sp>
      <p:sp>
        <p:nvSpPr>
          <p:cNvPr id="19" name="Text 17"/>
          <p:cNvSpPr/>
          <p:nvPr/>
        </p:nvSpPr>
        <p:spPr>
          <a:xfrm>
            <a:off x="2238202" y="4508160"/>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Justification</a:t>
            </a:r>
            <a:endParaRPr lang="en-US" sz="2400" dirty="0">
              <a:latin typeface="Nunito Sans" pitchFamily="2" charset="0"/>
            </a:endParaRPr>
          </a:p>
        </p:txBody>
      </p:sp>
      <p:sp>
        <p:nvSpPr>
          <p:cNvPr id="21" name="Shape 19"/>
          <p:cNvSpPr/>
          <p:nvPr/>
        </p:nvSpPr>
        <p:spPr>
          <a:xfrm>
            <a:off x="1245195" y="5015984"/>
            <a:ext cx="453628" cy="649962"/>
          </a:xfrm>
          <a:prstGeom prst="roundRect">
            <a:avLst>
              <a:gd name="adj" fmla="val 18470"/>
            </a:avLst>
          </a:prstGeom>
          <a:solidFill>
            <a:srgbClr val="F1E79A"/>
          </a:solidFill>
          <a:ln/>
        </p:spPr>
        <p:txBody>
          <a:bodyPr/>
          <a:lstStyle/>
          <a:p>
            <a:endParaRPr lang="en-US" sz="2400">
              <a:latin typeface="Nunito Sans" pitchFamily="2" charset="0"/>
            </a:endParaRPr>
          </a:p>
        </p:txBody>
      </p:sp>
      <p:sp>
        <p:nvSpPr>
          <p:cNvPr id="22" name="Text 20"/>
          <p:cNvSpPr/>
          <p:nvPr/>
        </p:nvSpPr>
        <p:spPr>
          <a:xfrm>
            <a:off x="1383189" y="5332554"/>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000000"/>
                </a:solidFill>
                <a:latin typeface="Nunito Sans" pitchFamily="2" charset="0"/>
                <a:ea typeface="Nunito Sans Bold" pitchFamily="34" charset="-122"/>
                <a:cs typeface="Nunito Sans Bold" pitchFamily="34" charset="-120"/>
              </a:rPr>
              <a:t>5</a:t>
            </a:r>
            <a:endParaRPr lang="en-US" sz="2400" dirty="0">
              <a:latin typeface="Nunito Sans" pitchFamily="2" charset="0"/>
            </a:endParaRPr>
          </a:p>
        </p:txBody>
      </p:sp>
      <p:sp>
        <p:nvSpPr>
          <p:cNvPr id="23" name="Text 21"/>
          <p:cNvSpPr/>
          <p:nvPr/>
        </p:nvSpPr>
        <p:spPr>
          <a:xfrm>
            <a:off x="2238202" y="5311279"/>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Scope of the Project</a:t>
            </a:r>
            <a:endParaRPr lang="en-US" sz="2400" dirty="0">
              <a:latin typeface="Nunito Sans" pitchFamily="2" charset="0"/>
            </a:endParaRPr>
          </a:p>
        </p:txBody>
      </p:sp>
      <p:sp>
        <p:nvSpPr>
          <p:cNvPr id="25" name="Shape 23"/>
          <p:cNvSpPr/>
          <p:nvPr/>
        </p:nvSpPr>
        <p:spPr>
          <a:xfrm>
            <a:off x="1245195" y="5809774"/>
            <a:ext cx="453628" cy="649962"/>
          </a:xfrm>
          <a:prstGeom prst="roundRect">
            <a:avLst>
              <a:gd name="adj" fmla="val 18470"/>
            </a:avLst>
          </a:prstGeom>
          <a:solidFill>
            <a:srgbClr val="429A92"/>
          </a:solidFill>
          <a:ln/>
        </p:spPr>
        <p:txBody>
          <a:bodyPr/>
          <a:lstStyle/>
          <a:p>
            <a:endParaRPr lang="en-US" sz="2400">
              <a:latin typeface="Nunito Sans" pitchFamily="2" charset="0"/>
            </a:endParaRPr>
          </a:p>
        </p:txBody>
      </p:sp>
      <p:sp>
        <p:nvSpPr>
          <p:cNvPr id="26" name="Text 24"/>
          <p:cNvSpPr/>
          <p:nvPr/>
        </p:nvSpPr>
        <p:spPr>
          <a:xfrm>
            <a:off x="1383189" y="6131006"/>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FFFFFF"/>
                </a:solidFill>
                <a:latin typeface="Nunito Sans" pitchFamily="2" charset="0"/>
                <a:ea typeface="Nunito Sans Bold" pitchFamily="34" charset="-122"/>
                <a:cs typeface="Nunito Sans Bold" pitchFamily="34" charset="-120"/>
              </a:rPr>
              <a:t>6</a:t>
            </a:r>
            <a:endParaRPr lang="en-US" sz="2400" dirty="0">
              <a:latin typeface="Nunito Sans" pitchFamily="2" charset="0"/>
            </a:endParaRPr>
          </a:p>
        </p:txBody>
      </p:sp>
      <p:sp>
        <p:nvSpPr>
          <p:cNvPr id="27" name="Text 25"/>
          <p:cNvSpPr/>
          <p:nvPr/>
        </p:nvSpPr>
        <p:spPr>
          <a:xfrm>
            <a:off x="2238202" y="6123731"/>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Literature Review</a:t>
            </a:r>
            <a:endParaRPr lang="en-US" sz="2400" dirty="0">
              <a:latin typeface="Nunito Sans" pitchFamily="2" charset="0"/>
            </a:endParaRPr>
          </a:p>
        </p:txBody>
      </p:sp>
      <p:sp>
        <p:nvSpPr>
          <p:cNvPr id="29" name="Shape 27"/>
          <p:cNvSpPr/>
          <p:nvPr/>
        </p:nvSpPr>
        <p:spPr>
          <a:xfrm>
            <a:off x="6502995" y="1856065"/>
            <a:ext cx="453628" cy="649962"/>
          </a:xfrm>
          <a:prstGeom prst="roundRect">
            <a:avLst>
              <a:gd name="adj" fmla="val 18470"/>
            </a:avLst>
          </a:prstGeom>
          <a:solidFill>
            <a:srgbClr val="A4ECF9"/>
          </a:solidFill>
          <a:ln/>
        </p:spPr>
        <p:txBody>
          <a:bodyPr/>
          <a:lstStyle/>
          <a:p>
            <a:endParaRPr lang="en-US" sz="2400">
              <a:latin typeface="Nunito Sans" pitchFamily="2" charset="0"/>
            </a:endParaRPr>
          </a:p>
        </p:txBody>
      </p:sp>
      <p:sp>
        <p:nvSpPr>
          <p:cNvPr id="30" name="Text 28"/>
          <p:cNvSpPr/>
          <p:nvPr/>
        </p:nvSpPr>
        <p:spPr>
          <a:xfrm>
            <a:off x="6640989" y="2191289"/>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000000"/>
                </a:solidFill>
                <a:latin typeface="Nunito Sans" pitchFamily="2" charset="0"/>
                <a:ea typeface="Nunito Sans Bold" pitchFamily="34" charset="-122"/>
                <a:cs typeface="Nunito Sans Bold" pitchFamily="34" charset="-120"/>
              </a:rPr>
              <a:t>7</a:t>
            </a:r>
            <a:endParaRPr lang="en-US" sz="2400" dirty="0">
              <a:latin typeface="Nunito Sans" pitchFamily="2" charset="0"/>
            </a:endParaRPr>
          </a:p>
        </p:txBody>
      </p:sp>
      <p:sp>
        <p:nvSpPr>
          <p:cNvPr id="31" name="Text 29"/>
          <p:cNvSpPr/>
          <p:nvPr/>
        </p:nvSpPr>
        <p:spPr>
          <a:xfrm>
            <a:off x="7516784" y="2151355"/>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Methodology</a:t>
            </a:r>
            <a:endParaRPr lang="en-US" sz="2400" dirty="0">
              <a:latin typeface="Nunito Sans" pitchFamily="2" charset="0"/>
            </a:endParaRPr>
          </a:p>
        </p:txBody>
      </p:sp>
      <p:sp>
        <p:nvSpPr>
          <p:cNvPr id="33" name="Shape 31"/>
          <p:cNvSpPr/>
          <p:nvPr/>
        </p:nvSpPr>
        <p:spPr>
          <a:xfrm>
            <a:off x="6502995" y="2649855"/>
            <a:ext cx="453628" cy="649962"/>
          </a:xfrm>
          <a:prstGeom prst="roundRect">
            <a:avLst>
              <a:gd name="adj" fmla="val 18470"/>
            </a:avLst>
          </a:prstGeom>
          <a:solidFill>
            <a:srgbClr val="F9A7A7"/>
          </a:solidFill>
          <a:ln/>
        </p:spPr>
        <p:txBody>
          <a:bodyPr/>
          <a:lstStyle/>
          <a:p>
            <a:endParaRPr lang="en-US" sz="2400">
              <a:latin typeface="Nunito Sans" pitchFamily="2" charset="0"/>
            </a:endParaRPr>
          </a:p>
        </p:txBody>
      </p:sp>
      <p:sp>
        <p:nvSpPr>
          <p:cNvPr id="34" name="Text 32"/>
          <p:cNvSpPr/>
          <p:nvPr/>
        </p:nvSpPr>
        <p:spPr>
          <a:xfrm>
            <a:off x="6640989" y="2966425"/>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000000"/>
                </a:solidFill>
                <a:latin typeface="Nunito Sans" pitchFamily="2" charset="0"/>
                <a:ea typeface="Nunito Sans Bold" pitchFamily="34" charset="-122"/>
                <a:cs typeface="Nunito Sans Bold" pitchFamily="34" charset="-120"/>
              </a:rPr>
              <a:t>8</a:t>
            </a:r>
            <a:endParaRPr lang="en-US" sz="2400" dirty="0">
              <a:latin typeface="Nunito Sans" pitchFamily="2" charset="0"/>
            </a:endParaRPr>
          </a:p>
        </p:txBody>
      </p:sp>
      <p:sp>
        <p:nvSpPr>
          <p:cNvPr id="35" name="Text 33"/>
          <p:cNvSpPr/>
          <p:nvPr/>
        </p:nvSpPr>
        <p:spPr>
          <a:xfrm>
            <a:off x="7516784" y="2945150"/>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Tools and Equipment</a:t>
            </a:r>
            <a:endParaRPr lang="en-US" sz="2400" dirty="0">
              <a:latin typeface="Nunito Sans" pitchFamily="2" charset="0"/>
            </a:endParaRPr>
          </a:p>
        </p:txBody>
      </p:sp>
      <p:sp>
        <p:nvSpPr>
          <p:cNvPr id="37" name="Shape 35"/>
          <p:cNvSpPr/>
          <p:nvPr/>
        </p:nvSpPr>
        <p:spPr>
          <a:xfrm>
            <a:off x="6502995" y="3443645"/>
            <a:ext cx="453628" cy="649962"/>
          </a:xfrm>
          <a:prstGeom prst="roundRect">
            <a:avLst>
              <a:gd name="adj" fmla="val 18470"/>
            </a:avLst>
          </a:prstGeom>
          <a:solidFill>
            <a:srgbClr val="F1E79A"/>
          </a:solidFill>
          <a:ln/>
        </p:spPr>
        <p:txBody>
          <a:bodyPr/>
          <a:lstStyle/>
          <a:p>
            <a:endParaRPr lang="en-US" sz="2400">
              <a:latin typeface="Nunito Sans" pitchFamily="2" charset="0"/>
            </a:endParaRPr>
          </a:p>
        </p:txBody>
      </p:sp>
      <p:sp>
        <p:nvSpPr>
          <p:cNvPr id="38" name="Text 36"/>
          <p:cNvSpPr/>
          <p:nvPr/>
        </p:nvSpPr>
        <p:spPr>
          <a:xfrm>
            <a:off x="6640989" y="3750885"/>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000000"/>
                </a:solidFill>
                <a:latin typeface="Nunito Sans" pitchFamily="2" charset="0"/>
                <a:ea typeface="Nunito Sans Bold" pitchFamily="34" charset="-122"/>
                <a:cs typeface="Nunito Sans Bold" pitchFamily="34" charset="-120"/>
              </a:rPr>
              <a:t>9</a:t>
            </a:r>
            <a:endParaRPr lang="en-US" sz="2400" dirty="0">
              <a:latin typeface="Nunito Sans" pitchFamily="2" charset="0"/>
            </a:endParaRPr>
          </a:p>
        </p:txBody>
      </p:sp>
      <p:sp>
        <p:nvSpPr>
          <p:cNvPr id="39" name="Text 37"/>
          <p:cNvSpPr/>
          <p:nvPr/>
        </p:nvSpPr>
        <p:spPr>
          <a:xfrm>
            <a:off x="7516784" y="3696947"/>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Project Timeline</a:t>
            </a:r>
            <a:endParaRPr lang="en-US" sz="2400" dirty="0">
              <a:latin typeface="Nunito Sans" pitchFamily="2" charset="0"/>
            </a:endParaRPr>
          </a:p>
        </p:txBody>
      </p:sp>
      <p:sp>
        <p:nvSpPr>
          <p:cNvPr id="41" name="Shape 39"/>
          <p:cNvSpPr/>
          <p:nvPr/>
        </p:nvSpPr>
        <p:spPr>
          <a:xfrm>
            <a:off x="6502995" y="4342685"/>
            <a:ext cx="453628" cy="649962"/>
          </a:xfrm>
          <a:prstGeom prst="roundRect">
            <a:avLst>
              <a:gd name="adj" fmla="val 18470"/>
            </a:avLst>
          </a:prstGeom>
          <a:solidFill>
            <a:srgbClr val="429A92"/>
          </a:solidFill>
          <a:ln/>
        </p:spPr>
        <p:txBody>
          <a:bodyPr/>
          <a:lstStyle/>
          <a:p>
            <a:endParaRPr lang="en-US" sz="2400">
              <a:latin typeface="Nunito Sans" pitchFamily="2" charset="0"/>
            </a:endParaRPr>
          </a:p>
        </p:txBody>
      </p:sp>
      <p:sp>
        <p:nvSpPr>
          <p:cNvPr id="42" name="Text 40"/>
          <p:cNvSpPr/>
          <p:nvPr/>
        </p:nvSpPr>
        <p:spPr>
          <a:xfrm>
            <a:off x="6547683" y="4663920"/>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FFFFFF"/>
                </a:solidFill>
                <a:latin typeface="Nunito Sans" pitchFamily="2" charset="0"/>
                <a:ea typeface="Nunito Sans Bold" pitchFamily="34" charset="-122"/>
                <a:cs typeface="Nunito Sans Bold" pitchFamily="34" charset="-120"/>
              </a:rPr>
              <a:t>10</a:t>
            </a:r>
            <a:endParaRPr lang="en-US" sz="2400" dirty="0">
              <a:latin typeface="Nunito Sans" pitchFamily="2" charset="0"/>
            </a:endParaRPr>
          </a:p>
        </p:txBody>
      </p:sp>
      <p:sp>
        <p:nvSpPr>
          <p:cNvPr id="43" name="Text 41"/>
          <p:cNvSpPr/>
          <p:nvPr/>
        </p:nvSpPr>
        <p:spPr>
          <a:xfrm>
            <a:off x="7516784" y="4642642"/>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Significance</a:t>
            </a:r>
            <a:endParaRPr lang="en-US" sz="2400" dirty="0">
              <a:latin typeface="Nunito Sans" pitchFamily="2" charset="0"/>
            </a:endParaRPr>
          </a:p>
        </p:txBody>
      </p:sp>
      <p:sp>
        <p:nvSpPr>
          <p:cNvPr id="45" name="Shape 43"/>
          <p:cNvSpPr/>
          <p:nvPr/>
        </p:nvSpPr>
        <p:spPr>
          <a:xfrm>
            <a:off x="6502995" y="5136475"/>
            <a:ext cx="453628" cy="649962"/>
          </a:xfrm>
          <a:prstGeom prst="roundRect">
            <a:avLst>
              <a:gd name="adj" fmla="val 18470"/>
            </a:avLst>
          </a:prstGeom>
          <a:solidFill>
            <a:srgbClr val="A4ECF9"/>
          </a:solidFill>
          <a:ln/>
        </p:spPr>
        <p:txBody>
          <a:bodyPr/>
          <a:lstStyle/>
          <a:p>
            <a:endParaRPr lang="en-US" sz="2400">
              <a:latin typeface="Nunito Sans" pitchFamily="2" charset="0"/>
            </a:endParaRPr>
          </a:p>
        </p:txBody>
      </p:sp>
      <p:sp>
        <p:nvSpPr>
          <p:cNvPr id="46" name="Text 44"/>
          <p:cNvSpPr/>
          <p:nvPr/>
        </p:nvSpPr>
        <p:spPr>
          <a:xfrm>
            <a:off x="6552351" y="5457708"/>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000000"/>
                </a:solidFill>
                <a:latin typeface="Nunito Sans" pitchFamily="2" charset="0"/>
                <a:ea typeface="Nunito Sans Bold" pitchFamily="34" charset="-122"/>
                <a:cs typeface="Nunito Sans Bold" pitchFamily="34" charset="-120"/>
              </a:rPr>
              <a:t>11</a:t>
            </a:r>
            <a:endParaRPr lang="en-US" sz="2400" dirty="0">
              <a:latin typeface="Nunito Sans" pitchFamily="2" charset="0"/>
            </a:endParaRPr>
          </a:p>
        </p:txBody>
      </p:sp>
      <p:sp>
        <p:nvSpPr>
          <p:cNvPr id="47" name="Text 45"/>
          <p:cNvSpPr/>
          <p:nvPr/>
        </p:nvSpPr>
        <p:spPr>
          <a:xfrm>
            <a:off x="7516784" y="5441101"/>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Conclusion</a:t>
            </a:r>
            <a:endParaRPr lang="en-US" sz="2400" dirty="0">
              <a:latin typeface="Nunito Sans" pitchFamily="2" charset="0"/>
            </a:endParaRPr>
          </a:p>
        </p:txBody>
      </p:sp>
      <p:sp>
        <p:nvSpPr>
          <p:cNvPr id="49" name="Shape 47"/>
          <p:cNvSpPr/>
          <p:nvPr/>
        </p:nvSpPr>
        <p:spPr>
          <a:xfrm>
            <a:off x="6502995" y="5930265"/>
            <a:ext cx="453628" cy="649962"/>
          </a:xfrm>
          <a:prstGeom prst="roundRect">
            <a:avLst>
              <a:gd name="adj" fmla="val 18470"/>
            </a:avLst>
          </a:prstGeom>
          <a:solidFill>
            <a:srgbClr val="F9A7A7"/>
          </a:solidFill>
          <a:ln/>
        </p:spPr>
        <p:txBody>
          <a:bodyPr/>
          <a:lstStyle/>
          <a:p>
            <a:endParaRPr lang="en-US" sz="2400">
              <a:latin typeface="Nunito Sans" pitchFamily="2" charset="0"/>
            </a:endParaRPr>
          </a:p>
        </p:txBody>
      </p:sp>
      <p:sp>
        <p:nvSpPr>
          <p:cNvPr id="50" name="Text 48"/>
          <p:cNvSpPr/>
          <p:nvPr/>
        </p:nvSpPr>
        <p:spPr>
          <a:xfrm>
            <a:off x="6533688" y="6218842"/>
            <a:ext cx="170021" cy="212646"/>
          </a:xfrm>
          <a:prstGeom prst="rect">
            <a:avLst/>
          </a:prstGeom>
          <a:noFill/>
          <a:ln/>
        </p:spPr>
        <p:txBody>
          <a:bodyPr wrap="none" lIns="0" tIns="0" rIns="0" bIns="0" rtlCol="0" anchor="t"/>
          <a:lstStyle/>
          <a:p>
            <a:pPr marL="0" indent="0" algn="l">
              <a:lnSpc>
                <a:spcPts val="1300"/>
              </a:lnSpc>
              <a:buNone/>
            </a:pPr>
            <a:r>
              <a:rPr lang="en-US" sz="2400" b="1" dirty="0">
                <a:solidFill>
                  <a:srgbClr val="000000"/>
                </a:solidFill>
                <a:latin typeface="Nunito Sans" pitchFamily="2" charset="0"/>
                <a:ea typeface="Nunito Sans Bold" pitchFamily="34" charset="-122"/>
                <a:cs typeface="Nunito Sans Bold" pitchFamily="34" charset="-120"/>
              </a:rPr>
              <a:t>12</a:t>
            </a:r>
            <a:endParaRPr lang="en-US" sz="2400" dirty="0">
              <a:latin typeface="Nunito Sans" pitchFamily="2" charset="0"/>
            </a:endParaRPr>
          </a:p>
        </p:txBody>
      </p:sp>
      <p:sp>
        <p:nvSpPr>
          <p:cNvPr id="51" name="Text 49"/>
          <p:cNvSpPr/>
          <p:nvPr/>
        </p:nvSpPr>
        <p:spPr>
          <a:xfrm>
            <a:off x="7516784" y="6183575"/>
            <a:ext cx="1417558" cy="177165"/>
          </a:xfrm>
          <a:prstGeom prst="rect">
            <a:avLst/>
          </a:prstGeom>
          <a:noFill/>
          <a:ln/>
        </p:spPr>
        <p:txBody>
          <a:bodyPr wrap="none" lIns="0" tIns="0" rIns="0" bIns="0" rtlCol="0" anchor="t"/>
          <a:lstStyle/>
          <a:p>
            <a:pPr marL="0" indent="0" algn="l">
              <a:lnSpc>
                <a:spcPts val="1350"/>
              </a:lnSpc>
              <a:buNone/>
            </a:pPr>
            <a:r>
              <a:rPr lang="en-US" sz="2400" b="1" dirty="0">
                <a:solidFill>
                  <a:srgbClr val="272525"/>
                </a:solidFill>
                <a:latin typeface="Nunito Sans" pitchFamily="2" charset="0"/>
                <a:ea typeface="Nunito Sans Bold" pitchFamily="34" charset="-122"/>
                <a:cs typeface="Nunito Sans Bold" pitchFamily="34" charset="-120"/>
              </a:rPr>
              <a:t>References</a:t>
            </a:r>
            <a:endParaRPr lang="en-US" sz="2400" dirty="0">
              <a:latin typeface="Nunito Sans" pitchFamily="2" charset="0"/>
            </a:endParaRPr>
          </a:p>
        </p:txBody>
      </p:sp>
    </p:spTree>
    <p:extLst>
      <p:ext uri="{BB962C8B-B14F-4D97-AF65-F5344CB8AC3E}">
        <p14:creationId xmlns:p14="http://schemas.microsoft.com/office/powerpoint/2010/main" val="2462378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52D1FE-D155-6048-E3EE-96CAE2805512}"/>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4A70D85-63FE-51E5-0C42-3CC4012339EB}"/>
              </a:ext>
            </a:extLst>
          </p:cNvPr>
          <p:cNvSpPr/>
          <p:nvPr/>
        </p:nvSpPr>
        <p:spPr>
          <a:xfrm>
            <a:off x="578498" y="408550"/>
            <a:ext cx="13258113" cy="904240"/>
          </a:xfrm>
          <a:prstGeom prst="rect">
            <a:avLst/>
          </a:prstGeom>
          <a:noFill/>
          <a:ln/>
        </p:spPr>
        <p:txBody>
          <a:bodyPr wrap="square" lIns="0" tIns="0" rIns="0" bIns="0" rtlCol="0" anchor="t"/>
          <a:lstStyle/>
          <a:p>
            <a:pPr marL="0" indent="0" algn="ctr">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Background</a:t>
            </a:r>
            <a:endParaRPr lang="en-US" sz="4450" b="1" dirty="0">
              <a:latin typeface="Nunito Sans" pitchFamily="2" charset="0"/>
            </a:endParaRPr>
          </a:p>
        </p:txBody>
      </p:sp>
      <p:sp>
        <p:nvSpPr>
          <p:cNvPr id="6" name="Text 3">
            <a:extLst>
              <a:ext uri="{FF2B5EF4-FFF2-40B4-BE49-F238E27FC236}">
                <a16:creationId xmlns:a16="http://schemas.microsoft.com/office/drawing/2014/main" id="{6FA00834-F975-1A1E-524C-7B559E09611F}"/>
              </a:ext>
            </a:extLst>
          </p:cNvPr>
          <p:cNvSpPr/>
          <p:nvPr/>
        </p:nvSpPr>
        <p:spPr>
          <a:xfrm>
            <a:off x="537198" y="4236954"/>
            <a:ext cx="3707397" cy="3339503"/>
          </a:xfrm>
          <a:prstGeom prst="rect">
            <a:avLst/>
          </a:prstGeom>
          <a:noFill/>
          <a:ln/>
        </p:spPr>
        <p:txBody>
          <a:bodyPr wrap="square" lIns="0" tIns="0" rIns="0" bIns="0" rtlCol="0" anchor="t"/>
          <a:lstStyle/>
          <a:p>
            <a:pPr algn="ctr">
              <a:lnSpc>
                <a:spcPts val="2850"/>
              </a:lnSpc>
            </a:pPr>
            <a:r>
              <a:rPr lang="en-US" sz="1600" dirty="0"/>
              <a:t>UCC reports that network subscriptions reached </a:t>
            </a:r>
            <a:r>
              <a:rPr lang="en-US" sz="1600" b="1" dirty="0"/>
              <a:t>33.2 million </a:t>
            </a:r>
            <a:r>
              <a:rPr lang="en-US" sz="1600" dirty="0"/>
              <a:t>by the end of 2022, and mobile data traffic doubled from 217 million GB in 2020 to 421.5 million GB in 2022 showing an exponential growth in network service demand. [1]</a:t>
            </a:r>
          </a:p>
        </p:txBody>
      </p:sp>
      <p:sp>
        <p:nvSpPr>
          <p:cNvPr id="4" name="Shape 7">
            <a:extLst>
              <a:ext uri="{FF2B5EF4-FFF2-40B4-BE49-F238E27FC236}">
                <a16:creationId xmlns:a16="http://schemas.microsoft.com/office/drawing/2014/main" id="{CD9B2D8A-F03E-D10E-263D-3899E15AD1A9}"/>
              </a:ext>
            </a:extLst>
          </p:cNvPr>
          <p:cNvSpPr/>
          <p:nvPr/>
        </p:nvSpPr>
        <p:spPr>
          <a:xfrm>
            <a:off x="486713" y="1450911"/>
            <a:ext cx="3707397" cy="2076060"/>
          </a:xfrm>
          <a:prstGeom prst="roundRect">
            <a:avLst>
              <a:gd name="adj" fmla="val 12082"/>
            </a:avLst>
          </a:prstGeom>
          <a:solidFill>
            <a:srgbClr val="006A60"/>
          </a:solidFill>
          <a:ln>
            <a:solidFill>
              <a:srgbClr val="FFFF00"/>
            </a:solidFill>
          </a:ln>
        </p:spPr>
        <p:txBody>
          <a:bodyPr/>
          <a:lstStyle/>
          <a:p>
            <a:pPr algn="ctr">
              <a:spcAft>
                <a:spcPts val="1200"/>
              </a:spcAft>
            </a:pPr>
            <a:r>
              <a:rPr lang="en-US" sz="2400" b="1" dirty="0">
                <a:solidFill>
                  <a:schemeClr val="bg1"/>
                </a:solidFill>
              </a:rPr>
              <a:t>33.2 million Ugandans </a:t>
            </a:r>
          </a:p>
          <a:p>
            <a:pPr algn="ctr">
              <a:spcAft>
                <a:spcPts val="1200"/>
              </a:spcAft>
            </a:pPr>
            <a:r>
              <a:rPr lang="en-US" sz="1600" dirty="0">
                <a:solidFill>
                  <a:schemeClr val="bg1"/>
                </a:solidFill>
              </a:rPr>
              <a:t>exchanged </a:t>
            </a:r>
          </a:p>
          <a:p>
            <a:pPr algn="ctr">
              <a:spcAft>
                <a:spcPts val="1200"/>
              </a:spcAft>
            </a:pPr>
            <a:r>
              <a:rPr lang="en-US" sz="2400" b="1" dirty="0">
                <a:solidFill>
                  <a:schemeClr val="bg1"/>
                </a:solidFill>
              </a:rPr>
              <a:t>421.5 million GBs </a:t>
            </a:r>
          </a:p>
          <a:p>
            <a:pPr algn="ctr">
              <a:spcAft>
                <a:spcPts val="1200"/>
              </a:spcAft>
            </a:pPr>
            <a:r>
              <a:rPr lang="en-US" sz="1600" dirty="0">
                <a:solidFill>
                  <a:schemeClr val="bg1"/>
                </a:solidFill>
              </a:rPr>
              <a:t>in 2022</a:t>
            </a:r>
          </a:p>
        </p:txBody>
      </p:sp>
      <p:sp>
        <p:nvSpPr>
          <p:cNvPr id="5" name="Text 3">
            <a:extLst>
              <a:ext uri="{FF2B5EF4-FFF2-40B4-BE49-F238E27FC236}">
                <a16:creationId xmlns:a16="http://schemas.microsoft.com/office/drawing/2014/main" id="{99E754E8-5F90-D7F0-96EB-DCFAC43A2F40}"/>
              </a:ext>
            </a:extLst>
          </p:cNvPr>
          <p:cNvSpPr/>
          <p:nvPr/>
        </p:nvSpPr>
        <p:spPr>
          <a:xfrm>
            <a:off x="10436290" y="4117212"/>
            <a:ext cx="3707398" cy="3665348"/>
          </a:xfrm>
          <a:prstGeom prst="rect">
            <a:avLst/>
          </a:prstGeom>
          <a:noFill/>
          <a:ln/>
        </p:spPr>
        <p:txBody>
          <a:bodyPr wrap="square" lIns="0" tIns="0" rIns="0" bIns="0" rtlCol="0" anchor="t"/>
          <a:lstStyle/>
          <a:p>
            <a:pPr algn="ctr">
              <a:lnSpc>
                <a:spcPts val="2850"/>
              </a:lnSpc>
            </a:pPr>
            <a:r>
              <a:rPr lang="en-US" sz="1400" dirty="0"/>
              <a:t>Many people in rural Uganda still use basic phones for calls and Mobile Money, but the signal is often very weak and are being blocked or "noised up" by illegal boosters, unlicensed community radios (</a:t>
            </a:r>
            <a:r>
              <a:rPr lang="en-US" sz="1400" dirty="0" err="1"/>
              <a:t>Bizindaalo</a:t>
            </a:r>
            <a:r>
              <a:rPr lang="en-US" sz="1400" dirty="0"/>
              <a:t>), and heavy tropical rain. [7][23][24][25]</a:t>
            </a:r>
          </a:p>
        </p:txBody>
      </p:sp>
      <p:sp>
        <p:nvSpPr>
          <p:cNvPr id="7" name="Shape 7">
            <a:extLst>
              <a:ext uri="{FF2B5EF4-FFF2-40B4-BE49-F238E27FC236}">
                <a16:creationId xmlns:a16="http://schemas.microsoft.com/office/drawing/2014/main" id="{B18E3763-9825-8DA1-ABB5-24E1E875CAAD}"/>
              </a:ext>
            </a:extLst>
          </p:cNvPr>
          <p:cNvSpPr/>
          <p:nvPr/>
        </p:nvSpPr>
        <p:spPr>
          <a:xfrm>
            <a:off x="5355050" y="1450911"/>
            <a:ext cx="3707397" cy="2076060"/>
          </a:xfrm>
          <a:prstGeom prst="roundRect">
            <a:avLst>
              <a:gd name="adj" fmla="val 12082"/>
            </a:avLst>
          </a:prstGeom>
          <a:solidFill>
            <a:srgbClr val="006A60"/>
          </a:solidFill>
          <a:ln>
            <a:solidFill>
              <a:srgbClr val="FFFF00"/>
            </a:solidFill>
          </a:ln>
        </p:spPr>
        <p:txBody>
          <a:bodyPr/>
          <a:lstStyle/>
          <a:p>
            <a:pPr algn="ctr">
              <a:spcAft>
                <a:spcPts val="1200"/>
              </a:spcAft>
            </a:pPr>
            <a:r>
              <a:rPr lang="en-US" sz="2400" b="1" dirty="0">
                <a:solidFill>
                  <a:schemeClr val="bg1"/>
                </a:solidFill>
              </a:rPr>
              <a:t>31% of Ugandans </a:t>
            </a:r>
          </a:p>
          <a:p>
            <a:pPr algn="ctr">
              <a:spcAft>
                <a:spcPts val="1200"/>
              </a:spcAft>
            </a:pPr>
            <a:r>
              <a:rPr lang="en-US" sz="1600" dirty="0">
                <a:solidFill>
                  <a:schemeClr val="bg1"/>
                </a:solidFill>
              </a:rPr>
              <a:t>have 5G </a:t>
            </a:r>
          </a:p>
          <a:p>
            <a:pPr algn="ctr">
              <a:spcAft>
                <a:spcPts val="1200"/>
              </a:spcAft>
            </a:pPr>
            <a:r>
              <a:rPr lang="en-US" sz="2400" b="1" dirty="0">
                <a:solidFill>
                  <a:schemeClr val="bg1"/>
                </a:solidFill>
              </a:rPr>
              <a:t>62% of Ugandans </a:t>
            </a:r>
          </a:p>
          <a:p>
            <a:pPr algn="ctr">
              <a:spcAft>
                <a:spcPts val="1200"/>
              </a:spcAft>
            </a:pPr>
            <a:r>
              <a:rPr lang="en-US" sz="1600" dirty="0">
                <a:solidFill>
                  <a:schemeClr val="bg1"/>
                </a:solidFill>
              </a:rPr>
              <a:t>Lack mobile internet access</a:t>
            </a:r>
          </a:p>
        </p:txBody>
      </p:sp>
      <p:sp>
        <p:nvSpPr>
          <p:cNvPr id="8" name="Text 3">
            <a:extLst>
              <a:ext uri="{FF2B5EF4-FFF2-40B4-BE49-F238E27FC236}">
                <a16:creationId xmlns:a16="http://schemas.microsoft.com/office/drawing/2014/main" id="{8AEA718D-075D-BD70-DB3A-898DC6835001}"/>
              </a:ext>
            </a:extLst>
          </p:cNvPr>
          <p:cNvSpPr/>
          <p:nvPr/>
        </p:nvSpPr>
        <p:spPr>
          <a:xfrm>
            <a:off x="5212070" y="4117212"/>
            <a:ext cx="4048298" cy="3829756"/>
          </a:xfrm>
          <a:prstGeom prst="rect">
            <a:avLst/>
          </a:prstGeom>
          <a:noFill/>
          <a:ln/>
        </p:spPr>
        <p:txBody>
          <a:bodyPr wrap="square" lIns="0" tIns="0" rIns="0" bIns="0" rtlCol="0" anchor="t"/>
          <a:lstStyle/>
          <a:p>
            <a:pPr algn="ctr">
              <a:lnSpc>
                <a:spcPts val="2850"/>
              </a:lnSpc>
            </a:pPr>
            <a:r>
              <a:rPr lang="en-US" sz="1400" dirty="0"/>
              <a:t>Unfortunately, network expansion is failing to keep pace with this demand; only 31% of the population and 24% of the landmass have 4G coverage and 62% of the population (30 million people) still lacks mobile internet access, and live in low SNR, high-interference environments where the signal is weak (below -90 dBm), the noise becomes louder than the message, making it impossible for standard tools to understand what is being sent[3][4][5][6]</a:t>
            </a:r>
          </a:p>
        </p:txBody>
      </p:sp>
      <p:sp>
        <p:nvSpPr>
          <p:cNvPr id="9" name="Shape 7">
            <a:extLst>
              <a:ext uri="{FF2B5EF4-FFF2-40B4-BE49-F238E27FC236}">
                <a16:creationId xmlns:a16="http://schemas.microsoft.com/office/drawing/2014/main" id="{05211C51-9DD5-A6D1-152E-3F7F463CEDC8}"/>
              </a:ext>
            </a:extLst>
          </p:cNvPr>
          <p:cNvSpPr/>
          <p:nvPr/>
        </p:nvSpPr>
        <p:spPr>
          <a:xfrm>
            <a:off x="10436290" y="1412118"/>
            <a:ext cx="3707397" cy="2076060"/>
          </a:xfrm>
          <a:prstGeom prst="roundRect">
            <a:avLst>
              <a:gd name="adj" fmla="val 12082"/>
            </a:avLst>
          </a:prstGeom>
          <a:solidFill>
            <a:srgbClr val="006A60"/>
          </a:solidFill>
          <a:ln>
            <a:solidFill>
              <a:srgbClr val="FFFF00"/>
            </a:solidFill>
          </a:ln>
        </p:spPr>
        <p:txBody>
          <a:bodyPr/>
          <a:lstStyle/>
          <a:p>
            <a:pPr algn="ctr">
              <a:spcAft>
                <a:spcPts val="1200"/>
              </a:spcAft>
            </a:pPr>
            <a:endParaRPr lang="en-US" sz="2400" b="1" dirty="0">
              <a:solidFill>
                <a:schemeClr val="bg1"/>
              </a:solidFill>
            </a:endParaRPr>
          </a:p>
          <a:p>
            <a:pPr algn="ctr">
              <a:spcAft>
                <a:spcPts val="1200"/>
              </a:spcAft>
            </a:pPr>
            <a:r>
              <a:rPr lang="en-US" sz="2400" b="1" dirty="0">
                <a:solidFill>
                  <a:schemeClr val="bg1"/>
                </a:solidFill>
              </a:rPr>
              <a:t>Most Ugandans still use basic phones</a:t>
            </a:r>
          </a:p>
        </p:txBody>
      </p:sp>
    </p:spTree>
    <p:extLst>
      <p:ext uri="{BB962C8B-B14F-4D97-AF65-F5344CB8AC3E}">
        <p14:creationId xmlns:p14="http://schemas.microsoft.com/office/powerpoint/2010/main" val="2398515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3">
    <p:bg>
      <p:bgPr>
        <a:solidFill>
          <a:srgbClr val="E6F9FF"/>
        </a:solidFill>
        <a:effectLst/>
      </p:bgPr>
    </p:bg>
    <p:spTree>
      <p:nvGrpSpPr>
        <p:cNvPr id="1" name=""/>
        <p:cNvGrpSpPr/>
        <p:nvPr/>
      </p:nvGrpSpPr>
      <p:grpSpPr>
        <a:xfrm>
          <a:off x="0" y="0"/>
          <a:ext cx="0" cy="0"/>
          <a:chOff x="0" y="0"/>
          <a:chExt cx="0" cy="0"/>
        </a:xfrm>
      </p:grpSpPr>
      <p:sp>
        <p:nvSpPr>
          <p:cNvPr id="2" name="Text 0"/>
          <p:cNvSpPr/>
          <p:nvPr/>
        </p:nvSpPr>
        <p:spPr>
          <a:xfrm>
            <a:off x="541852" y="425768"/>
            <a:ext cx="5787827" cy="715923"/>
          </a:xfrm>
          <a:prstGeom prst="rect">
            <a:avLst/>
          </a:prstGeom>
          <a:noFill/>
          <a:ln/>
        </p:spPr>
        <p:txBody>
          <a:bodyPr wrap="none" lIns="0" tIns="0" rIns="0" bIns="0" rtlCol="0" anchor="t"/>
          <a:lstStyle/>
          <a:p>
            <a:pPr marL="0" indent="0" algn="l">
              <a:lnSpc>
                <a:spcPts val="3800"/>
              </a:lnSpc>
              <a:buNone/>
            </a:pPr>
            <a:r>
              <a:rPr lang="en-US" sz="3600" b="1" dirty="0">
                <a:solidFill>
                  <a:srgbClr val="006A60"/>
                </a:solidFill>
              </a:rPr>
              <a:t>Background continuation</a:t>
            </a:r>
          </a:p>
        </p:txBody>
      </p:sp>
      <p:pic>
        <p:nvPicPr>
          <p:cNvPr id="16" name="Image 0" descr="preencoded.png"/>
          <p:cNvPicPr>
            <a:picLocks noChangeAspect="1"/>
          </p:cNvPicPr>
          <p:nvPr/>
        </p:nvPicPr>
        <p:blipFill>
          <a:blip r:embed="rId3">
            <a:alphaModFix amt="20000"/>
          </a:blip>
          <a:srcRect t="10970" r="26686" b="14121"/>
          <a:stretch>
            <a:fillRect/>
          </a:stretch>
        </p:blipFill>
        <p:spPr>
          <a:xfrm>
            <a:off x="6409113" y="0"/>
            <a:ext cx="8221288" cy="8229600"/>
          </a:xfrm>
          <a:prstGeom prst="rect">
            <a:avLst/>
          </a:prstGeom>
          <a:ln>
            <a:noFill/>
          </a:ln>
          <a:effectLst>
            <a:softEdge rad="723900"/>
          </a:effectLst>
        </p:spPr>
      </p:pic>
      <p:sp>
        <p:nvSpPr>
          <p:cNvPr id="17" name="Text 14"/>
          <p:cNvSpPr/>
          <p:nvPr/>
        </p:nvSpPr>
        <p:spPr>
          <a:xfrm>
            <a:off x="541853" y="8883372"/>
            <a:ext cx="13546693" cy="247650"/>
          </a:xfrm>
          <a:prstGeom prst="rect">
            <a:avLst/>
          </a:prstGeom>
          <a:noFill/>
          <a:ln/>
        </p:spPr>
        <p:txBody>
          <a:bodyPr wrap="none" lIns="0" tIns="0" rIns="0" bIns="0" rtlCol="0" anchor="t"/>
          <a:lstStyle/>
          <a:p>
            <a:pPr marL="0" indent="0" algn="l">
              <a:lnSpc>
                <a:spcPts val="1950"/>
              </a:lnSpc>
              <a:buNone/>
            </a:pPr>
            <a:endParaRPr lang="en-US" sz="1200" dirty="0"/>
          </a:p>
        </p:txBody>
      </p:sp>
      <p:sp>
        <p:nvSpPr>
          <p:cNvPr id="18" name="Text 3">
            <a:extLst>
              <a:ext uri="{FF2B5EF4-FFF2-40B4-BE49-F238E27FC236}">
                <a16:creationId xmlns:a16="http://schemas.microsoft.com/office/drawing/2014/main" id="{74BC1CB0-C677-43C6-D8AE-46F3F5329D4E}"/>
              </a:ext>
            </a:extLst>
          </p:cNvPr>
          <p:cNvSpPr/>
          <p:nvPr/>
        </p:nvSpPr>
        <p:spPr>
          <a:xfrm>
            <a:off x="417870" y="1383031"/>
            <a:ext cx="6793422" cy="6186169"/>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b="1" dirty="0"/>
              <a:t>Automatic Modulation Classification (AMC) </a:t>
            </a:r>
            <a:r>
              <a:rPr lang="en-US" dirty="0"/>
              <a:t>is crucial for regulators to monitor the spectrum, manage interference, and identify illegal broadcasters that threaten critical services like aviation. [7]</a:t>
            </a:r>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r>
              <a:rPr lang="en-US" dirty="0"/>
              <a:t>We propose using a </a:t>
            </a:r>
            <a:r>
              <a:rPr lang="en-US" b="1" dirty="0"/>
              <a:t>Denoising Autoencoder (DAE) </a:t>
            </a:r>
            <a:r>
              <a:rPr lang="en-US" dirty="0"/>
              <a:t>combined with an </a:t>
            </a:r>
            <a:r>
              <a:rPr lang="en-US" b="1" dirty="0"/>
              <a:t>Automatic Modulation Classifier (AMC)</a:t>
            </a:r>
            <a:r>
              <a:rPr lang="en-US" dirty="0"/>
              <a:t> system that takes a noisy signal (e.g., at -90 dBm or even lower) and actively cleans it up removing noise before trying to classify or demodulate it. </a:t>
            </a:r>
            <a:r>
              <a:rPr lang="en-US" sz="1600" dirty="0"/>
              <a:t>[5][8][15][26]</a:t>
            </a:r>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r>
              <a:rPr lang="en-US" dirty="0"/>
              <a:t>Instead of just trying to read a noisy signal, our system first cleans the signal to make it clear again making sure that even in the most remote sub-counties, the network can still identify and process signals correctly. </a:t>
            </a:r>
            <a:r>
              <a:rPr lang="en-US" sz="1600" dirty="0"/>
              <a:t>[8][15][26]</a:t>
            </a:r>
            <a:endParaRPr lang="en-US" dirty="0"/>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13423" y="561618"/>
            <a:ext cx="9008507" cy="636984"/>
          </a:xfrm>
          <a:prstGeom prst="rect">
            <a:avLst/>
          </a:prstGeom>
          <a:noFill/>
          <a:ln/>
        </p:spPr>
        <p:txBody>
          <a:bodyPr wrap="none" lIns="0" tIns="0" rIns="0" bIns="0" rtlCol="0" anchor="t"/>
          <a:lstStyle/>
          <a:p>
            <a:pPr marL="0" indent="0" algn="l">
              <a:lnSpc>
                <a:spcPts val="5000"/>
              </a:lnSpc>
              <a:buNone/>
            </a:pPr>
            <a:r>
              <a:rPr lang="en-US" sz="4000" b="1" dirty="0">
                <a:solidFill>
                  <a:srgbClr val="006A60"/>
                </a:solidFill>
                <a:latin typeface="Nunito Sans" pitchFamily="2" charset="0"/>
                <a:ea typeface="Nunito Sans Bold" pitchFamily="34" charset="-122"/>
                <a:cs typeface="Nunito Sans Bold" pitchFamily="34" charset="-120"/>
              </a:rPr>
              <a:t>Problem Statement</a:t>
            </a:r>
            <a:endParaRPr lang="en-US" sz="4000" dirty="0">
              <a:latin typeface="Nunito Sans" pitchFamily="2" charset="0"/>
            </a:endParaRPr>
          </a:p>
        </p:txBody>
      </p:sp>
      <p:sp>
        <p:nvSpPr>
          <p:cNvPr id="18" name="TextBox 17">
            <a:extLst>
              <a:ext uri="{FF2B5EF4-FFF2-40B4-BE49-F238E27FC236}">
                <a16:creationId xmlns:a16="http://schemas.microsoft.com/office/drawing/2014/main" id="{14873B14-4DCF-4705-1296-A56993D59080}"/>
              </a:ext>
            </a:extLst>
          </p:cNvPr>
          <p:cNvSpPr txBox="1"/>
          <p:nvPr/>
        </p:nvSpPr>
        <p:spPr>
          <a:xfrm>
            <a:off x="713423" y="1857444"/>
            <a:ext cx="12921297" cy="535531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Many people in rural Uganda still use basic phones for calls and Mobile Money, but the signal is often very weak. In weak signal environments below -90 dBm, the noise is always louder than the message signals, making it impossible for standard tools to decode  understand what is being transmitted [5][6]</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On top of that, signals are sometimes blocked or noised up by illegal boosters, unlicensed community radios (</a:t>
            </a:r>
            <a:r>
              <a:rPr lang="en-US" dirty="0" err="1"/>
              <a:t>Bizindaalo</a:t>
            </a:r>
            <a:r>
              <a:rPr lang="en-US" dirty="0"/>
              <a:t>), and heavy tropical rain. [7][23][24][25]</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The Uganda Communications Commission (UCC) finds it hard to catch illegal broadcasters because current tools and technology cannot  see through all this noise. [7][23]  This leads to dropped calls, failed Mobile Money transactions, and poor service for over 30 million Ugandans and over 70% of call failures in some areas. [3][6] [27]</a:t>
            </a:r>
          </a:p>
          <a:p>
            <a:pPr>
              <a:lnSpc>
                <a:spcPct val="150000"/>
              </a:lnSpc>
            </a:pPr>
            <a:endParaRPr lang="en-US" dirty="0"/>
          </a:p>
          <a:p>
            <a:pPr marL="285750" indent="-285750">
              <a:lnSpc>
                <a:spcPct val="150000"/>
              </a:lnSpc>
              <a:buFont typeface="Arial" panose="020B0604020202020204" pitchFamily="34" charset="0"/>
              <a:buChar char="•"/>
            </a:pPr>
            <a:r>
              <a:rPr lang="en-US" dirty="0"/>
              <a:t>We lack smart ways of Identifying and cleaning noise in signals before processing them.</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398758"/>
          </a:xfrm>
          <a:prstGeom prst="rect">
            <a:avLst/>
          </a:prstGeom>
        </p:spPr>
      </p:pic>
      <p:sp>
        <p:nvSpPr>
          <p:cNvPr id="3" name="Text 0"/>
          <p:cNvSpPr/>
          <p:nvPr/>
        </p:nvSpPr>
        <p:spPr>
          <a:xfrm>
            <a:off x="604123" y="3849529"/>
            <a:ext cx="4315897" cy="539472"/>
          </a:xfrm>
          <a:prstGeom prst="rect">
            <a:avLst/>
          </a:prstGeom>
          <a:noFill/>
          <a:ln/>
        </p:spPr>
        <p:txBody>
          <a:bodyPr wrap="none" lIns="0" tIns="0" rIns="0" bIns="0" rtlCol="0" anchor="t"/>
          <a:lstStyle/>
          <a:p>
            <a:pPr marL="0" indent="0" algn="l">
              <a:lnSpc>
                <a:spcPts val="4200"/>
              </a:lnSpc>
              <a:buNone/>
            </a:pPr>
            <a:r>
              <a:rPr lang="en-US" sz="3350" b="1" dirty="0">
                <a:solidFill>
                  <a:srgbClr val="006A60"/>
                </a:solidFill>
                <a:latin typeface="Nunito Sans" pitchFamily="2" charset="0"/>
                <a:ea typeface="Nunito Sans Bold" pitchFamily="34" charset="-122"/>
                <a:cs typeface="Nunito Sans Bold" pitchFamily="34" charset="-120"/>
              </a:rPr>
              <a:t>Main Objective</a:t>
            </a:r>
            <a:endParaRPr lang="en-US" sz="3350" dirty="0">
              <a:latin typeface="Nunito Sans" pitchFamily="2" charset="0"/>
            </a:endParaRPr>
          </a:p>
        </p:txBody>
      </p:sp>
      <p:sp>
        <p:nvSpPr>
          <p:cNvPr id="4" name="Text 1"/>
          <p:cNvSpPr/>
          <p:nvPr/>
        </p:nvSpPr>
        <p:spPr>
          <a:xfrm>
            <a:off x="604123" y="4647843"/>
            <a:ext cx="13422154" cy="2157889"/>
          </a:xfrm>
          <a:prstGeom prst="rect">
            <a:avLst/>
          </a:prstGeom>
          <a:noFill/>
          <a:ln/>
        </p:spPr>
        <p:txBody>
          <a:bodyPr wrap="square" lIns="0" tIns="0" rIns="0" bIns="0" rtlCol="0" anchor="t"/>
          <a:lstStyle/>
          <a:p>
            <a:pPr marL="0" indent="0" algn="l">
              <a:lnSpc>
                <a:spcPts val="8450"/>
              </a:lnSpc>
              <a:buNone/>
            </a:pPr>
            <a:r>
              <a:rPr lang="en-US" sz="6750" b="1" dirty="0">
                <a:solidFill>
                  <a:srgbClr val="006A60"/>
                </a:solidFill>
                <a:latin typeface="Nunito Sans" pitchFamily="2" charset="0"/>
                <a:ea typeface="Nunito Sans Bold" pitchFamily="34" charset="-122"/>
                <a:cs typeface="Nunito Sans Bold" pitchFamily="34" charset="-120"/>
              </a:rPr>
              <a:t>Design a Hybrid DAE–AMC Pipeline</a:t>
            </a:r>
            <a:endParaRPr lang="en-US" sz="6750" dirty="0">
              <a:latin typeface="Nunito Sans" pitchFamily="2" charset="0"/>
            </a:endParaRPr>
          </a:p>
        </p:txBody>
      </p:sp>
      <p:sp>
        <p:nvSpPr>
          <p:cNvPr id="5" name="Text 2"/>
          <p:cNvSpPr/>
          <p:nvPr/>
        </p:nvSpPr>
        <p:spPr>
          <a:xfrm>
            <a:off x="604123" y="7064573"/>
            <a:ext cx="13422154" cy="552450"/>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Nunito" pitchFamily="34" charset="0"/>
                <a:ea typeface="Nunito" pitchFamily="34" charset="-122"/>
                <a:cs typeface="Nunito" pitchFamily="34" charset="-120"/>
              </a:rPr>
              <a:t>To design, implement, and empirically evaluate a hybrid </a:t>
            </a:r>
            <a:r>
              <a:rPr lang="en-US" sz="1350" b="1" dirty="0">
                <a:solidFill>
                  <a:srgbClr val="272525"/>
                </a:solidFill>
                <a:latin typeface="Nunito" pitchFamily="34" charset="0"/>
                <a:ea typeface="Nunito" pitchFamily="34" charset="-122"/>
                <a:cs typeface="Nunito" pitchFamily="34" charset="-120"/>
              </a:rPr>
              <a:t>Denoising Autoencoder–Automatic Modulation Classification (DAE–AMC) pipeline</a:t>
            </a:r>
            <a:r>
              <a:rPr lang="en-US" sz="1350" dirty="0">
                <a:solidFill>
                  <a:srgbClr val="272525"/>
                </a:solidFill>
                <a:latin typeface="Nunito" pitchFamily="34" charset="0"/>
                <a:ea typeface="Nunito" pitchFamily="34" charset="-122"/>
                <a:cs typeface="Nunito" pitchFamily="34" charset="-120"/>
              </a:rPr>
              <a:t> that suppresses interference in noisy I/Q streams and maintains accurate modulation decisions across low SNR channel conditions observed in Ugandan networks.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793790" y="960239"/>
            <a:ext cx="5670590" cy="708779"/>
          </a:xfrm>
          <a:prstGeom prst="rect">
            <a:avLst/>
          </a:prstGeom>
          <a:noFill/>
          <a:ln/>
        </p:spPr>
        <p:txBody>
          <a:bodyPr wrap="none" lIns="0" tIns="0" rIns="0" bIns="0" rtlCol="0" anchor="t"/>
          <a:lstStyle/>
          <a:p>
            <a:pPr marL="0" indent="0" algn="l">
              <a:lnSpc>
                <a:spcPts val="5550"/>
              </a:lnSpc>
              <a:buNone/>
            </a:pPr>
            <a:r>
              <a:rPr lang="en-US" sz="2000" b="1" dirty="0">
                <a:solidFill>
                  <a:srgbClr val="006A60"/>
                </a:solidFill>
                <a:latin typeface="Nunito Sans" pitchFamily="2" charset="0"/>
                <a:ea typeface="Nunito Sans Bold" pitchFamily="34" charset="-122"/>
                <a:cs typeface="Nunito Sans Bold" pitchFamily="34" charset="-120"/>
              </a:rPr>
              <a:t>Specific Objectives</a:t>
            </a:r>
            <a:endParaRPr lang="en-US" sz="2000" dirty="0">
              <a:latin typeface="Nunito Sans" pitchFamily="2" charset="0"/>
            </a:endParaRPr>
          </a:p>
        </p:txBody>
      </p:sp>
      <p:sp>
        <p:nvSpPr>
          <p:cNvPr id="3" name="Text 1"/>
          <p:cNvSpPr/>
          <p:nvPr/>
        </p:nvSpPr>
        <p:spPr>
          <a:xfrm>
            <a:off x="793790" y="2080258"/>
            <a:ext cx="4166830" cy="325875"/>
          </a:xfrm>
          <a:prstGeom prst="rect">
            <a:avLst/>
          </a:prstGeom>
          <a:noFill/>
          <a:ln/>
        </p:spPr>
        <p:txBody>
          <a:bodyPr wrap="none" lIns="0" tIns="0" rIns="0" bIns="0" rtlCol="0" anchor="t"/>
          <a:lstStyle/>
          <a:p>
            <a:pPr>
              <a:lnSpc>
                <a:spcPts val="2850"/>
              </a:lnSpc>
            </a:pPr>
            <a:r>
              <a:rPr lang="en-US" sz="3600" b="1" dirty="0">
                <a:solidFill>
                  <a:srgbClr val="272525"/>
                </a:solidFill>
                <a:latin typeface="Nunito Sans" pitchFamily="2" charset="0"/>
                <a:ea typeface="Nunito Sans Light" pitchFamily="34" charset="-122"/>
                <a:cs typeface="Nunito Sans Light" pitchFamily="34" charset="-120"/>
              </a:rPr>
              <a:t>01 </a:t>
            </a:r>
            <a:r>
              <a:rPr lang="en-US" sz="3600" b="1" dirty="0">
                <a:latin typeface="Nunito Sans" pitchFamily="2" charset="0"/>
              </a:rPr>
              <a:t>Design</a:t>
            </a:r>
          </a:p>
          <a:p>
            <a:pPr marL="0" indent="0" algn="l">
              <a:lnSpc>
                <a:spcPts val="2850"/>
              </a:lnSpc>
              <a:buNone/>
            </a:pPr>
            <a:endParaRPr lang="en-US" sz="3600" b="1" dirty="0">
              <a:latin typeface="Nunito Sans" pitchFamily="2" charset="0"/>
            </a:endParaRPr>
          </a:p>
        </p:txBody>
      </p:sp>
      <p:sp>
        <p:nvSpPr>
          <p:cNvPr id="4" name="Shape 2"/>
          <p:cNvSpPr/>
          <p:nvPr/>
        </p:nvSpPr>
        <p:spPr>
          <a:xfrm>
            <a:off x="793790" y="2706290"/>
            <a:ext cx="3846790" cy="45719"/>
          </a:xfrm>
          <a:prstGeom prst="rect">
            <a:avLst/>
          </a:prstGeom>
          <a:solidFill>
            <a:srgbClr val="F1E79A"/>
          </a:solidFill>
          <a:ln/>
        </p:spPr>
        <p:txBody>
          <a:bodyPr/>
          <a:lstStyle/>
          <a:p>
            <a:endParaRPr lang="en-US"/>
          </a:p>
        </p:txBody>
      </p:sp>
      <p:sp>
        <p:nvSpPr>
          <p:cNvPr id="6" name="Text 4"/>
          <p:cNvSpPr/>
          <p:nvPr/>
        </p:nvSpPr>
        <p:spPr>
          <a:xfrm>
            <a:off x="793790" y="3017956"/>
            <a:ext cx="3846790" cy="3600013"/>
          </a:xfrm>
          <a:prstGeom prst="rect">
            <a:avLst/>
          </a:prstGeom>
          <a:noFill/>
          <a:ln/>
        </p:spPr>
        <p:txBody>
          <a:bodyPr wrap="square" lIns="0" tIns="0" rIns="0" bIns="0" rtlCol="0" anchor="t"/>
          <a:lstStyle/>
          <a:p>
            <a:pPr>
              <a:lnSpc>
                <a:spcPct val="150000"/>
              </a:lnSpc>
            </a:pPr>
            <a:r>
              <a:rPr lang="en-US" dirty="0">
                <a:latin typeface="Nunito" pitchFamily="2" charset="0"/>
              </a:rPr>
              <a:t>Define the hybrid DAE-AMC architecture, select the working datasets, and model Uganda-specific low-SNR interference conditions such as booster oscillation, </a:t>
            </a:r>
            <a:r>
              <a:rPr lang="en-US" dirty="0" err="1">
                <a:latin typeface="Nunito" pitchFamily="2" charset="0"/>
              </a:rPr>
              <a:t>Bizindaalo</a:t>
            </a:r>
            <a:r>
              <a:rPr lang="en-US" dirty="0">
                <a:latin typeface="Nunito" pitchFamily="2" charset="0"/>
              </a:rPr>
              <a:t> harmonics, and rain fade</a:t>
            </a:r>
          </a:p>
        </p:txBody>
      </p:sp>
      <p:sp>
        <p:nvSpPr>
          <p:cNvPr id="7" name="Text 5"/>
          <p:cNvSpPr/>
          <p:nvPr/>
        </p:nvSpPr>
        <p:spPr>
          <a:xfrm>
            <a:off x="5216962" y="3025616"/>
            <a:ext cx="226814" cy="283488"/>
          </a:xfrm>
          <a:prstGeom prst="rect">
            <a:avLst/>
          </a:prstGeom>
          <a:noFill/>
          <a:ln/>
        </p:spPr>
        <p:txBody>
          <a:bodyPr wrap="none" lIns="0" tIns="0" rIns="0" bIns="0" rtlCol="0" anchor="t"/>
          <a:lstStyle/>
          <a:p>
            <a:pPr marL="0" indent="0" algn="l">
              <a:lnSpc>
                <a:spcPts val="2850"/>
              </a:lnSpc>
              <a:buNone/>
            </a:pPr>
            <a:r>
              <a:rPr lang="en-US" sz="3600" b="1" dirty="0">
                <a:solidFill>
                  <a:srgbClr val="272525"/>
                </a:solidFill>
                <a:latin typeface="Nunito Sans" pitchFamily="2" charset="0"/>
                <a:ea typeface="Nunito Sans Light" pitchFamily="34" charset="-122"/>
                <a:cs typeface="Nunito Sans Light" pitchFamily="34" charset="-120"/>
              </a:rPr>
              <a:t>02 Implementation</a:t>
            </a:r>
            <a:endParaRPr lang="en-US" sz="2400" b="1" dirty="0">
              <a:latin typeface="Nunito Sans" pitchFamily="2" charset="0"/>
            </a:endParaRPr>
          </a:p>
        </p:txBody>
      </p:sp>
      <p:sp>
        <p:nvSpPr>
          <p:cNvPr id="8" name="Shape 6"/>
          <p:cNvSpPr/>
          <p:nvPr/>
        </p:nvSpPr>
        <p:spPr>
          <a:xfrm>
            <a:off x="5216962" y="3632121"/>
            <a:ext cx="4196358" cy="30480"/>
          </a:xfrm>
          <a:prstGeom prst="rect">
            <a:avLst/>
          </a:prstGeom>
          <a:solidFill>
            <a:srgbClr val="429A92"/>
          </a:solidFill>
          <a:ln/>
        </p:spPr>
        <p:txBody>
          <a:bodyPr/>
          <a:lstStyle/>
          <a:p>
            <a:endParaRPr lang="en-US"/>
          </a:p>
        </p:txBody>
      </p:sp>
      <p:sp>
        <p:nvSpPr>
          <p:cNvPr id="10" name="Text 8"/>
          <p:cNvSpPr/>
          <p:nvPr/>
        </p:nvSpPr>
        <p:spPr>
          <a:xfrm>
            <a:off x="5216962" y="3932356"/>
            <a:ext cx="3972758" cy="3005654"/>
          </a:xfrm>
          <a:prstGeom prst="rect">
            <a:avLst/>
          </a:prstGeom>
          <a:noFill/>
          <a:ln/>
        </p:spPr>
        <p:txBody>
          <a:bodyPr wrap="square" lIns="0" tIns="0" rIns="0" bIns="0" rtlCol="0" anchor="t"/>
          <a:lstStyle/>
          <a:p>
            <a:pPr>
              <a:lnSpc>
                <a:spcPct val="150000"/>
              </a:lnSpc>
            </a:pPr>
            <a:r>
              <a:rPr lang="en-US" dirty="0">
                <a:latin typeface="Nunito" pitchFamily="2" charset="0"/>
              </a:rPr>
              <a:t>Develop and train the Conv1D denoising autoencoder, implement the AMC classifier for GSM-family modulations, and integrate both blocks into a single signal-processing pipeline.</a:t>
            </a:r>
          </a:p>
        </p:txBody>
      </p:sp>
      <p:sp>
        <p:nvSpPr>
          <p:cNvPr id="11" name="Text 9"/>
          <p:cNvSpPr/>
          <p:nvPr/>
        </p:nvSpPr>
        <p:spPr>
          <a:xfrm>
            <a:off x="9640133" y="4168616"/>
            <a:ext cx="226814" cy="283488"/>
          </a:xfrm>
          <a:prstGeom prst="rect">
            <a:avLst/>
          </a:prstGeom>
          <a:noFill/>
          <a:ln/>
        </p:spPr>
        <p:txBody>
          <a:bodyPr wrap="none" lIns="0" tIns="0" rIns="0" bIns="0" rtlCol="0" anchor="t"/>
          <a:lstStyle/>
          <a:p>
            <a:pPr marL="0" indent="0" algn="l">
              <a:lnSpc>
                <a:spcPts val="2850"/>
              </a:lnSpc>
              <a:buNone/>
            </a:pPr>
            <a:r>
              <a:rPr lang="en-US" sz="3600" b="1" dirty="0">
                <a:solidFill>
                  <a:srgbClr val="272525"/>
                </a:solidFill>
                <a:latin typeface="Nunito Sans" pitchFamily="2" charset="0"/>
                <a:ea typeface="Nunito Sans Light" pitchFamily="34" charset="-122"/>
                <a:cs typeface="Nunito Sans Light" pitchFamily="34" charset="-120"/>
              </a:rPr>
              <a:t>03 Analysis</a:t>
            </a:r>
            <a:endParaRPr lang="en-US" sz="3600" b="1" dirty="0">
              <a:latin typeface="Nunito Sans" pitchFamily="2" charset="0"/>
            </a:endParaRPr>
          </a:p>
        </p:txBody>
      </p:sp>
      <p:sp>
        <p:nvSpPr>
          <p:cNvPr id="12" name="Shape 10"/>
          <p:cNvSpPr/>
          <p:nvPr/>
        </p:nvSpPr>
        <p:spPr>
          <a:xfrm>
            <a:off x="9640133" y="4763691"/>
            <a:ext cx="4196358" cy="30480"/>
          </a:xfrm>
          <a:prstGeom prst="rect">
            <a:avLst/>
          </a:prstGeom>
          <a:solidFill>
            <a:srgbClr val="A4ECF9"/>
          </a:solidFill>
          <a:ln/>
        </p:spPr>
        <p:txBody>
          <a:bodyPr/>
          <a:lstStyle/>
          <a:p>
            <a:endParaRPr lang="en-US"/>
          </a:p>
        </p:txBody>
      </p:sp>
      <p:sp>
        <p:nvSpPr>
          <p:cNvPr id="14" name="Text 12"/>
          <p:cNvSpPr/>
          <p:nvPr/>
        </p:nvSpPr>
        <p:spPr>
          <a:xfrm>
            <a:off x="9640133" y="5188387"/>
            <a:ext cx="4196358"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24" name="TextBox 23">
            <a:extLst>
              <a:ext uri="{FF2B5EF4-FFF2-40B4-BE49-F238E27FC236}">
                <a16:creationId xmlns:a16="http://schemas.microsoft.com/office/drawing/2014/main" id="{8B535A19-CA8A-08FD-A21C-8C1BCFE72DC8}"/>
              </a:ext>
            </a:extLst>
          </p:cNvPr>
          <p:cNvSpPr txBox="1"/>
          <p:nvPr/>
        </p:nvSpPr>
        <p:spPr>
          <a:xfrm>
            <a:off x="9640134" y="5188387"/>
            <a:ext cx="4196358" cy="2135200"/>
          </a:xfrm>
          <a:prstGeom prst="rect">
            <a:avLst/>
          </a:prstGeom>
          <a:noFill/>
        </p:spPr>
        <p:txBody>
          <a:bodyPr wrap="square">
            <a:spAutoFit/>
          </a:bodyPr>
          <a:lstStyle/>
          <a:p>
            <a:pPr>
              <a:lnSpc>
                <a:spcPct val="150000"/>
              </a:lnSpc>
            </a:pPr>
            <a:r>
              <a:rPr lang="en-US" dirty="0">
                <a:latin typeface="Nunito Sans" pitchFamily="2" charset="0"/>
              </a:rPr>
              <a:t>Evaluate the hybrid DAE-AMC pipeline against a standalone AMC baseline using accuracy, F1-score, confusion matrices, and SNR-wise performance trends.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93790" y="592812"/>
            <a:ext cx="7699970"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Justification and Significance</a:t>
            </a:r>
            <a:endParaRPr lang="en-US" sz="4450" dirty="0">
              <a:latin typeface="Nunito Sans" pitchFamily="2" charset="0"/>
            </a:endParaRPr>
          </a:p>
        </p:txBody>
      </p:sp>
      <p:sp>
        <p:nvSpPr>
          <p:cNvPr id="3" name="Text 1"/>
          <p:cNvSpPr/>
          <p:nvPr/>
        </p:nvSpPr>
        <p:spPr>
          <a:xfrm>
            <a:off x="690920" y="5131633"/>
            <a:ext cx="296668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Spectrum Surveillance</a:t>
            </a:r>
            <a:endParaRPr lang="en-US" sz="2200" dirty="0">
              <a:latin typeface="Nunito Sans" pitchFamily="2" charset="0"/>
            </a:endParaRPr>
          </a:p>
        </p:txBody>
      </p:sp>
      <p:sp>
        <p:nvSpPr>
          <p:cNvPr id="4" name="Text 2"/>
          <p:cNvSpPr/>
          <p:nvPr/>
        </p:nvSpPr>
        <p:spPr>
          <a:xfrm>
            <a:off x="690921" y="5622052"/>
            <a:ext cx="3622358" cy="185316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It will help with the detection of illegal transmitters and interference mitigation for aviation and public-safety channels. [7][23]</a:t>
            </a:r>
          </a:p>
        </p:txBody>
      </p:sp>
      <p:sp>
        <p:nvSpPr>
          <p:cNvPr id="5" name="Text 3"/>
          <p:cNvSpPr/>
          <p:nvPr/>
        </p:nvSpPr>
        <p:spPr>
          <a:xfrm>
            <a:off x="5133023" y="513163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Rural Broadband</a:t>
            </a:r>
            <a:endParaRPr lang="en-US" sz="2200" dirty="0">
              <a:latin typeface="Nunito Sans" pitchFamily="2" charset="0"/>
            </a:endParaRPr>
          </a:p>
        </p:txBody>
      </p:sp>
      <p:sp>
        <p:nvSpPr>
          <p:cNvPr id="6" name="Text 4"/>
          <p:cNvSpPr/>
          <p:nvPr/>
        </p:nvSpPr>
        <p:spPr>
          <a:xfrm>
            <a:off x="5133023" y="5622052"/>
            <a:ext cx="3622357" cy="225321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It will help maintain reliable service in low-SNR environments, supporting </a:t>
            </a:r>
            <a:r>
              <a:rPr lang="en-US" sz="1750" b="1" dirty="0">
                <a:solidFill>
                  <a:srgbClr val="272525"/>
                </a:solidFill>
                <a:latin typeface="Nunito" pitchFamily="34" charset="0"/>
                <a:ea typeface="Nunito" pitchFamily="34" charset="-122"/>
                <a:cs typeface="Nunito" pitchFamily="34" charset="-120"/>
              </a:rPr>
              <a:t>30 million Ugandans </a:t>
            </a:r>
            <a:r>
              <a:rPr lang="en-US" sz="1750" dirty="0">
                <a:solidFill>
                  <a:srgbClr val="272525"/>
                </a:solidFill>
                <a:latin typeface="Nunito" pitchFamily="34" charset="0"/>
                <a:ea typeface="Nunito" pitchFamily="34" charset="-122"/>
                <a:cs typeface="Nunito" pitchFamily="34" charset="-120"/>
              </a:rPr>
              <a:t>lacking mobile internet access. [3][6]</a:t>
            </a:r>
            <a:endParaRPr lang="en-US" sz="1750" dirty="0"/>
          </a:p>
        </p:txBody>
      </p:sp>
      <p:sp>
        <p:nvSpPr>
          <p:cNvPr id="7" name="Text 5"/>
          <p:cNvSpPr/>
          <p:nvPr/>
        </p:nvSpPr>
        <p:spPr>
          <a:xfrm>
            <a:off x="9575125" y="513163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Critical Services</a:t>
            </a:r>
            <a:endParaRPr lang="en-US" sz="2200" dirty="0">
              <a:latin typeface="Nunito Sans" pitchFamily="2" charset="0"/>
            </a:endParaRPr>
          </a:p>
        </p:txBody>
      </p:sp>
      <p:sp>
        <p:nvSpPr>
          <p:cNvPr id="8" name="Text 6"/>
          <p:cNvSpPr/>
          <p:nvPr/>
        </p:nvSpPr>
        <p:spPr>
          <a:xfrm>
            <a:off x="9575125" y="5622052"/>
            <a:ext cx="4015145" cy="133881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It supports stability for Mobile Money and e-government services that depend on reliable radio links. [5][6]</a:t>
            </a:r>
            <a:endParaRPr lang="en-US" sz="1750" dirty="0"/>
          </a:p>
        </p:txBody>
      </p:sp>
      <p:sp>
        <p:nvSpPr>
          <p:cNvPr id="11" name="Text 8"/>
          <p:cNvSpPr/>
          <p:nvPr/>
        </p:nvSpPr>
        <p:spPr>
          <a:xfrm>
            <a:off x="690920" y="2216349"/>
            <a:ext cx="5131951" cy="2482137"/>
          </a:xfrm>
          <a:prstGeom prst="rect">
            <a:avLst/>
          </a:prstGeom>
          <a:noFill/>
          <a:ln/>
        </p:spPr>
        <p:txBody>
          <a:bodyPr wrap="square" lIns="0" tIns="0" rIns="0" bIns="0" rtlCol="0" anchor="t"/>
          <a:lstStyle/>
          <a:p>
            <a:pPr>
              <a:lnSpc>
                <a:spcPct val="150000"/>
              </a:lnSpc>
            </a:pPr>
            <a:r>
              <a:rPr lang="en-US" sz="1750" dirty="0">
                <a:solidFill>
                  <a:srgbClr val="000000"/>
                </a:solidFill>
                <a:latin typeface="Nunito" pitchFamily="34" charset="0"/>
                <a:ea typeface="Nunito" pitchFamily="34" charset="-122"/>
                <a:cs typeface="Nunito" pitchFamily="34" charset="-120"/>
              </a:rPr>
              <a:t>The DAE is explicitly trained on SNR conditions matching UCUSAF's `-90 dBm` coverage floor, addressing the "near-far" interference documented by UCC QoS audits rather than a generic low-SNR scenario. [5][23][27]</a:t>
            </a:r>
            <a:endParaRPr lang="en-US" sz="1750" dirty="0">
              <a:latin typeface="Nunito Sans" pitchFamily="2" charset="0"/>
            </a:endParaRPr>
          </a:p>
        </p:txBody>
      </p:sp>
      <p:sp>
        <p:nvSpPr>
          <p:cNvPr id="16" name="Text 8">
            <a:extLst>
              <a:ext uri="{FF2B5EF4-FFF2-40B4-BE49-F238E27FC236}">
                <a16:creationId xmlns:a16="http://schemas.microsoft.com/office/drawing/2014/main" id="{586EED81-C269-4EE0-A1F6-3C154B2E3881}"/>
              </a:ext>
            </a:extLst>
          </p:cNvPr>
          <p:cNvSpPr/>
          <p:nvPr/>
        </p:nvSpPr>
        <p:spPr>
          <a:xfrm>
            <a:off x="7086719" y="2253475"/>
            <a:ext cx="6880741" cy="1996264"/>
          </a:xfrm>
          <a:prstGeom prst="rect">
            <a:avLst/>
          </a:prstGeom>
          <a:noFill/>
          <a:ln/>
        </p:spPr>
        <p:txBody>
          <a:bodyPr wrap="square" lIns="0" tIns="0" rIns="0" bIns="0" rtlCol="0" anchor="t"/>
          <a:lstStyle/>
          <a:p>
            <a:pPr>
              <a:lnSpc>
                <a:spcPct val="150000"/>
              </a:lnSpc>
            </a:pPr>
            <a:r>
              <a:rPr lang="en-US" sz="1750" dirty="0">
                <a:latin typeface="Nunito Sans" pitchFamily="2" charset="0"/>
              </a:rPr>
              <a:t>Our project supports Uganda's national development plans (NDPIII/NBP) that call for more spectrum-efficient technologies. It replaces older, brittle handcrafted methods with a robust, cost-effective, software-based AI algorithm for enhancing signals by removing noise. [4][15][26]</a:t>
            </a:r>
          </a:p>
        </p:txBody>
      </p:sp>
      <p:sp>
        <p:nvSpPr>
          <p:cNvPr id="12" name="Text 1">
            <a:extLst>
              <a:ext uri="{FF2B5EF4-FFF2-40B4-BE49-F238E27FC236}">
                <a16:creationId xmlns:a16="http://schemas.microsoft.com/office/drawing/2014/main" id="{20A987F0-49E5-7F20-7D4E-4EF40D7D58DA}"/>
              </a:ext>
            </a:extLst>
          </p:cNvPr>
          <p:cNvSpPr/>
          <p:nvPr/>
        </p:nvSpPr>
        <p:spPr>
          <a:xfrm>
            <a:off x="690920" y="1581486"/>
            <a:ext cx="2966680" cy="498774"/>
          </a:xfrm>
          <a:prstGeom prst="rect">
            <a:avLst/>
          </a:prstGeom>
          <a:noFill/>
          <a:ln/>
        </p:spPr>
        <p:txBody>
          <a:bodyPr wrap="none" lIns="0" tIns="0" rIns="0" bIns="0" rtlCol="0" anchor="t"/>
          <a:lstStyle/>
          <a:p>
            <a:pPr>
              <a:lnSpc>
                <a:spcPct val="150000"/>
              </a:lnSpc>
            </a:pPr>
            <a:r>
              <a:rPr lang="en-US" sz="2000" b="1" dirty="0">
                <a:solidFill>
                  <a:srgbClr val="000000"/>
                </a:solidFill>
                <a:latin typeface="Nunito Sans" pitchFamily="2" charset="0"/>
                <a:ea typeface="Nunito" pitchFamily="34" charset="-122"/>
                <a:cs typeface="Nunito" pitchFamily="34" charset="-120"/>
              </a:rPr>
              <a:t>Meeting UCC Mandates:</a:t>
            </a:r>
            <a:r>
              <a:rPr lang="en-US" sz="2000" dirty="0">
                <a:solidFill>
                  <a:srgbClr val="000000"/>
                </a:solidFill>
                <a:latin typeface="Nunito Sans" pitchFamily="2" charset="0"/>
                <a:ea typeface="Nunito" pitchFamily="34" charset="-122"/>
                <a:cs typeface="Nunito" pitchFamily="34" charset="-120"/>
              </a:rPr>
              <a:t> </a:t>
            </a:r>
          </a:p>
        </p:txBody>
      </p:sp>
      <p:sp>
        <p:nvSpPr>
          <p:cNvPr id="13" name="Text 1">
            <a:extLst>
              <a:ext uri="{FF2B5EF4-FFF2-40B4-BE49-F238E27FC236}">
                <a16:creationId xmlns:a16="http://schemas.microsoft.com/office/drawing/2014/main" id="{F4E528FE-2085-E5FF-22A5-C726E0A72BED}"/>
              </a:ext>
            </a:extLst>
          </p:cNvPr>
          <p:cNvSpPr/>
          <p:nvPr/>
        </p:nvSpPr>
        <p:spPr>
          <a:xfrm>
            <a:off x="7106960" y="1528146"/>
            <a:ext cx="5065990" cy="498774"/>
          </a:xfrm>
          <a:prstGeom prst="rect">
            <a:avLst/>
          </a:prstGeom>
          <a:noFill/>
          <a:ln/>
        </p:spPr>
        <p:txBody>
          <a:bodyPr wrap="none" lIns="0" tIns="0" rIns="0" bIns="0" rtlCol="0" anchor="t"/>
          <a:lstStyle/>
          <a:p>
            <a:pPr>
              <a:lnSpc>
                <a:spcPct val="150000"/>
              </a:lnSpc>
            </a:pPr>
            <a:r>
              <a:rPr lang="en-US" sz="2000" b="1" dirty="0">
                <a:solidFill>
                  <a:srgbClr val="000000"/>
                </a:solidFill>
                <a:latin typeface="Nunito Sans" pitchFamily="2" charset="0"/>
                <a:ea typeface="Nunito" pitchFamily="34" charset="-122"/>
                <a:cs typeface="Nunito" pitchFamily="34" charset="-120"/>
              </a:rPr>
              <a:t>It Aligns with National Policy: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69583" y="368975"/>
            <a:ext cx="1552257" cy="419219"/>
          </a:xfrm>
          <a:prstGeom prst="rect">
            <a:avLst/>
          </a:prstGeom>
          <a:noFill/>
          <a:ln/>
        </p:spPr>
        <p:txBody>
          <a:bodyPr wrap="none" lIns="0" tIns="0" rIns="0" bIns="0" rtlCol="0" anchor="t"/>
          <a:lstStyle/>
          <a:p>
            <a:pPr marL="0" indent="0" algn="l">
              <a:lnSpc>
                <a:spcPts val="3300"/>
              </a:lnSpc>
              <a:buNone/>
            </a:pPr>
            <a:r>
              <a:rPr lang="en-US" sz="2600" b="1" dirty="0">
                <a:solidFill>
                  <a:srgbClr val="006A60"/>
                </a:solidFill>
                <a:latin typeface="Nunito Sans" pitchFamily="2" charset="0"/>
                <a:ea typeface="Nunito Sans Bold" pitchFamily="34" charset="-122"/>
                <a:cs typeface="Nunito Sans Bold" pitchFamily="34" charset="-120"/>
              </a:rPr>
              <a:t>Scope</a:t>
            </a:r>
            <a:endParaRPr lang="en-US" sz="2600" dirty="0">
              <a:latin typeface="Nunito Sans" pitchFamily="2" charset="0"/>
            </a:endParaRPr>
          </a:p>
        </p:txBody>
      </p:sp>
      <p:sp>
        <p:nvSpPr>
          <p:cNvPr id="4" name="Shape 2"/>
          <p:cNvSpPr/>
          <p:nvPr/>
        </p:nvSpPr>
        <p:spPr>
          <a:xfrm>
            <a:off x="469583" y="1178123"/>
            <a:ext cx="536615" cy="804982"/>
          </a:xfrm>
          <a:prstGeom prst="roundRect">
            <a:avLst>
              <a:gd name="adj" fmla="val 360075"/>
            </a:avLst>
          </a:prstGeom>
          <a:solidFill>
            <a:srgbClr val="F1E79A"/>
          </a:solidFill>
          <a:ln w="7620">
            <a:solidFill>
              <a:srgbClr val="D7CD80"/>
            </a:solidFill>
            <a:prstDash val="solid"/>
          </a:ln>
        </p:spPr>
        <p:txBody>
          <a:bodyPr/>
          <a:lstStyle/>
          <a:p>
            <a:endParaRPr lang="en-US">
              <a:latin typeface="Nunito Sans" pitchFamily="2" charset="0"/>
            </a:endParaRPr>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7223" y="1479947"/>
            <a:ext cx="201216" cy="201216"/>
          </a:xfrm>
          <a:prstGeom prst="rect">
            <a:avLst/>
          </a:prstGeom>
        </p:spPr>
      </p:pic>
      <p:sp>
        <p:nvSpPr>
          <p:cNvPr id="6" name="Text 3"/>
          <p:cNvSpPr/>
          <p:nvPr/>
        </p:nvSpPr>
        <p:spPr>
          <a:xfrm>
            <a:off x="1140262" y="1312188"/>
            <a:ext cx="1865590"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Offline Experimentation</a:t>
            </a:r>
            <a:endParaRPr lang="en-US" sz="1300" dirty="0">
              <a:latin typeface="Nunito Sans" pitchFamily="2" charset="0"/>
            </a:endParaRPr>
          </a:p>
        </p:txBody>
      </p:sp>
      <p:sp>
        <p:nvSpPr>
          <p:cNvPr id="7" name="Text 4"/>
          <p:cNvSpPr/>
          <p:nvPr/>
        </p:nvSpPr>
        <p:spPr>
          <a:xfrm>
            <a:off x="1140262" y="1602343"/>
            <a:ext cx="6830258" cy="209669"/>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Project conducted entirely on a computer using pre-existing data, ensuring a controlled environment.</a:t>
            </a:r>
            <a:endParaRPr lang="en-US" sz="1050" dirty="0">
              <a:latin typeface="Nunito Sans" pitchFamily="2" charset="0"/>
            </a:endParaRPr>
          </a:p>
        </p:txBody>
      </p:sp>
      <p:sp>
        <p:nvSpPr>
          <p:cNvPr id="8" name="Shape 5"/>
          <p:cNvSpPr/>
          <p:nvPr/>
        </p:nvSpPr>
        <p:spPr>
          <a:xfrm>
            <a:off x="469583" y="2117169"/>
            <a:ext cx="536615" cy="804982"/>
          </a:xfrm>
          <a:prstGeom prst="roundRect">
            <a:avLst>
              <a:gd name="adj" fmla="val 360075"/>
            </a:avLst>
          </a:prstGeom>
          <a:solidFill>
            <a:srgbClr val="429A92"/>
          </a:solidFill>
          <a:ln w="7620">
            <a:solidFill>
              <a:srgbClr val="5BB3AB"/>
            </a:solidFill>
            <a:prstDash val="solid"/>
          </a:ln>
        </p:spPr>
        <p:txBody>
          <a:bodyPr/>
          <a:lstStyle/>
          <a:p>
            <a:endParaRPr lang="en-US">
              <a:latin typeface="Nunito Sans" pitchFamily="2" charset="0"/>
            </a:endParaRPr>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3" y="2418993"/>
            <a:ext cx="201216" cy="201216"/>
          </a:xfrm>
          <a:prstGeom prst="rect">
            <a:avLst/>
          </a:prstGeom>
        </p:spPr>
      </p:pic>
      <p:sp>
        <p:nvSpPr>
          <p:cNvPr id="10" name="Text 6"/>
          <p:cNvSpPr/>
          <p:nvPr/>
        </p:nvSpPr>
        <p:spPr>
          <a:xfrm>
            <a:off x="1140262" y="2251234"/>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Datasets</a:t>
            </a:r>
            <a:endParaRPr lang="en-US" sz="1300" dirty="0">
              <a:latin typeface="Nunito Sans" pitchFamily="2" charset="0"/>
            </a:endParaRPr>
          </a:p>
        </p:txBody>
      </p:sp>
      <p:sp>
        <p:nvSpPr>
          <p:cNvPr id="11" name="Text 7"/>
          <p:cNvSpPr/>
          <p:nvPr/>
        </p:nvSpPr>
        <p:spPr>
          <a:xfrm>
            <a:off x="1140262" y="2541389"/>
            <a:ext cx="13020556" cy="353734"/>
          </a:xfrm>
          <a:prstGeom prst="rect">
            <a:avLst/>
          </a:prstGeom>
          <a:noFill/>
          <a:ln/>
        </p:spPr>
        <p:txBody>
          <a:bodyPr wrap="none" lIns="0" tIns="0" rIns="0" bIns="0" rtlCol="0" anchor="t"/>
          <a:lstStyle/>
          <a:p>
            <a:pPr>
              <a:lnSpc>
                <a:spcPts val="1650"/>
              </a:lnSpc>
            </a:pPr>
            <a:r>
              <a:rPr lang="en-US" sz="1050" dirty="0" err="1">
                <a:solidFill>
                  <a:srgbClr val="272525"/>
                </a:solidFill>
                <a:latin typeface="Nunito Sans" pitchFamily="2" charset="0"/>
                <a:ea typeface="Nunito" pitchFamily="34" charset="-122"/>
                <a:cs typeface="Nunito" pitchFamily="34" charset="-120"/>
              </a:rPr>
              <a:t>DeepSig</a:t>
            </a:r>
            <a:r>
              <a:rPr lang="en-US" sz="1050" dirty="0">
                <a:solidFill>
                  <a:srgbClr val="272525"/>
                </a:solidFill>
                <a:latin typeface="Nunito Sans" pitchFamily="2" charset="0"/>
                <a:ea typeface="Nunito" pitchFamily="34" charset="-122"/>
                <a:cs typeface="Nunito" pitchFamily="34" charset="-120"/>
              </a:rPr>
              <a:t> </a:t>
            </a:r>
            <a:r>
              <a:rPr lang="en-US" sz="1050" dirty="0" err="1">
                <a:solidFill>
                  <a:srgbClr val="272525"/>
                </a:solidFill>
                <a:latin typeface="Nunito Sans" pitchFamily="2" charset="0"/>
                <a:ea typeface="Nunito" pitchFamily="34" charset="-122"/>
                <a:cs typeface="Nunito" pitchFamily="34" charset="-120"/>
              </a:rPr>
              <a:t>RadioML</a:t>
            </a:r>
            <a:r>
              <a:rPr lang="en-US" sz="1050" dirty="0">
                <a:solidFill>
                  <a:srgbClr val="272525"/>
                </a:solidFill>
                <a:latin typeface="Nunito Sans" pitchFamily="2" charset="0"/>
                <a:ea typeface="Nunito" pitchFamily="34" charset="-122"/>
                <a:cs typeface="Nunito" pitchFamily="34" charset="-120"/>
              </a:rPr>
              <a:t> 2018.01A benchmark data provides synthetic, well-characterized SNR labels, while the RF Signal Data collection on Kaggle provides real SDR captures that introduce hardware impairment realism. [11][12]</a:t>
            </a:r>
            <a:endParaRPr lang="en-US" sz="1050" dirty="0">
              <a:latin typeface="Nunito Sans" pitchFamily="2" charset="0"/>
            </a:endParaRPr>
          </a:p>
        </p:txBody>
      </p:sp>
      <p:sp>
        <p:nvSpPr>
          <p:cNvPr id="12" name="Shape 8"/>
          <p:cNvSpPr/>
          <p:nvPr/>
        </p:nvSpPr>
        <p:spPr>
          <a:xfrm>
            <a:off x="469583" y="3056215"/>
            <a:ext cx="536615" cy="804982"/>
          </a:xfrm>
          <a:prstGeom prst="roundRect">
            <a:avLst>
              <a:gd name="adj" fmla="val 360075"/>
            </a:avLst>
          </a:prstGeom>
          <a:solidFill>
            <a:srgbClr val="A4ECF9"/>
          </a:solidFill>
          <a:ln w="7620">
            <a:solidFill>
              <a:srgbClr val="8AD2DF"/>
            </a:solidFill>
            <a:prstDash val="solid"/>
          </a:ln>
        </p:spPr>
        <p:txBody>
          <a:bodyPr/>
          <a:lstStyle/>
          <a:p>
            <a:endParaRPr lang="en-US">
              <a:latin typeface="Nunito Sans" pitchFamily="2" charset="0"/>
            </a:endParaRPr>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7223" y="3358039"/>
            <a:ext cx="201216" cy="201216"/>
          </a:xfrm>
          <a:prstGeom prst="rect">
            <a:avLst/>
          </a:prstGeom>
        </p:spPr>
      </p:pic>
      <p:sp>
        <p:nvSpPr>
          <p:cNvPr id="14" name="Text 9"/>
          <p:cNvSpPr/>
          <p:nvPr/>
        </p:nvSpPr>
        <p:spPr>
          <a:xfrm>
            <a:off x="1140262" y="3190280"/>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Noise Modelling</a:t>
            </a:r>
            <a:endParaRPr lang="en-US" sz="1300" dirty="0">
              <a:latin typeface="Nunito Sans" pitchFamily="2" charset="0"/>
            </a:endParaRPr>
          </a:p>
        </p:txBody>
      </p:sp>
      <p:sp>
        <p:nvSpPr>
          <p:cNvPr id="15" name="Text 10"/>
          <p:cNvSpPr/>
          <p:nvPr/>
        </p:nvSpPr>
        <p:spPr>
          <a:xfrm>
            <a:off x="1140262" y="3480434"/>
            <a:ext cx="13020556" cy="504825"/>
          </a:xfrm>
          <a:prstGeom prst="rect">
            <a:avLst/>
          </a:prstGeom>
          <a:noFill/>
          <a:ln/>
        </p:spPr>
        <p:txBody>
          <a:bodyPr wrap="none" lIns="0" tIns="0" rIns="0" bIns="0" rtlCol="0" anchor="t"/>
          <a:lstStyle/>
          <a:p>
            <a:pPr>
              <a:lnSpc>
                <a:spcPts val="1650"/>
              </a:lnSpc>
            </a:pPr>
            <a:r>
              <a:rPr lang="en-US" sz="1050" dirty="0">
                <a:solidFill>
                  <a:srgbClr val="272525"/>
                </a:solidFill>
                <a:latin typeface="Nunito Sans" pitchFamily="2" charset="0"/>
                <a:ea typeface="Nunito" pitchFamily="34" charset="-122"/>
                <a:cs typeface="Nunito" pitchFamily="34" charset="-120"/>
              </a:rPr>
              <a:t>We inject Uganda-specific noise profiles such as Booster oscillation noise as High-power wideband impulses simulating illegal repeater feedback, </a:t>
            </a:r>
            <a:r>
              <a:rPr lang="en-US" sz="1050" dirty="0" err="1">
                <a:solidFill>
                  <a:srgbClr val="272525"/>
                </a:solidFill>
                <a:latin typeface="Nunito Sans" pitchFamily="2" charset="0"/>
                <a:ea typeface="Nunito" pitchFamily="34" charset="-122"/>
                <a:cs typeface="Nunito" pitchFamily="34" charset="-120"/>
              </a:rPr>
              <a:t>Bizindaalo</a:t>
            </a:r>
            <a:r>
              <a:rPr lang="en-US" sz="1050" dirty="0">
                <a:solidFill>
                  <a:srgbClr val="272525"/>
                </a:solidFill>
                <a:latin typeface="Nunito Sans" pitchFamily="2" charset="0"/>
                <a:ea typeface="Nunito" pitchFamily="34" charset="-122"/>
                <a:cs typeface="Nunito" pitchFamily="34" charset="-120"/>
              </a:rPr>
              <a:t> harmonics as Narrowband tones at 2nd/3rd harmonics </a:t>
            </a:r>
          </a:p>
          <a:p>
            <a:pPr>
              <a:lnSpc>
                <a:spcPts val="1650"/>
              </a:lnSpc>
            </a:pPr>
            <a:r>
              <a:rPr lang="en-US" sz="1050" dirty="0">
                <a:solidFill>
                  <a:srgbClr val="272525"/>
                </a:solidFill>
                <a:latin typeface="Nunito Sans" pitchFamily="2" charset="0"/>
                <a:ea typeface="Nunito" pitchFamily="34" charset="-122"/>
                <a:cs typeface="Nunito" pitchFamily="34" charset="-120"/>
              </a:rPr>
              <a:t>of FM frequencies (200 MHz, 300 MHz sidebands leaking into 900 MHz), Rain fade attenuation as Time-varying SNR reduction modeling tropical storm conditions (100+ mm/h rainfall rates)</a:t>
            </a:r>
            <a:endParaRPr lang="en-US" sz="1050" dirty="0">
              <a:latin typeface="Nunito Sans" pitchFamily="2" charset="0"/>
            </a:endParaRPr>
          </a:p>
        </p:txBody>
      </p:sp>
      <p:sp>
        <p:nvSpPr>
          <p:cNvPr id="16" name="Shape 11"/>
          <p:cNvSpPr/>
          <p:nvPr/>
        </p:nvSpPr>
        <p:spPr>
          <a:xfrm>
            <a:off x="469583" y="3995261"/>
            <a:ext cx="536615" cy="804982"/>
          </a:xfrm>
          <a:prstGeom prst="roundRect">
            <a:avLst>
              <a:gd name="adj" fmla="val 360075"/>
            </a:avLst>
          </a:prstGeom>
          <a:solidFill>
            <a:srgbClr val="F9A7A7"/>
          </a:solidFill>
          <a:ln w="7620">
            <a:solidFill>
              <a:srgbClr val="DF8D8D"/>
            </a:solidFill>
            <a:prstDash val="solid"/>
          </a:ln>
        </p:spPr>
        <p:txBody>
          <a:bodyPr/>
          <a:lstStyle/>
          <a:p>
            <a:endParaRPr lang="en-US">
              <a:latin typeface="Nunito Sans" pitchFamily="2" charset="0"/>
            </a:endParaRPr>
          </a:p>
        </p:txBody>
      </p:sp>
      <p:pic>
        <p:nvPicPr>
          <p:cNvPr id="1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7223" y="4297085"/>
            <a:ext cx="201216" cy="201216"/>
          </a:xfrm>
          <a:prstGeom prst="rect">
            <a:avLst/>
          </a:prstGeom>
        </p:spPr>
      </p:pic>
      <p:sp>
        <p:nvSpPr>
          <p:cNvPr id="18" name="Text 12"/>
          <p:cNvSpPr/>
          <p:nvPr/>
        </p:nvSpPr>
        <p:spPr>
          <a:xfrm>
            <a:off x="1140262" y="4129326"/>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Model Development</a:t>
            </a:r>
            <a:endParaRPr lang="en-US" sz="1300" dirty="0">
              <a:latin typeface="Nunito Sans" pitchFamily="2" charset="0"/>
            </a:endParaRPr>
          </a:p>
        </p:txBody>
      </p:sp>
      <p:sp>
        <p:nvSpPr>
          <p:cNvPr id="19" name="Text 13"/>
          <p:cNvSpPr/>
          <p:nvPr/>
        </p:nvSpPr>
        <p:spPr>
          <a:xfrm>
            <a:off x="1140262" y="4419481"/>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Focus on a Conv1D Denoising Autoencoder (DAE) and a supervised AMC classifier.</a:t>
            </a:r>
            <a:endParaRPr lang="en-US" sz="1050" dirty="0">
              <a:latin typeface="Nunito Sans" pitchFamily="2" charset="0"/>
            </a:endParaRPr>
          </a:p>
        </p:txBody>
      </p:sp>
      <p:sp>
        <p:nvSpPr>
          <p:cNvPr id="20" name="Shape 14"/>
          <p:cNvSpPr/>
          <p:nvPr/>
        </p:nvSpPr>
        <p:spPr>
          <a:xfrm>
            <a:off x="469583" y="4934307"/>
            <a:ext cx="536615" cy="804982"/>
          </a:xfrm>
          <a:prstGeom prst="roundRect">
            <a:avLst>
              <a:gd name="adj" fmla="val 360075"/>
            </a:avLst>
          </a:prstGeom>
          <a:solidFill>
            <a:srgbClr val="F1E79A"/>
          </a:solidFill>
          <a:ln w="7620">
            <a:solidFill>
              <a:srgbClr val="D7CD80"/>
            </a:solidFill>
            <a:prstDash val="solid"/>
          </a:ln>
        </p:spPr>
        <p:txBody>
          <a:bodyPr/>
          <a:lstStyle/>
          <a:p>
            <a:endParaRPr lang="en-US">
              <a:latin typeface="Nunito Sans" pitchFamily="2" charset="0"/>
            </a:endParaRPr>
          </a:p>
        </p:txBody>
      </p:sp>
      <p:pic>
        <p:nvPicPr>
          <p:cNvPr id="2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7223" y="5236131"/>
            <a:ext cx="201216" cy="201216"/>
          </a:xfrm>
          <a:prstGeom prst="rect">
            <a:avLst/>
          </a:prstGeom>
        </p:spPr>
      </p:pic>
      <p:sp>
        <p:nvSpPr>
          <p:cNvPr id="22" name="Text 15"/>
          <p:cNvSpPr/>
          <p:nvPr/>
        </p:nvSpPr>
        <p:spPr>
          <a:xfrm>
            <a:off x="1140262" y="5068372"/>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Specific Modulations</a:t>
            </a:r>
            <a:endParaRPr lang="en-US" sz="1300" dirty="0">
              <a:latin typeface="Nunito Sans" pitchFamily="2" charset="0"/>
            </a:endParaRPr>
          </a:p>
        </p:txBody>
      </p:sp>
      <p:sp>
        <p:nvSpPr>
          <p:cNvPr id="23" name="Text 16"/>
          <p:cNvSpPr/>
          <p:nvPr/>
        </p:nvSpPr>
        <p:spPr>
          <a:xfrm>
            <a:off x="1140262" y="5358527"/>
            <a:ext cx="13020556" cy="214670"/>
          </a:xfrm>
          <a:prstGeom prst="rect">
            <a:avLst/>
          </a:prstGeom>
          <a:noFill/>
          <a:ln/>
        </p:spPr>
        <p:txBody>
          <a:bodyPr wrap="none" lIns="0" tIns="0" rIns="0" bIns="0" rtlCol="0" anchor="t"/>
          <a:lstStyle/>
          <a:p>
            <a:pPr>
              <a:lnSpc>
                <a:spcPts val="1650"/>
              </a:lnSpc>
            </a:pPr>
            <a:r>
              <a:rPr lang="en-US" sz="1050" dirty="0">
                <a:solidFill>
                  <a:srgbClr val="272525"/>
                </a:solidFill>
                <a:latin typeface="Nunito Sans" pitchFamily="2" charset="0"/>
                <a:ea typeface="Nunito" pitchFamily="34" charset="-122"/>
                <a:cs typeface="Nunito" pitchFamily="34" charset="-120"/>
              </a:rPr>
              <a:t>Training models to recognize GSM-family modulations like GMSK, GFSK, and QPSK </a:t>
            </a:r>
            <a:endParaRPr lang="en-US" sz="1050" dirty="0">
              <a:latin typeface="Nunito Sans" pitchFamily="2" charset="0"/>
            </a:endParaRPr>
          </a:p>
        </p:txBody>
      </p:sp>
      <p:sp>
        <p:nvSpPr>
          <p:cNvPr id="24" name="Shape 17"/>
          <p:cNvSpPr/>
          <p:nvPr/>
        </p:nvSpPr>
        <p:spPr>
          <a:xfrm>
            <a:off x="469583" y="5873353"/>
            <a:ext cx="536615" cy="804982"/>
          </a:xfrm>
          <a:prstGeom prst="roundRect">
            <a:avLst>
              <a:gd name="adj" fmla="val 360075"/>
            </a:avLst>
          </a:prstGeom>
          <a:solidFill>
            <a:srgbClr val="429A92"/>
          </a:solidFill>
          <a:ln w="7620">
            <a:solidFill>
              <a:srgbClr val="5BB3AB"/>
            </a:solidFill>
            <a:prstDash val="solid"/>
          </a:ln>
        </p:spPr>
        <p:txBody>
          <a:bodyPr/>
          <a:lstStyle/>
          <a:p>
            <a:endParaRPr lang="en-US">
              <a:latin typeface="Nunito Sans" pitchFamily="2" charset="0"/>
            </a:endParaRPr>
          </a:p>
        </p:txBody>
      </p:sp>
      <p:pic>
        <p:nvPicPr>
          <p:cNvPr id="25"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7223" y="6175177"/>
            <a:ext cx="201216" cy="201216"/>
          </a:xfrm>
          <a:prstGeom prst="rect">
            <a:avLst/>
          </a:prstGeom>
        </p:spPr>
      </p:pic>
      <p:sp>
        <p:nvSpPr>
          <p:cNvPr id="26" name="Text 18"/>
          <p:cNvSpPr/>
          <p:nvPr/>
        </p:nvSpPr>
        <p:spPr>
          <a:xfrm>
            <a:off x="1140262" y="6007418"/>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Platform &amp; Tools</a:t>
            </a:r>
            <a:endParaRPr lang="en-US" sz="1300" dirty="0">
              <a:latin typeface="Nunito Sans" pitchFamily="2" charset="0"/>
            </a:endParaRPr>
          </a:p>
        </p:txBody>
      </p:sp>
      <p:sp>
        <p:nvSpPr>
          <p:cNvPr id="27" name="Text 19"/>
          <p:cNvSpPr/>
          <p:nvPr/>
        </p:nvSpPr>
        <p:spPr>
          <a:xfrm>
            <a:off x="1140262" y="6297573"/>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Python, </a:t>
            </a:r>
            <a:r>
              <a:rPr lang="en-US" sz="1050" dirty="0" err="1">
                <a:solidFill>
                  <a:srgbClr val="272525"/>
                </a:solidFill>
                <a:latin typeface="Nunito Sans" pitchFamily="2" charset="0"/>
                <a:ea typeface="Nunito" pitchFamily="34" charset="-122"/>
                <a:cs typeface="Nunito" pitchFamily="34" charset="-120"/>
              </a:rPr>
              <a:t>PyTorch</a:t>
            </a:r>
            <a:r>
              <a:rPr lang="en-US" sz="1050" dirty="0">
                <a:solidFill>
                  <a:srgbClr val="272525"/>
                </a:solidFill>
                <a:latin typeface="Nunito Sans" pitchFamily="2" charset="0"/>
                <a:ea typeface="Nunito" pitchFamily="34" charset="-122"/>
                <a:cs typeface="Nunito" pitchFamily="34" charset="-120"/>
              </a:rPr>
              <a:t>, </a:t>
            </a:r>
            <a:r>
              <a:rPr lang="en-US" sz="1050" dirty="0" err="1">
                <a:solidFill>
                  <a:srgbClr val="272525"/>
                </a:solidFill>
                <a:latin typeface="Nunito Sans" pitchFamily="2" charset="0"/>
                <a:ea typeface="Nunito" pitchFamily="34" charset="-122"/>
                <a:cs typeface="Nunito" pitchFamily="34" charset="-120"/>
              </a:rPr>
              <a:t>Jupyter</a:t>
            </a:r>
            <a:r>
              <a:rPr lang="en-US" sz="1050" dirty="0">
                <a:solidFill>
                  <a:srgbClr val="272525"/>
                </a:solidFill>
                <a:latin typeface="Nunito Sans" pitchFamily="2" charset="0"/>
                <a:ea typeface="Nunito" pitchFamily="34" charset="-122"/>
                <a:cs typeface="Nunito" pitchFamily="34" charset="-120"/>
              </a:rPr>
              <a:t> Notebook, and supporting visualization or cloud tools where needed.</a:t>
            </a:r>
          </a:p>
        </p:txBody>
      </p:sp>
      <p:sp>
        <p:nvSpPr>
          <p:cNvPr id="28" name="Shape 20"/>
          <p:cNvSpPr/>
          <p:nvPr/>
        </p:nvSpPr>
        <p:spPr>
          <a:xfrm>
            <a:off x="469583" y="6812399"/>
            <a:ext cx="536615" cy="804982"/>
          </a:xfrm>
          <a:prstGeom prst="roundRect">
            <a:avLst>
              <a:gd name="adj" fmla="val 360075"/>
            </a:avLst>
          </a:prstGeom>
          <a:solidFill>
            <a:srgbClr val="A4ECF9"/>
          </a:solidFill>
          <a:ln w="7620">
            <a:solidFill>
              <a:srgbClr val="8AD2DF"/>
            </a:solidFill>
            <a:prstDash val="solid"/>
          </a:ln>
        </p:spPr>
        <p:txBody>
          <a:bodyPr/>
          <a:lstStyle/>
          <a:p>
            <a:endParaRPr lang="en-US">
              <a:latin typeface="Nunito Sans" pitchFamily="2" charset="0"/>
            </a:endParaRPr>
          </a:p>
        </p:txBody>
      </p:sp>
      <p:pic>
        <p:nvPicPr>
          <p:cNvPr id="29"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7223" y="7114223"/>
            <a:ext cx="201216" cy="201216"/>
          </a:xfrm>
          <a:prstGeom prst="rect">
            <a:avLst/>
          </a:prstGeom>
        </p:spPr>
      </p:pic>
      <p:sp>
        <p:nvSpPr>
          <p:cNvPr id="30" name="Text 21"/>
          <p:cNvSpPr/>
          <p:nvPr/>
        </p:nvSpPr>
        <p:spPr>
          <a:xfrm>
            <a:off x="1140262" y="6946463"/>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Timeline</a:t>
            </a:r>
            <a:endParaRPr lang="en-US" sz="1300" dirty="0">
              <a:latin typeface="Nunito Sans" pitchFamily="2" charset="0"/>
            </a:endParaRPr>
          </a:p>
        </p:txBody>
      </p:sp>
      <p:sp>
        <p:nvSpPr>
          <p:cNvPr id="31" name="Text 22"/>
          <p:cNvSpPr/>
          <p:nvPr/>
        </p:nvSpPr>
        <p:spPr>
          <a:xfrm>
            <a:off x="1140262" y="7236619"/>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A 6-month dedicated period for research, model development, and comprehensive testing.</a:t>
            </a:r>
            <a:endParaRPr lang="en-US" sz="1050" dirty="0">
              <a:latin typeface="Nunito Sans" pitchFamily="2" charset="0"/>
            </a:endParaRPr>
          </a:p>
        </p:txBody>
      </p:sp>
    </p:spTree>
    <p:extLst>
      <p:ext uri="{BB962C8B-B14F-4D97-AF65-F5344CB8AC3E}">
        <p14:creationId xmlns:p14="http://schemas.microsoft.com/office/powerpoint/2010/main" val="4071045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88143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Literature Review</a:t>
            </a:r>
            <a:endParaRPr lang="en-US" sz="4450" dirty="0">
              <a:latin typeface="Nunito Sans" pitchFamily="2" charset="0"/>
            </a:endParaRPr>
          </a:p>
        </p:txBody>
      </p:sp>
      <p:sp>
        <p:nvSpPr>
          <p:cNvPr id="4" name="Text 1"/>
          <p:cNvSpPr/>
          <p:nvPr/>
        </p:nvSpPr>
        <p:spPr>
          <a:xfrm>
            <a:off x="793790" y="3930372"/>
            <a:ext cx="7556421" cy="1417677"/>
          </a:xfrm>
          <a:prstGeom prst="rect">
            <a:avLst/>
          </a:prstGeom>
          <a:noFill/>
          <a:ln/>
        </p:spPr>
        <p:txBody>
          <a:bodyPr wrap="none" lIns="0" tIns="0" rIns="0" bIns="0" rtlCol="0" anchor="t"/>
          <a:lstStyle/>
          <a:p>
            <a:pPr marL="0" indent="0" algn="l">
              <a:lnSpc>
                <a:spcPts val="11150"/>
              </a:lnSpc>
              <a:buNone/>
            </a:pPr>
            <a:r>
              <a:rPr lang="en-US" sz="8900" b="1" dirty="0">
                <a:solidFill>
                  <a:srgbClr val="006A60"/>
                </a:solidFill>
                <a:latin typeface="Nunito Sans" pitchFamily="2" charset="0"/>
                <a:ea typeface="Nunito Sans Bold" pitchFamily="34" charset="-122"/>
                <a:cs typeface="Nunito Sans Bold" pitchFamily="34" charset="-120"/>
              </a:rPr>
              <a:t>Chapter Two</a:t>
            </a:r>
            <a:endParaRPr lang="en-US" sz="8900" dirty="0">
              <a:latin typeface="Nunito Sans" pitchFamily="2" charset="0"/>
            </a:endParaRPr>
          </a:p>
        </p:txBody>
      </p:sp>
    </p:spTree>
    <p:extLst>
      <p:ext uri="{BB962C8B-B14F-4D97-AF65-F5344CB8AC3E}">
        <p14:creationId xmlns:p14="http://schemas.microsoft.com/office/powerpoint/2010/main" val="2509795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793790" y="619244"/>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006A60"/>
                </a:solidFill>
                <a:latin typeface="Nunito Sans" pitchFamily="2" charset="0"/>
                <a:ea typeface="Nunito Sans Bold" pitchFamily="34" charset="-122"/>
                <a:cs typeface="Nunito Sans Bold" pitchFamily="34" charset="-120"/>
              </a:rPr>
              <a:t>Classical Methods</a:t>
            </a:r>
            <a:endParaRPr lang="en-US" sz="2650" dirty="0">
              <a:latin typeface="Nunito Sans" pitchFamily="2" charset="0"/>
            </a:endParaRPr>
          </a:p>
        </p:txBody>
      </p:sp>
      <p:sp>
        <p:nvSpPr>
          <p:cNvPr id="4" name="Text 2"/>
          <p:cNvSpPr/>
          <p:nvPr/>
        </p:nvSpPr>
        <p:spPr>
          <a:xfrm>
            <a:off x="786170" y="1438988"/>
            <a:ext cx="6244709" cy="2006681"/>
          </a:xfrm>
          <a:prstGeom prst="rect">
            <a:avLst/>
          </a:prstGeom>
          <a:noFill/>
          <a:ln/>
        </p:spPr>
        <p:txBody>
          <a:bodyPr wrap="square" lIns="0" tIns="0" rIns="0" bIns="0" rtlCol="0" anchor="t"/>
          <a:lstStyle/>
          <a:p>
            <a:pPr>
              <a:lnSpc>
                <a:spcPts val="2850"/>
              </a:lnSpc>
            </a:pPr>
            <a:r>
              <a:rPr lang="en-US" sz="1750" dirty="0">
                <a:solidFill>
                  <a:srgbClr val="272525"/>
                </a:solidFill>
                <a:latin typeface="Nunito Sans" pitchFamily="2" charset="0"/>
                <a:ea typeface="Nunito" pitchFamily="34" charset="-122"/>
                <a:cs typeface="Nunito" pitchFamily="34" charset="-120"/>
              </a:rPr>
              <a:t>Early Automatic Modulation Classification (AMC) relied on statistical analysis and manually engineered features. While elegant, these methods are brittle and fail completely in the low-signal, high-interference environments common in Uganda.</a:t>
            </a:r>
            <a:endParaRPr lang="en-US" sz="1750" dirty="0">
              <a:latin typeface="Nunito Sans" pitchFamily="2" charset="0"/>
            </a:endParaRPr>
          </a:p>
        </p:txBody>
      </p:sp>
      <p:pic>
        <p:nvPicPr>
          <p:cNvPr id="7" name="Image 0" descr="preencoded.png"/>
          <p:cNvPicPr>
            <a:picLocks noChangeAspect="1"/>
          </p:cNvPicPr>
          <p:nvPr/>
        </p:nvPicPr>
        <p:blipFill>
          <a:blip r:embed="rId3"/>
          <a:stretch>
            <a:fillRect/>
          </a:stretch>
        </p:blipFill>
        <p:spPr>
          <a:xfrm>
            <a:off x="7599521" y="1343740"/>
            <a:ext cx="283488" cy="226814"/>
          </a:xfrm>
          <a:prstGeom prst="rect">
            <a:avLst/>
          </a:prstGeom>
        </p:spPr>
      </p:pic>
      <p:sp>
        <p:nvSpPr>
          <p:cNvPr id="8" name="Text 5"/>
          <p:cNvSpPr/>
          <p:nvPr/>
        </p:nvSpPr>
        <p:spPr>
          <a:xfrm>
            <a:off x="8109823" y="1290757"/>
            <a:ext cx="5280779" cy="1814513"/>
          </a:xfrm>
          <a:prstGeom prst="rect">
            <a:avLst/>
          </a:prstGeom>
          <a:noFill/>
          <a:ln/>
        </p:spPr>
        <p:txBody>
          <a:bodyPr wrap="square" lIns="0" tIns="0" rIns="0" bIns="0" rtlCol="0" anchor="t"/>
          <a:lstStyle/>
          <a:p>
            <a:pPr marL="0" indent="0" algn="l">
              <a:lnSpc>
                <a:spcPts val="2850"/>
              </a:lnSpc>
              <a:buNone/>
            </a:pPr>
            <a:r>
              <a:rPr lang="en-US" sz="1750" b="1" dirty="0">
                <a:solidFill>
                  <a:srgbClr val="000000"/>
                </a:solidFill>
                <a:latin typeface="Nunito Sans" pitchFamily="2" charset="0"/>
                <a:ea typeface="Nunito" pitchFamily="34" charset="-122"/>
                <a:cs typeface="Nunito" pitchFamily="34" charset="-120"/>
              </a:rPr>
              <a:t>Key Limitation:</a:t>
            </a:r>
            <a:r>
              <a:rPr lang="en-US" sz="1750" dirty="0">
                <a:solidFill>
                  <a:srgbClr val="000000"/>
                </a:solidFill>
                <a:latin typeface="Nunito Sans" pitchFamily="2" charset="0"/>
                <a:ea typeface="Nunito" pitchFamily="34" charset="-122"/>
                <a:cs typeface="Nunito" pitchFamily="34" charset="-120"/>
              </a:rPr>
              <a:t> </a:t>
            </a:r>
          </a:p>
          <a:p>
            <a:pPr marL="285750" indent="-285750" algn="l">
              <a:lnSpc>
                <a:spcPts val="2850"/>
              </a:lnSpc>
              <a:buFont typeface="Arial" panose="020B0604020202020204" pitchFamily="34" charset="0"/>
              <a:buChar char="•"/>
            </a:pPr>
            <a:r>
              <a:rPr lang="en-US" sz="1750" dirty="0">
                <a:solidFill>
                  <a:srgbClr val="000000"/>
                </a:solidFill>
                <a:latin typeface="Nunito Sans" pitchFamily="2" charset="0"/>
                <a:ea typeface="Nunito" pitchFamily="34" charset="-122"/>
                <a:cs typeface="Nunito" pitchFamily="34" charset="-120"/>
              </a:rPr>
              <a:t>They are not robust under unknown channels</a:t>
            </a:r>
          </a:p>
          <a:p>
            <a:pPr marL="285750" indent="-285750" algn="l">
              <a:lnSpc>
                <a:spcPts val="2850"/>
              </a:lnSpc>
              <a:buFont typeface="Arial" panose="020B0604020202020204" pitchFamily="34" charset="0"/>
              <a:buChar char="•"/>
            </a:pPr>
            <a:r>
              <a:rPr lang="en-US" sz="1750" dirty="0">
                <a:solidFill>
                  <a:srgbClr val="000000"/>
                </a:solidFill>
                <a:latin typeface="Nunito Sans" pitchFamily="2" charset="0"/>
                <a:ea typeface="Nunito" pitchFamily="34" charset="-122"/>
                <a:cs typeface="Nunito" pitchFamily="34" charset="-120"/>
              </a:rPr>
              <a:t>These impairments are documented by UCC in congested Ugandan deployments and motivate the transition toward data-driven feature learning. [7][23][27]</a:t>
            </a:r>
            <a:endParaRPr lang="en-US" sz="1750" dirty="0">
              <a:latin typeface="Nunito Sans" pitchFamily="2" charset="0"/>
            </a:endParaRPr>
          </a:p>
        </p:txBody>
      </p:sp>
      <p:sp>
        <p:nvSpPr>
          <p:cNvPr id="9" name="Text 1">
            <a:extLst>
              <a:ext uri="{FF2B5EF4-FFF2-40B4-BE49-F238E27FC236}">
                <a16:creationId xmlns:a16="http://schemas.microsoft.com/office/drawing/2014/main" id="{BA257FC2-BD36-0F1F-8104-E22DA24DB2F7}"/>
              </a:ext>
            </a:extLst>
          </p:cNvPr>
          <p:cNvSpPr/>
          <p:nvPr/>
        </p:nvSpPr>
        <p:spPr>
          <a:xfrm>
            <a:off x="793790" y="3950376"/>
            <a:ext cx="5728930" cy="425291"/>
          </a:xfrm>
          <a:prstGeom prst="rect">
            <a:avLst/>
          </a:prstGeom>
          <a:noFill/>
          <a:ln/>
        </p:spPr>
        <p:txBody>
          <a:bodyPr wrap="none" lIns="0" tIns="0" rIns="0" bIns="0" rtlCol="0" anchor="t"/>
          <a:lstStyle/>
          <a:p>
            <a:pPr marL="0" indent="0" algn="l">
              <a:lnSpc>
                <a:spcPts val="3300"/>
              </a:lnSpc>
              <a:buNone/>
            </a:pPr>
            <a:r>
              <a:rPr lang="en-US" sz="2650" b="1" dirty="0">
                <a:solidFill>
                  <a:srgbClr val="006A60"/>
                </a:solidFill>
                <a:latin typeface="Nunito Sans" pitchFamily="2" charset="0"/>
                <a:ea typeface="Nunito Sans Bold" pitchFamily="34" charset="-122"/>
                <a:cs typeface="Nunito Sans Bold" pitchFamily="34" charset="-120"/>
              </a:rPr>
              <a:t>Machine learning as the new standard</a:t>
            </a:r>
            <a:endParaRPr lang="en-US" sz="2650" dirty="0">
              <a:latin typeface="Nunito Sans" pitchFamily="2" charset="0"/>
            </a:endParaRPr>
          </a:p>
        </p:txBody>
      </p:sp>
      <p:sp>
        <p:nvSpPr>
          <p:cNvPr id="10" name="Text 2">
            <a:extLst>
              <a:ext uri="{FF2B5EF4-FFF2-40B4-BE49-F238E27FC236}">
                <a16:creationId xmlns:a16="http://schemas.microsoft.com/office/drawing/2014/main" id="{8896AFBA-4659-D9D6-FF6A-E64A929BC3E8}"/>
              </a:ext>
            </a:extLst>
          </p:cNvPr>
          <p:cNvSpPr/>
          <p:nvPr/>
        </p:nvSpPr>
        <p:spPr>
          <a:xfrm>
            <a:off x="786170" y="4770120"/>
            <a:ext cx="12831246" cy="2006681"/>
          </a:xfrm>
          <a:prstGeom prst="rect">
            <a:avLst/>
          </a:prstGeom>
          <a:noFill/>
          <a:ln/>
        </p:spPr>
        <p:txBody>
          <a:bodyPr wrap="square" lIns="0" tIns="0" rIns="0" bIns="0" rtlCol="0" anchor="t"/>
          <a:lstStyle/>
          <a:p>
            <a:pPr>
              <a:lnSpc>
                <a:spcPts val="2850"/>
              </a:lnSpc>
            </a:pPr>
            <a:r>
              <a:rPr lang="en-US" dirty="0">
                <a:solidFill>
                  <a:srgbClr val="272525"/>
                </a:solidFill>
                <a:latin typeface="Nunito Sans" pitchFamily="2" charset="0"/>
                <a:ea typeface="Nunito" pitchFamily="34" charset="-122"/>
                <a:cs typeface="Nunito" pitchFamily="34" charset="-120"/>
              </a:rPr>
              <a:t>Modern research has shifted to deep learning models such as CNNs, Transformers, and Mixture-of-Experts frameworks. These models can learn features directly from raw signal data and have shown significant accuracy improvements, especially in low-SNR conditions down to `0 dB`. [15][16][26]</a:t>
            </a:r>
            <a:endParaRPr lang="en-US" dirty="0">
              <a:latin typeface="Nunito Sans" pitchFamily="2" charset="0"/>
            </a:endParaRPr>
          </a:p>
        </p:txBody>
      </p:sp>
    </p:spTree>
    <p:extLst>
      <p:ext uri="{BB962C8B-B14F-4D97-AF65-F5344CB8AC3E}">
        <p14:creationId xmlns:p14="http://schemas.microsoft.com/office/powerpoint/2010/main" val="2910478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29139"/>
            <a:ext cx="11112818"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Bold" pitchFamily="34" charset="0"/>
                <a:ea typeface="Nunito Sans Bold" pitchFamily="34" charset="-122"/>
                <a:cs typeface="Nunito Sans Bold" pitchFamily="34" charset="-120"/>
              </a:rPr>
              <a:t>GSM Noise Mitigation in African Networks</a:t>
            </a:r>
            <a:endParaRPr lang="en-US" sz="4450" dirty="0"/>
          </a:p>
        </p:txBody>
      </p:sp>
      <p:sp>
        <p:nvSpPr>
          <p:cNvPr id="3" name="Text 1"/>
          <p:cNvSpPr/>
          <p:nvPr/>
        </p:nvSpPr>
        <p:spPr>
          <a:xfrm>
            <a:off x="793790" y="1891546"/>
            <a:ext cx="13042821" cy="725805"/>
          </a:xfrm>
          <a:prstGeom prst="rect">
            <a:avLst/>
          </a:prstGeom>
          <a:noFill/>
          <a:ln/>
        </p:spPr>
        <p:txBody>
          <a:bodyPr wrap="square" lIns="0" tIns="0" rIns="0" bIns="0" rtlCol="0" anchor="t"/>
          <a:lstStyle/>
          <a:p>
            <a:pPr>
              <a:lnSpc>
                <a:spcPct val="150000"/>
              </a:lnSpc>
            </a:pPr>
            <a:r>
              <a:rPr lang="en-US" dirty="0">
                <a:latin typeface="Nunito Sans" pitchFamily="2" charset="0"/>
              </a:rPr>
              <a:t>While DAE-based signal enhancement has been extensively studied academically, its application to African GSM networks' specific interference environment remains unexplored. [8][26]</a:t>
            </a:r>
          </a:p>
        </p:txBody>
      </p:sp>
      <p:sp>
        <p:nvSpPr>
          <p:cNvPr id="5" name="Text 3"/>
          <p:cNvSpPr/>
          <p:nvPr/>
        </p:nvSpPr>
        <p:spPr>
          <a:xfrm>
            <a:off x="833914" y="3106936"/>
            <a:ext cx="3280886" cy="354330"/>
          </a:xfrm>
          <a:prstGeom prst="rect">
            <a:avLst/>
          </a:prstGeom>
          <a:noFill/>
          <a:ln/>
        </p:spPr>
        <p:txBody>
          <a:bodyPr wrap="none" lIns="0" tIns="0" rIns="0" bIns="0" rtlCol="0" anchor="t"/>
          <a:lstStyle/>
          <a:p>
            <a:pPr marL="0" indent="0" algn="l">
              <a:lnSpc>
                <a:spcPts val="2750"/>
              </a:lnSpc>
              <a:buNone/>
            </a:pPr>
            <a:r>
              <a:rPr lang="en-US" sz="2200" b="1" dirty="0">
                <a:latin typeface="Nunito Sans Bold" pitchFamily="34" charset="0"/>
                <a:ea typeface="Nunito Sans Bold" pitchFamily="34" charset="-122"/>
                <a:cs typeface="Nunito Sans Bold" pitchFamily="34" charset="-120"/>
              </a:rPr>
              <a:t>Regulatory Interventions</a:t>
            </a:r>
            <a:endParaRPr lang="en-US" sz="2200" dirty="0"/>
          </a:p>
        </p:txBody>
      </p:sp>
      <p:sp>
        <p:nvSpPr>
          <p:cNvPr id="6" name="Text 4"/>
          <p:cNvSpPr/>
          <p:nvPr/>
        </p:nvSpPr>
        <p:spPr>
          <a:xfrm>
            <a:off x="833914" y="3597354"/>
            <a:ext cx="3727490" cy="2177415"/>
          </a:xfrm>
          <a:prstGeom prst="rect">
            <a:avLst/>
          </a:prstGeom>
          <a:noFill/>
          <a:ln/>
        </p:spPr>
        <p:txBody>
          <a:bodyPr wrap="square" lIns="0" tIns="0" rIns="0" bIns="0" rtlCol="0" anchor="t"/>
          <a:lstStyle/>
          <a:p>
            <a:pPr marL="0" indent="0" algn="l">
              <a:lnSpc>
                <a:spcPts val="2850"/>
              </a:lnSpc>
              <a:buNone/>
            </a:pPr>
            <a:r>
              <a:rPr lang="en-US" sz="1750" dirty="0">
                <a:latin typeface="Nunito" pitchFamily="34" charset="0"/>
                <a:ea typeface="Nunito" pitchFamily="34" charset="-122"/>
                <a:cs typeface="Nunito" pitchFamily="34" charset="-120"/>
              </a:rPr>
              <a:t>UCC's zero-tolerance posture has led to enforcement operations that confiscate illegal boosters and shut down unlicensed </a:t>
            </a:r>
            <a:r>
              <a:rPr lang="en-US" sz="1750" dirty="0" err="1">
                <a:latin typeface="Nunito" pitchFamily="34" charset="0"/>
                <a:ea typeface="Nunito" pitchFamily="34" charset="-122"/>
                <a:cs typeface="Nunito" pitchFamily="34" charset="-120"/>
              </a:rPr>
              <a:t>Bizindaalo</a:t>
            </a:r>
            <a:r>
              <a:rPr lang="en-US" sz="1750" dirty="0">
                <a:latin typeface="Nunito" pitchFamily="34" charset="0"/>
                <a:ea typeface="Nunito" pitchFamily="34" charset="-122"/>
                <a:cs typeface="Nunito" pitchFamily="34" charset="-120"/>
              </a:rPr>
              <a:t> stations. Proliferation continues, however, due to porous borders and sustained demand. [7][23]</a:t>
            </a:r>
          </a:p>
        </p:txBody>
      </p:sp>
      <p:sp>
        <p:nvSpPr>
          <p:cNvPr id="8" name="Text 6"/>
          <p:cNvSpPr/>
          <p:nvPr/>
        </p:nvSpPr>
        <p:spPr>
          <a:xfrm>
            <a:off x="5257086" y="3106936"/>
            <a:ext cx="3607594" cy="354330"/>
          </a:xfrm>
          <a:prstGeom prst="rect">
            <a:avLst/>
          </a:prstGeom>
          <a:noFill/>
          <a:ln/>
        </p:spPr>
        <p:txBody>
          <a:bodyPr wrap="none" lIns="0" tIns="0" rIns="0" bIns="0" rtlCol="0" anchor="t"/>
          <a:lstStyle/>
          <a:p>
            <a:pPr marL="0" indent="0" algn="l">
              <a:lnSpc>
                <a:spcPts val="2750"/>
              </a:lnSpc>
              <a:buNone/>
            </a:pPr>
            <a:r>
              <a:rPr lang="en-US" sz="2200" b="1" dirty="0">
                <a:latin typeface="Nunito Sans Bold" pitchFamily="34" charset="0"/>
                <a:ea typeface="Nunito Sans Bold" pitchFamily="34" charset="-122"/>
                <a:cs typeface="Nunito Sans Bold" pitchFamily="34" charset="-120"/>
              </a:rPr>
              <a:t>Technical Countermeasures</a:t>
            </a:r>
            <a:endParaRPr lang="en-US" sz="2200" dirty="0"/>
          </a:p>
        </p:txBody>
      </p:sp>
      <p:sp>
        <p:nvSpPr>
          <p:cNvPr id="9" name="Text 7"/>
          <p:cNvSpPr/>
          <p:nvPr/>
        </p:nvSpPr>
        <p:spPr>
          <a:xfrm>
            <a:off x="5257086" y="3597354"/>
            <a:ext cx="3727490" cy="1814513"/>
          </a:xfrm>
          <a:prstGeom prst="rect">
            <a:avLst/>
          </a:prstGeom>
          <a:noFill/>
          <a:ln/>
        </p:spPr>
        <p:txBody>
          <a:bodyPr wrap="square" lIns="0" tIns="0" rIns="0" bIns="0" rtlCol="0" anchor="t"/>
          <a:lstStyle/>
          <a:p>
            <a:pPr marL="0" indent="0" algn="l">
              <a:lnSpc>
                <a:spcPts val="2850"/>
              </a:lnSpc>
              <a:buNone/>
            </a:pPr>
            <a:r>
              <a:rPr lang="en-US" sz="1750" dirty="0">
                <a:latin typeface="Nunito" pitchFamily="34" charset="0"/>
                <a:ea typeface="Nunito" pitchFamily="34" charset="-122"/>
                <a:cs typeface="Nunito" pitchFamily="34" charset="-120"/>
              </a:rPr>
              <a:t>Modern 4G/5G systems use Massive MIMO and beamforming, but these are unavailable for legacy 2G/GSM deployments in rural areas. NBI fiber expansion helps reduce microwave backhaul reliance. [4][24]</a:t>
            </a:r>
            <a:endParaRPr lang="en-US" sz="1750" dirty="0"/>
          </a:p>
        </p:txBody>
      </p:sp>
      <p:sp>
        <p:nvSpPr>
          <p:cNvPr id="11" name="Text 9"/>
          <p:cNvSpPr/>
          <p:nvPr/>
        </p:nvSpPr>
        <p:spPr>
          <a:xfrm>
            <a:off x="9680258" y="3106936"/>
            <a:ext cx="2835235" cy="354330"/>
          </a:xfrm>
          <a:prstGeom prst="rect">
            <a:avLst/>
          </a:prstGeom>
          <a:noFill/>
          <a:ln/>
        </p:spPr>
        <p:txBody>
          <a:bodyPr wrap="none" lIns="0" tIns="0" rIns="0" bIns="0" rtlCol="0" anchor="t"/>
          <a:lstStyle/>
          <a:p>
            <a:pPr marL="0" indent="0" algn="l">
              <a:lnSpc>
                <a:spcPts val="2750"/>
              </a:lnSpc>
              <a:buNone/>
            </a:pPr>
            <a:r>
              <a:rPr lang="en-US" sz="2200" b="1" dirty="0">
                <a:latin typeface="Nunito Sans Bold" pitchFamily="34" charset="0"/>
                <a:ea typeface="Nunito Sans Bold" pitchFamily="34" charset="-122"/>
                <a:cs typeface="Nunito Sans Bold" pitchFamily="34" charset="-120"/>
              </a:rPr>
              <a:t>The Research Gap</a:t>
            </a:r>
            <a:endParaRPr lang="en-US" sz="2200" dirty="0"/>
          </a:p>
        </p:txBody>
      </p:sp>
      <p:sp>
        <p:nvSpPr>
          <p:cNvPr id="12" name="Text 10"/>
          <p:cNvSpPr/>
          <p:nvPr/>
        </p:nvSpPr>
        <p:spPr>
          <a:xfrm>
            <a:off x="9680258" y="3597354"/>
            <a:ext cx="3727490" cy="1814513"/>
          </a:xfrm>
          <a:prstGeom prst="rect">
            <a:avLst/>
          </a:prstGeom>
          <a:noFill/>
          <a:ln/>
        </p:spPr>
        <p:txBody>
          <a:bodyPr wrap="square" lIns="0" tIns="0" rIns="0" bIns="0" rtlCol="0" anchor="t"/>
          <a:lstStyle/>
          <a:p>
            <a:pPr marL="0" indent="0" algn="l">
              <a:lnSpc>
                <a:spcPts val="2850"/>
              </a:lnSpc>
              <a:buNone/>
            </a:pPr>
            <a:r>
              <a:rPr lang="en-US" sz="1750" dirty="0">
                <a:latin typeface="Nunito" pitchFamily="34" charset="0"/>
                <a:ea typeface="Nunito" pitchFamily="34" charset="-122"/>
                <a:cs typeface="Nunito" pitchFamily="34" charset="-120"/>
              </a:rPr>
              <a:t>No published work applies ML-based denoising to UCC-documented GSM interference, including booster oscillation, </a:t>
            </a:r>
            <a:r>
              <a:rPr lang="en-US" sz="1750" dirty="0" err="1">
                <a:latin typeface="Nunito" pitchFamily="34" charset="0"/>
                <a:ea typeface="Nunito" pitchFamily="34" charset="-122"/>
                <a:cs typeface="Nunito" pitchFamily="34" charset="-120"/>
              </a:rPr>
              <a:t>Bizindaalo</a:t>
            </a:r>
            <a:r>
              <a:rPr lang="en-US" sz="1750" dirty="0">
                <a:latin typeface="Nunito" pitchFamily="34" charset="0"/>
                <a:ea typeface="Nunito" pitchFamily="34" charset="-122"/>
                <a:cs typeface="Nunito" pitchFamily="34" charset="-120"/>
              </a:rPr>
              <a:t> harmonics, and tropical rain fade. [7][8][23][24][25][26]</a:t>
            </a:r>
            <a:endParaRPr lang="en-US" sz="1750" dirty="0"/>
          </a:p>
        </p:txBody>
      </p:sp>
      <p:sp>
        <p:nvSpPr>
          <p:cNvPr id="13" name="Text 11"/>
          <p:cNvSpPr/>
          <p:nvPr/>
        </p:nvSpPr>
        <p:spPr>
          <a:xfrm>
            <a:off x="1133951" y="6519505"/>
            <a:ext cx="12702659" cy="725805"/>
          </a:xfrm>
          <a:prstGeom prst="rect">
            <a:avLst/>
          </a:prstGeom>
          <a:noFill/>
          <a:ln/>
        </p:spPr>
        <p:txBody>
          <a:bodyPr wrap="square" lIns="0" tIns="0" rIns="0" bIns="0" rtlCol="0" anchor="t"/>
          <a:lstStyle/>
          <a:p>
            <a:pPr marL="0" indent="0" algn="l">
              <a:lnSpc>
                <a:spcPts val="2850"/>
              </a:lnSpc>
              <a:buNone/>
            </a:pPr>
            <a:r>
              <a:rPr lang="en-US" sz="1750" b="1" dirty="0">
                <a:solidFill>
                  <a:srgbClr val="006A60"/>
                </a:solidFill>
                <a:latin typeface="Nunito" pitchFamily="34" charset="0"/>
                <a:ea typeface="Nunito" pitchFamily="34" charset="-122"/>
                <a:cs typeface="Nunito" pitchFamily="34" charset="-120"/>
              </a:rPr>
              <a:t>We fill that gap</a:t>
            </a:r>
            <a:r>
              <a:rPr lang="en-US" sz="1750" dirty="0">
                <a:solidFill>
                  <a:srgbClr val="006A60"/>
                </a:solidFill>
                <a:latin typeface="Nunito" pitchFamily="34" charset="0"/>
                <a:ea typeface="Nunito" pitchFamily="34" charset="-122"/>
                <a:cs typeface="Nunito" pitchFamily="34" charset="-120"/>
              </a:rPr>
              <a:t> </a:t>
            </a:r>
            <a:r>
              <a:rPr lang="en-US" sz="1750" dirty="0">
                <a:solidFill>
                  <a:srgbClr val="272525"/>
                </a:solidFill>
                <a:latin typeface="Nunito" pitchFamily="34" charset="0"/>
                <a:ea typeface="Nunito" pitchFamily="34" charset="-122"/>
                <a:cs typeface="Nunito" pitchFamily="34" charset="-120"/>
              </a:rPr>
              <a:t>by training a DAE on synthetic noise profiles matching documented interference vectors, enabling GMSK classification at SNR levels where conventional approaches fail. [8][15][26]</a:t>
            </a:r>
          </a:p>
          <a:p>
            <a:pPr marL="0" indent="0" algn="l">
              <a:lnSpc>
                <a:spcPts val="2850"/>
              </a:lnSpc>
              <a:buNone/>
            </a:pPr>
            <a:endParaRPr lang="en-US" sz="1750" dirty="0"/>
          </a:p>
        </p:txBody>
      </p:sp>
      <p:sp>
        <p:nvSpPr>
          <p:cNvPr id="14" name="Shape 12"/>
          <p:cNvSpPr/>
          <p:nvPr/>
        </p:nvSpPr>
        <p:spPr>
          <a:xfrm>
            <a:off x="793790" y="6264354"/>
            <a:ext cx="30480" cy="1236107"/>
          </a:xfrm>
          <a:prstGeom prst="rect">
            <a:avLst/>
          </a:prstGeom>
          <a:solidFill>
            <a:srgbClr val="006A60"/>
          </a:solidFill>
          <a:ln/>
        </p:spPr>
        <p:txBody>
          <a:bodyPr/>
          <a:lstStyle/>
          <a:p>
            <a:endParaRPr lang="en-US">
              <a:solidFill>
                <a:srgbClr val="006A6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3057" y="650677"/>
            <a:ext cx="5447348" cy="574119"/>
          </a:xfrm>
          <a:prstGeom prst="rect">
            <a:avLst/>
          </a:prstGeom>
          <a:noFill/>
          <a:ln/>
        </p:spPr>
        <p:txBody>
          <a:bodyPr wrap="none" lIns="0" tIns="0" rIns="0" bIns="0" rtlCol="0" anchor="t"/>
          <a:lstStyle/>
          <a:p>
            <a:pPr marL="0" indent="0" algn="l">
              <a:lnSpc>
                <a:spcPts val="4500"/>
              </a:lnSpc>
              <a:buNone/>
            </a:pPr>
            <a:r>
              <a:rPr lang="en-US" sz="3600" b="1" dirty="0">
                <a:solidFill>
                  <a:srgbClr val="006A60"/>
                </a:solidFill>
                <a:latin typeface="Nunito Sans" pitchFamily="2" charset="0"/>
                <a:ea typeface="Nunito Sans Bold" pitchFamily="34" charset="-122"/>
                <a:cs typeface="Nunito Sans Bold" pitchFamily="34" charset="-120"/>
              </a:rPr>
              <a:t>Machine Learning in AMC</a:t>
            </a:r>
            <a:endParaRPr lang="en-US" sz="3600" dirty="0">
              <a:latin typeface="Nunito Sans" pitchFamily="2" charset="0"/>
            </a:endParaRPr>
          </a:p>
        </p:txBody>
      </p:sp>
      <p:sp>
        <p:nvSpPr>
          <p:cNvPr id="3" name="Text 1"/>
          <p:cNvSpPr/>
          <p:nvPr/>
        </p:nvSpPr>
        <p:spPr>
          <a:xfrm>
            <a:off x="643057" y="1592223"/>
            <a:ext cx="13344287" cy="293846"/>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Deep learning has reshaped AMC by learning discriminative features directly from raw I/Q samples. Recent contributions demonstrate tangible low-SNR gains:</a:t>
            </a:r>
            <a:endParaRPr lang="en-US" sz="1400" dirty="0">
              <a:latin typeface="Nunito Sans" pitchFamily="2" charset="0"/>
            </a:endParaRPr>
          </a:p>
        </p:txBody>
      </p:sp>
      <p:sp>
        <p:nvSpPr>
          <p:cNvPr id="4" name="Shape 2"/>
          <p:cNvSpPr/>
          <p:nvPr/>
        </p:nvSpPr>
        <p:spPr>
          <a:xfrm>
            <a:off x="7303770" y="2092762"/>
            <a:ext cx="22860" cy="5486162"/>
          </a:xfrm>
          <a:prstGeom prst="roundRect">
            <a:avLst>
              <a:gd name="adj" fmla="val 723400"/>
            </a:avLst>
          </a:prstGeom>
          <a:solidFill>
            <a:srgbClr val="000000">
              <a:alpha val="8000"/>
            </a:srgbClr>
          </a:solidFill>
          <a:ln/>
        </p:spPr>
        <p:txBody>
          <a:bodyPr/>
          <a:lstStyle/>
          <a:p>
            <a:endParaRPr lang="en-US">
              <a:latin typeface="Nunito Sans" pitchFamily="2" charset="0"/>
            </a:endParaRPr>
          </a:p>
        </p:txBody>
      </p:sp>
      <p:sp>
        <p:nvSpPr>
          <p:cNvPr id="5" name="Shape 3"/>
          <p:cNvSpPr/>
          <p:nvPr/>
        </p:nvSpPr>
        <p:spPr>
          <a:xfrm>
            <a:off x="6580227" y="2288024"/>
            <a:ext cx="551140" cy="22860"/>
          </a:xfrm>
          <a:prstGeom prst="roundRect">
            <a:avLst>
              <a:gd name="adj" fmla="val 723400"/>
            </a:avLst>
          </a:prstGeom>
          <a:solidFill>
            <a:srgbClr val="D7CD80"/>
          </a:solidFill>
          <a:ln/>
        </p:spPr>
        <p:txBody>
          <a:bodyPr/>
          <a:lstStyle/>
          <a:p>
            <a:endParaRPr lang="en-US">
              <a:latin typeface="Nunito Sans" pitchFamily="2" charset="0"/>
            </a:endParaRPr>
          </a:p>
        </p:txBody>
      </p:sp>
      <p:sp>
        <p:nvSpPr>
          <p:cNvPr id="6" name="Shape 4"/>
          <p:cNvSpPr/>
          <p:nvPr/>
        </p:nvSpPr>
        <p:spPr>
          <a:xfrm>
            <a:off x="7108508" y="2092762"/>
            <a:ext cx="413385" cy="413385"/>
          </a:xfrm>
          <a:prstGeom prst="roundRect">
            <a:avLst>
              <a:gd name="adj" fmla="val 40004"/>
            </a:avLst>
          </a:prstGeom>
          <a:solidFill>
            <a:srgbClr val="F1E79A"/>
          </a:solidFill>
          <a:ln w="7620">
            <a:solidFill>
              <a:srgbClr val="D7CD80"/>
            </a:solidFill>
            <a:prstDash val="solid"/>
          </a:ln>
        </p:spPr>
        <p:txBody>
          <a:bodyPr/>
          <a:lstStyle/>
          <a:p>
            <a:endParaRPr lang="en-US">
              <a:latin typeface="Nunito Sans" pitchFamily="2" charset="0"/>
            </a:endParaRPr>
          </a:p>
        </p:txBody>
      </p:sp>
      <p:sp>
        <p:nvSpPr>
          <p:cNvPr id="7" name="Text 5"/>
          <p:cNvSpPr/>
          <p:nvPr/>
        </p:nvSpPr>
        <p:spPr>
          <a:xfrm>
            <a:off x="7177445" y="2127230"/>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1</a:t>
            </a:r>
            <a:endParaRPr lang="en-US" sz="2150" dirty="0">
              <a:latin typeface="Nunito Sans" pitchFamily="2" charset="0"/>
            </a:endParaRPr>
          </a:p>
        </p:txBody>
      </p:sp>
      <p:sp>
        <p:nvSpPr>
          <p:cNvPr id="8" name="Text 6"/>
          <p:cNvSpPr/>
          <p:nvPr/>
        </p:nvSpPr>
        <p:spPr>
          <a:xfrm>
            <a:off x="3966924" y="2155865"/>
            <a:ext cx="2429589" cy="28706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AbdElaziz et al. (2023)</a:t>
            </a:r>
            <a:endParaRPr lang="en-US" sz="1800" dirty="0">
              <a:latin typeface="Nunito Sans" pitchFamily="2" charset="0"/>
            </a:endParaRPr>
          </a:p>
        </p:txBody>
      </p:sp>
      <p:sp>
        <p:nvSpPr>
          <p:cNvPr id="9" name="Text 7"/>
          <p:cNvSpPr/>
          <p:nvPr/>
        </p:nvSpPr>
        <p:spPr>
          <a:xfrm>
            <a:off x="643057" y="2553057"/>
            <a:ext cx="5753457" cy="587693"/>
          </a:xfrm>
          <a:prstGeom prst="rect">
            <a:avLst/>
          </a:prstGeom>
          <a:noFill/>
          <a:ln/>
        </p:spPr>
        <p:txBody>
          <a:bodyPr wrap="square" lIns="0" tIns="0" rIns="0" bIns="0" rtlCol="0" anchor="t"/>
          <a:lstStyle/>
          <a:p>
            <a:pPr marL="0" indent="0" algn="r">
              <a:lnSpc>
                <a:spcPts val="2300"/>
              </a:lnSpc>
              <a:buNone/>
            </a:pPr>
            <a:r>
              <a:rPr lang="en-US" sz="1400" dirty="0">
                <a:solidFill>
                  <a:srgbClr val="272525"/>
                </a:solidFill>
                <a:latin typeface="Nunito Sans" pitchFamily="2" charset="0"/>
                <a:ea typeface="Nunito" pitchFamily="34" charset="-122"/>
                <a:cs typeface="Nunito" pitchFamily="34" charset="-120"/>
              </a:rPr>
              <a:t>CNN with parallel asymmetric kernels achieved 96.5% accuracy at 0 dB and 86.1% at −2 dB across nine modulations. [15]</a:t>
            </a:r>
            <a:endParaRPr lang="en-US" sz="1400" dirty="0">
              <a:latin typeface="Nunito Sans" pitchFamily="2" charset="0"/>
            </a:endParaRPr>
          </a:p>
        </p:txBody>
      </p:sp>
      <p:sp>
        <p:nvSpPr>
          <p:cNvPr id="10" name="Shape 8"/>
          <p:cNvSpPr/>
          <p:nvPr/>
        </p:nvSpPr>
        <p:spPr>
          <a:xfrm>
            <a:off x="7499033" y="3459004"/>
            <a:ext cx="551140" cy="22860"/>
          </a:xfrm>
          <a:prstGeom prst="roundRect">
            <a:avLst>
              <a:gd name="adj" fmla="val 723400"/>
            </a:avLst>
          </a:prstGeom>
          <a:solidFill>
            <a:srgbClr val="5BB3AB"/>
          </a:solidFill>
          <a:ln/>
        </p:spPr>
        <p:txBody>
          <a:bodyPr/>
          <a:lstStyle/>
          <a:p>
            <a:endParaRPr lang="en-US">
              <a:latin typeface="Nunito Sans" pitchFamily="2" charset="0"/>
            </a:endParaRPr>
          </a:p>
        </p:txBody>
      </p:sp>
      <p:sp>
        <p:nvSpPr>
          <p:cNvPr id="11" name="Shape 9"/>
          <p:cNvSpPr/>
          <p:nvPr/>
        </p:nvSpPr>
        <p:spPr>
          <a:xfrm>
            <a:off x="7108508" y="3263741"/>
            <a:ext cx="413385" cy="413385"/>
          </a:xfrm>
          <a:prstGeom prst="roundRect">
            <a:avLst>
              <a:gd name="adj" fmla="val 40004"/>
            </a:avLst>
          </a:prstGeom>
          <a:solidFill>
            <a:srgbClr val="429A92"/>
          </a:solidFill>
          <a:ln w="7620">
            <a:solidFill>
              <a:srgbClr val="5BB3AB"/>
            </a:solidFill>
            <a:prstDash val="solid"/>
          </a:ln>
        </p:spPr>
        <p:txBody>
          <a:bodyPr/>
          <a:lstStyle/>
          <a:p>
            <a:endParaRPr lang="en-US">
              <a:latin typeface="Nunito Sans" pitchFamily="2" charset="0"/>
            </a:endParaRPr>
          </a:p>
        </p:txBody>
      </p:sp>
      <p:sp>
        <p:nvSpPr>
          <p:cNvPr id="12" name="Text 10"/>
          <p:cNvSpPr/>
          <p:nvPr/>
        </p:nvSpPr>
        <p:spPr>
          <a:xfrm>
            <a:off x="7177445" y="3298210"/>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FFFFFF"/>
                </a:solidFill>
                <a:latin typeface="Nunito Sans" pitchFamily="2" charset="0"/>
                <a:ea typeface="Nunito Sans Bold" pitchFamily="34" charset="-122"/>
                <a:cs typeface="Nunito Sans Bold" pitchFamily="34" charset="-120"/>
              </a:rPr>
              <a:t>2</a:t>
            </a:r>
            <a:endParaRPr lang="en-US" sz="2150" dirty="0">
              <a:latin typeface="Nunito Sans" pitchFamily="2" charset="0"/>
            </a:endParaRPr>
          </a:p>
        </p:txBody>
      </p:sp>
      <p:sp>
        <p:nvSpPr>
          <p:cNvPr id="13" name="Text 11"/>
          <p:cNvSpPr/>
          <p:nvPr/>
        </p:nvSpPr>
        <p:spPr>
          <a:xfrm>
            <a:off x="8233886" y="3326844"/>
            <a:ext cx="2296716" cy="28706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Zhang et al. (2023)</a:t>
            </a:r>
            <a:endParaRPr lang="en-US" sz="1800" dirty="0">
              <a:latin typeface="Nunito Sans" pitchFamily="2" charset="0"/>
            </a:endParaRPr>
          </a:p>
        </p:txBody>
      </p:sp>
      <p:sp>
        <p:nvSpPr>
          <p:cNvPr id="14" name="Text 12"/>
          <p:cNvSpPr/>
          <p:nvPr/>
        </p:nvSpPr>
        <p:spPr>
          <a:xfrm>
            <a:off x="8233886" y="3724037"/>
            <a:ext cx="5753457" cy="881539"/>
          </a:xfrm>
          <a:prstGeom prst="rect">
            <a:avLst/>
          </a:prstGeom>
          <a:noFill/>
          <a:ln/>
        </p:spPr>
        <p:txBody>
          <a:bodyPr wrap="square" lIns="0" tIns="0" rIns="0" bIns="0" rtlCol="0" anchor="t"/>
          <a:lstStyle/>
          <a:p>
            <a:pPr marL="0" indent="0" algn="l">
              <a:lnSpc>
                <a:spcPts val="2300"/>
              </a:lnSpc>
              <a:buNone/>
            </a:pPr>
            <a:r>
              <a:rPr lang="en-US" sz="1400" dirty="0" err="1">
                <a:solidFill>
                  <a:srgbClr val="272525"/>
                </a:solidFill>
                <a:latin typeface="Nunito Sans" pitchFamily="2" charset="0"/>
                <a:ea typeface="Nunito" pitchFamily="34" charset="-122"/>
                <a:cs typeface="Nunito" pitchFamily="34" charset="-120"/>
              </a:rPr>
              <a:t>MoE</a:t>
            </a:r>
            <a:r>
              <a:rPr lang="en-US" sz="1400" dirty="0">
                <a:solidFill>
                  <a:srgbClr val="272525"/>
                </a:solidFill>
                <a:latin typeface="Nunito Sans" pitchFamily="2" charset="0"/>
                <a:ea typeface="Nunito" pitchFamily="34" charset="-122"/>
                <a:cs typeface="Nunito" pitchFamily="34" charset="-120"/>
              </a:rPr>
              <a:t>-AMC mixture-of-experts framework yielded ~71.8% averaged accuracy across −20…18 </a:t>
            </a:r>
            <a:r>
              <a:rPr lang="en-US" sz="1400" dirty="0" err="1">
                <a:solidFill>
                  <a:srgbClr val="272525"/>
                </a:solidFill>
                <a:latin typeface="Nunito Sans" pitchFamily="2" charset="0"/>
                <a:ea typeface="Nunito" pitchFamily="34" charset="-122"/>
                <a:cs typeface="Nunito" pitchFamily="34" charset="-120"/>
              </a:rPr>
              <a:t>dB.</a:t>
            </a:r>
            <a:r>
              <a:rPr lang="en-US" sz="1400" dirty="0">
                <a:solidFill>
                  <a:srgbClr val="272525"/>
                </a:solidFill>
                <a:latin typeface="Nunito Sans" pitchFamily="2" charset="0"/>
                <a:ea typeface="Nunito" pitchFamily="34" charset="-122"/>
                <a:cs typeface="Nunito" pitchFamily="34" charset="-120"/>
              </a:rPr>
              <a:t> [16]</a:t>
            </a:r>
            <a:endParaRPr lang="en-US" sz="1400" dirty="0">
              <a:latin typeface="Nunito Sans" pitchFamily="2" charset="0"/>
            </a:endParaRPr>
          </a:p>
        </p:txBody>
      </p:sp>
      <p:sp>
        <p:nvSpPr>
          <p:cNvPr id="15" name="Shape 13"/>
          <p:cNvSpPr/>
          <p:nvPr/>
        </p:nvSpPr>
        <p:spPr>
          <a:xfrm>
            <a:off x="6580227" y="5049322"/>
            <a:ext cx="551140" cy="22860"/>
          </a:xfrm>
          <a:prstGeom prst="roundRect">
            <a:avLst>
              <a:gd name="adj" fmla="val 723400"/>
            </a:avLst>
          </a:prstGeom>
          <a:solidFill>
            <a:srgbClr val="8AD2DF"/>
          </a:solidFill>
          <a:ln/>
        </p:spPr>
        <p:txBody>
          <a:bodyPr/>
          <a:lstStyle/>
          <a:p>
            <a:endParaRPr lang="en-US">
              <a:latin typeface="Nunito Sans" pitchFamily="2" charset="0"/>
            </a:endParaRPr>
          </a:p>
        </p:txBody>
      </p:sp>
      <p:sp>
        <p:nvSpPr>
          <p:cNvPr id="16" name="Shape 14"/>
          <p:cNvSpPr/>
          <p:nvPr/>
        </p:nvSpPr>
        <p:spPr>
          <a:xfrm>
            <a:off x="7108508" y="4854059"/>
            <a:ext cx="413385" cy="413385"/>
          </a:xfrm>
          <a:prstGeom prst="roundRect">
            <a:avLst>
              <a:gd name="adj" fmla="val 40004"/>
            </a:avLst>
          </a:prstGeom>
          <a:solidFill>
            <a:srgbClr val="A4ECF9"/>
          </a:solidFill>
          <a:ln w="7620">
            <a:solidFill>
              <a:srgbClr val="8AD2DF"/>
            </a:solidFill>
            <a:prstDash val="solid"/>
          </a:ln>
        </p:spPr>
        <p:txBody>
          <a:bodyPr/>
          <a:lstStyle/>
          <a:p>
            <a:endParaRPr lang="en-US">
              <a:latin typeface="Nunito Sans" pitchFamily="2" charset="0"/>
            </a:endParaRPr>
          </a:p>
        </p:txBody>
      </p:sp>
      <p:sp>
        <p:nvSpPr>
          <p:cNvPr id="17" name="Text 15"/>
          <p:cNvSpPr/>
          <p:nvPr/>
        </p:nvSpPr>
        <p:spPr>
          <a:xfrm>
            <a:off x="7177445" y="4888528"/>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3</a:t>
            </a:r>
            <a:endParaRPr lang="en-US" sz="2150" dirty="0">
              <a:latin typeface="Nunito Sans" pitchFamily="2" charset="0"/>
            </a:endParaRPr>
          </a:p>
        </p:txBody>
      </p:sp>
      <p:sp>
        <p:nvSpPr>
          <p:cNvPr id="18" name="Text 16"/>
          <p:cNvSpPr/>
          <p:nvPr/>
        </p:nvSpPr>
        <p:spPr>
          <a:xfrm>
            <a:off x="3689866" y="4917162"/>
            <a:ext cx="2706648" cy="28706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Meta-Transformer (2024)</a:t>
            </a:r>
            <a:endParaRPr lang="en-US" sz="1800" dirty="0">
              <a:latin typeface="Nunito Sans" pitchFamily="2" charset="0"/>
            </a:endParaRPr>
          </a:p>
        </p:txBody>
      </p:sp>
      <p:sp>
        <p:nvSpPr>
          <p:cNvPr id="19" name="Text 17"/>
          <p:cNvSpPr/>
          <p:nvPr/>
        </p:nvSpPr>
        <p:spPr>
          <a:xfrm>
            <a:off x="643057" y="5314355"/>
            <a:ext cx="5753457" cy="587693"/>
          </a:xfrm>
          <a:prstGeom prst="rect">
            <a:avLst/>
          </a:prstGeom>
          <a:noFill/>
          <a:ln/>
        </p:spPr>
        <p:txBody>
          <a:bodyPr wrap="square" lIns="0" tIns="0" rIns="0" bIns="0" rtlCol="0" anchor="t"/>
          <a:lstStyle/>
          <a:p>
            <a:pPr marL="0" indent="0" algn="r">
              <a:lnSpc>
                <a:spcPts val="2300"/>
              </a:lnSpc>
              <a:buNone/>
            </a:pPr>
            <a:r>
              <a:rPr lang="en-US" sz="1400" dirty="0">
                <a:solidFill>
                  <a:srgbClr val="272525"/>
                </a:solidFill>
                <a:latin typeface="Nunito Sans" pitchFamily="2" charset="0"/>
                <a:ea typeface="Nunito" pitchFamily="34" charset="-122"/>
                <a:cs typeface="Nunito" pitchFamily="34" charset="-120"/>
              </a:rPr>
              <a:t>Leverages transformer encoders and few-shot learning to adapt rapidly to unseen modulations while maintaining superior accuracy. [30]</a:t>
            </a:r>
            <a:endParaRPr lang="en-US" sz="1400" dirty="0">
              <a:latin typeface="Nunito Sans" pitchFamily="2" charset="0"/>
            </a:endParaRPr>
          </a:p>
        </p:txBody>
      </p:sp>
      <p:sp>
        <p:nvSpPr>
          <p:cNvPr id="20" name="Shape 18"/>
          <p:cNvSpPr/>
          <p:nvPr/>
        </p:nvSpPr>
        <p:spPr>
          <a:xfrm>
            <a:off x="7499033" y="6559629"/>
            <a:ext cx="551140" cy="22860"/>
          </a:xfrm>
          <a:prstGeom prst="roundRect">
            <a:avLst>
              <a:gd name="adj" fmla="val 723400"/>
            </a:avLst>
          </a:prstGeom>
          <a:solidFill>
            <a:srgbClr val="DF8D8D"/>
          </a:solidFill>
          <a:ln/>
        </p:spPr>
        <p:txBody>
          <a:bodyPr/>
          <a:lstStyle/>
          <a:p>
            <a:endParaRPr lang="en-US">
              <a:latin typeface="Nunito Sans" pitchFamily="2" charset="0"/>
            </a:endParaRPr>
          </a:p>
        </p:txBody>
      </p:sp>
      <p:sp>
        <p:nvSpPr>
          <p:cNvPr id="21" name="Shape 19"/>
          <p:cNvSpPr/>
          <p:nvPr/>
        </p:nvSpPr>
        <p:spPr>
          <a:xfrm>
            <a:off x="7108508" y="6364367"/>
            <a:ext cx="413385" cy="413385"/>
          </a:xfrm>
          <a:prstGeom prst="roundRect">
            <a:avLst>
              <a:gd name="adj" fmla="val 40004"/>
            </a:avLst>
          </a:prstGeom>
          <a:solidFill>
            <a:srgbClr val="F9A7A7"/>
          </a:solidFill>
          <a:ln w="7620">
            <a:solidFill>
              <a:srgbClr val="DF8D8D"/>
            </a:solidFill>
            <a:prstDash val="solid"/>
          </a:ln>
        </p:spPr>
        <p:txBody>
          <a:bodyPr/>
          <a:lstStyle/>
          <a:p>
            <a:endParaRPr lang="en-US">
              <a:latin typeface="Nunito Sans" pitchFamily="2" charset="0"/>
            </a:endParaRPr>
          </a:p>
        </p:txBody>
      </p:sp>
      <p:sp>
        <p:nvSpPr>
          <p:cNvPr id="22" name="Text 20"/>
          <p:cNvSpPr/>
          <p:nvPr/>
        </p:nvSpPr>
        <p:spPr>
          <a:xfrm>
            <a:off x="7177445" y="6398835"/>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4</a:t>
            </a:r>
            <a:endParaRPr lang="en-US" sz="2150" dirty="0">
              <a:latin typeface="Nunito Sans" pitchFamily="2" charset="0"/>
            </a:endParaRPr>
          </a:p>
        </p:txBody>
      </p:sp>
      <p:sp>
        <p:nvSpPr>
          <p:cNvPr id="23" name="Text 21"/>
          <p:cNvSpPr/>
          <p:nvPr/>
        </p:nvSpPr>
        <p:spPr>
          <a:xfrm>
            <a:off x="8233886" y="6427470"/>
            <a:ext cx="2296716" cy="28706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Rehman et al. (2025)</a:t>
            </a:r>
            <a:endParaRPr lang="en-US" sz="1800" dirty="0">
              <a:latin typeface="Nunito Sans" pitchFamily="2" charset="0"/>
            </a:endParaRPr>
          </a:p>
        </p:txBody>
      </p:sp>
      <p:sp>
        <p:nvSpPr>
          <p:cNvPr id="24" name="Text 22"/>
          <p:cNvSpPr/>
          <p:nvPr/>
        </p:nvSpPr>
        <p:spPr>
          <a:xfrm>
            <a:off x="8233886" y="6824663"/>
            <a:ext cx="5753457" cy="58769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DL AMC converts I/Q streams into eye diagrams, overcoming the 10–48% accuracy ceiling near −10 dB SNR.</a:t>
            </a:r>
            <a:endParaRPr lang="en-US" sz="1400" dirty="0">
              <a:latin typeface="Nunito Sans" pitchFamily="2" charset="0"/>
            </a:endParaRPr>
          </a:p>
        </p:txBody>
      </p:sp>
    </p:spTree>
    <p:extLst>
      <p:ext uri="{BB962C8B-B14F-4D97-AF65-F5344CB8AC3E}">
        <p14:creationId xmlns:p14="http://schemas.microsoft.com/office/powerpoint/2010/main" val="3326637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47180"/>
            <a:ext cx="12894826"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Denoising Autoencoders for Signal Enhancement</a:t>
            </a:r>
            <a:endParaRPr lang="en-US" sz="4450" dirty="0">
              <a:latin typeface="Nunito Sans" pitchFamily="2" charset="0"/>
            </a:endParaRPr>
          </a:p>
        </p:txBody>
      </p:sp>
      <p:sp>
        <p:nvSpPr>
          <p:cNvPr id="3" name="Text 1"/>
          <p:cNvSpPr/>
          <p:nvPr/>
        </p:nvSpPr>
        <p:spPr>
          <a:xfrm>
            <a:off x="793790" y="229612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Denoising frontends have emerged as an effective countermeasure when raw I/Q features are overwhelmed by interference.</a:t>
            </a:r>
            <a:endParaRPr lang="en-US" sz="1750" dirty="0">
              <a:latin typeface="Nunito Sans" pitchFamily="2" charset="0"/>
            </a:endParaRPr>
          </a:p>
        </p:txBody>
      </p:sp>
      <p:sp>
        <p:nvSpPr>
          <p:cNvPr id="4" name="Text 2"/>
          <p:cNvSpPr/>
          <p:nvPr/>
        </p:nvSpPr>
        <p:spPr>
          <a:xfrm>
            <a:off x="793790"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75%</a:t>
            </a:r>
            <a:endParaRPr lang="en-US" sz="5850" dirty="0">
              <a:latin typeface="Nunito Sans" pitchFamily="2" charset="0"/>
            </a:endParaRPr>
          </a:p>
        </p:txBody>
      </p:sp>
      <p:sp>
        <p:nvSpPr>
          <p:cNvPr id="5" name="Text 3"/>
          <p:cNvSpPr/>
          <p:nvPr/>
        </p:nvSpPr>
        <p:spPr>
          <a:xfrm>
            <a:off x="1455420" y="4059317"/>
            <a:ext cx="2835235" cy="354330"/>
          </a:xfrm>
          <a:prstGeom prst="rect">
            <a:avLst/>
          </a:prstGeom>
          <a:noFill/>
          <a:ln/>
        </p:spPr>
        <p:txBody>
          <a:bodyPr wrap="none" lIns="0" tIns="0" rIns="0" bIns="0" rtlCol="0" anchor="t"/>
          <a:lstStyle/>
          <a:p>
            <a:pPr marL="0" indent="0" algn="ctr">
              <a:lnSpc>
                <a:spcPts val="2750"/>
              </a:lnSpc>
              <a:buNone/>
            </a:pPr>
            <a:r>
              <a:rPr lang="en-US" b="1" dirty="0">
                <a:solidFill>
                  <a:srgbClr val="272525"/>
                </a:solidFill>
                <a:latin typeface="Nunito Sans" pitchFamily="2" charset="0"/>
                <a:ea typeface="Nunito Sans Bold" pitchFamily="34" charset="-122"/>
                <a:cs typeface="Nunito Sans Bold" pitchFamily="34" charset="-120"/>
              </a:rPr>
              <a:t>Classification accuracy across −12…8 dB .</a:t>
            </a:r>
            <a:endParaRPr lang="en-US" dirty="0">
              <a:latin typeface="Nunito Sans" pitchFamily="2" charset="0"/>
            </a:endParaRPr>
          </a:p>
        </p:txBody>
      </p:sp>
      <p:sp>
        <p:nvSpPr>
          <p:cNvPr id="6" name="Text 4"/>
          <p:cNvSpPr/>
          <p:nvPr/>
        </p:nvSpPr>
        <p:spPr>
          <a:xfrm>
            <a:off x="793790" y="4549735"/>
            <a:ext cx="4158615" cy="1088708"/>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Dual residual DAE with channel attention improved AMC accuracy by up to 75% across −12…8 dB SNR. [8]</a:t>
            </a:r>
            <a:endParaRPr lang="en-US" sz="1750" dirty="0">
              <a:latin typeface="Nunito Sans" pitchFamily="2" charset="0"/>
            </a:endParaRPr>
          </a:p>
        </p:txBody>
      </p:sp>
      <p:sp>
        <p:nvSpPr>
          <p:cNvPr id="7" name="Text 5"/>
          <p:cNvSpPr/>
          <p:nvPr/>
        </p:nvSpPr>
        <p:spPr>
          <a:xfrm>
            <a:off x="5235893"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77.5%</a:t>
            </a:r>
            <a:endParaRPr lang="en-US" sz="5850" dirty="0">
              <a:latin typeface="Nunito Sans" pitchFamily="2" charset="0"/>
            </a:endParaRPr>
          </a:p>
        </p:txBody>
      </p:sp>
      <p:sp>
        <p:nvSpPr>
          <p:cNvPr id="8" name="Text 6"/>
          <p:cNvSpPr/>
          <p:nvPr/>
        </p:nvSpPr>
        <p:spPr>
          <a:xfrm>
            <a:off x="5897523" y="4059317"/>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accuracy at −10 dB</a:t>
            </a:r>
            <a:endParaRPr lang="en-US" sz="2200" dirty="0">
              <a:latin typeface="Nunito Sans" pitchFamily="2" charset="0"/>
            </a:endParaRPr>
          </a:p>
        </p:txBody>
      </p:sp>
      <p:sp>
        <p:nvSpPr>
          <p:cNvPr id="9" name="Text 7"/>
          <p:cNvSpPr/>
          <p:nvPr/>
        </p:nvSpPr>
        <p:spPr>
          <a:xfrm>
            <a:off x="5235893" y="4549735"/>
            <a:ext cx="4158615" cy="1451610"/>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Faysal et al.'s multimodal denoising masked autoencoder sustained `77.5%` accuracy at `-10 dB`, roughly `22%` higher than the non-denoised case. [28]</a:t>
            </a:r>
            <a:endParaRPr lang="en-US" sz="1750" dirty="0">
              <a:latin typeface="Nunito Sans" pitchFamily="2" charset="0"/>
            </a:endParaRPr>
          </a:p>
        </p:txBody>
      </p:sp>
      <p:sp>
        <p:nvSpPr>
          <p:cNvPr id="10" name="Text 8"/>
          <p:cNvSpPr/>
          <p:nvPr/>
        </p:nvSpPr>
        <p:spPr>
          <a:xfrm>
            <a:off x="9677995"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70%</a:t>
            </a:r>
            <a:endParaRPr lang="en-US" sz="5850" dirty="0">
              <a:latin typeface="Nunito Sans" pitchFamily="2" charset="0"/>
            </a:endParaRPr>
          </a:p>
        </p:txBody>
      </p:sp>
      <p:sp>
        <p:nvSpPr>
          <p:cNvPr id="11" name="Text 9"/>
          <p:cNvSpPr/>
          <p:nvPr/>
        </p:nvSpPr>
        <p:spPr>
          <a:xfrm>
            <a:off x="10339626" y="4059317"/>
            <a:ext cx="2835235" cy="354330"/>
          </a:xfrm>
          <a:prstGeom prst="rect">
            <a:avLst/>
          </a:prstGeom>
          <a:noFill/>
          <a:ln/>
        </p:spPr>
        <p:txBody>
          <a:bodyPr wrap="none" lIns="0" tIns="0" rIns="0" bIns="0" rtlCol="0" anchor="t"/>
          <a:lstStyle/>
          <a:p>
            <a:pPr marL="0" indent="0" algn="ctr">
              <a:lnSpc>
                <a:spcPts val="2750"/>
              </a:lnSpc>
              <a:buNone/>
            </a:pPr>
            <a:r>
              <a:rPr lang="en-US" b="1" dirty="0">
                <a:solidFill>
                  <a:srgbClr val="272525"/>
                </a:solidFill>
                <a:latin typeface="Nunito Sans" pitchFamily="2" charset="0"/>
                <a:ea typeface="Nunito Sans Bold" pitchFamily="34" charset="-122"/>
                <a:cs typeface="Nunito Sans Bold" pitchFamily="34" charset="-120"/>
              </a:rPr>
              <a:t>relative accuracy gains on low-SNR samples.</a:t>
            </a:r>
            <a:endParaRPr lang="en-US" dirty="0">
              <a:latin typeface="Nunito Sans" pitchFamily="2" charset="0"/>
            </a:endParaRPr>
          </a:p>
        </p:txBody>
      </p:sp>
      <p:sp>
        <p:nvSpPr>
          <p:cNvPr id="12" name="Text 10"/>
          <p:cNvSpPr/>
          <p:nvPr/>
        </p:nvSpPr>
        <p:spPr>
          <a:xfrm>
            <a:off x="9677995" y="4549735"/>
            <a:ext cx="4158615" cy="1451610"/>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An and Lee's </a:t>
            </a:r>
            <a:r>
              <a:rPr lang="en-US" sz="1750" dirty="0" err="1">
                <a:solidFill>
                  <a:srgbClr val="272525"/>
                </a:solidFill>
                <a:latin typeface="Nunito Sans" pitchFamily="2" charset="0"/>
                <a:ea typeface="Nunito" pitchFamily="34" charset="-122"/>
                <a:cs typeface="Nunito" pitchFamily="34" charset="-120"/>
              </a:rPr>
              <a:t>thresholded</a:t>
            </a:r>
            <a:r>
              <a:rPr lang="en-US" sz="1750" dirty="0">
                <a:solidFill>
                  <a:srgbClr val="272525"/>
                </a:solidFill>
                <a:latin typeface="Nunito Sans" pitchFamily="2" charset="0"/>
                <a:ea typeface="Nunito" pitchFamily="34" charset="-122"/>
                <a:cs typeface="Nunito" pitchFamily="34" charset="-120"/>
              </a:rPr>
              <a:t> autoencoder with an SNR predictor delivered about `70%` relative accuracy gains on low-SNR samples. [29]</a:t>
            </a:r>
          </a:p>
        </p:txBody>
      </p:sp>
      <p:sp>
        <p:nvSpPr>
          <p:cNvPr id="13" name="Text 11"/>
          <p:cNvSpPr/>
          <p:nvPr/>
        </p:nvSpPr>
        <p:spPr>
          <a:xfrm>
            <a:off x="793790" y="6599396"/>
            <a:ext cx="13042821" cy="725805"/>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These findings justify the DAE-AMC architecture explored in this project and provide design cues for gating strategies that conserve energy on SDR deployments. [8][26][28][29]</a:t>
            </a:r>
            <a:endParaRPr lang="en-US" sz="1750" dirty="0">
              <a:latin typeface="Nunito Sans" pitchFamily="2" charset="0"/>
            </a:endParaRPr>
          </a:p>
        </p:txBody>
      </p:sp>
    </p:spTree>
    <p:extLst>
      <p:ext uri="{BB962C8B-B14F-4D97-AF65-F5344CB8AC3E}">
        <p14:creationId xmlns:p14="http://schemas.microsoft.com/office/powerpoint/2010/main" val="3116968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76920"/>
          </a:xfrm>
          <a:prstGeom prst="rect">
            <a:avLst/>
          </a:prstGeom>
        </p:spPr>
      </p:pic>
      <p:sp>
        <p:nvSpPr>
          <p:cNvPr id="3" name="Text 0"/>
          <p:cNvSpPr/>
          <p:nvPr/>
        </p:nvSpPr>
        <p:spPr>
          <a:xfrm>
            <a:off x="793790" y="3581757"/>
            <a:ext cx="13042821" cy="2835354"/>
          </a:xfrm>
          <a:prstGeom prst="rect">
            <a:avLst/>
          </a:prstGeom>
          <a:noFill/>
          <a:ln/>
        </p:spPr>
        <p:txBody>
          <a:bodyPr wrap="square" lIns="0" tIns="0" rIns="0" bIns="0" rtlCol="0" anchor="t"/>
          <a:lstStyle/>
          <a:p>
            <a:pPr marL="0" indent="0" algn="l">
              <a:lnSpc>
                <a:spcPts val="11150"/>
              </a:lnSpc>
              <a:buNone/>
            </a:pPr>
            <a:r>
              <a:rPr lang="en-US" sz="8900" b="1" dirty="0">
                <a:solidFill>
                  <a:srgbClr val="006A60"/>
                </a:solidFill>
                <a:latin typeface="Nunito Sans" pitchFamily="2" charset="0"/>
                <a:ea typeface="Nunito Sans Bold" pitchFamily="34" charset="-122"/>
                <a:cs typeface="Nunito Sans Bold" pitchFamily="34" charset="-120"/>
              </a:rPr>
              <a:t>CHAPTER THREE – METHODOLOGY</a:t>
            </a:r>
            <a:endParaRPr lang="en-US" sz="8900" dirty="0">
              <a:latin typeface="Nunito Sans" pitchFamily="2" charset="0"/>
            </a:endParaRPr>
          </a:p>
        </p:txBody>
      </p:sp>
      <p:sp>
        <p:nvSpPr>
          <p:cNvPr id="4" name="Text 1"/>
          <p:cNvSpPr/>
          <p:nvPr/>
        </p:nvSpPr>
        <p:spPr>
          <a:xfrm>
            <a:off x="793790" y="675727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A comprehensive framework for developing robust Automatic Modulation Classification systems tailored to challenging RF environments through deep learning and denoising techniques.</a:t>
            </a:r>
            <a:endParaRPr lang="en-US" sz="1750" dirty="0">
              <a:latin typeface="Nunito Sans" pitchFamily="2" charset="0"/>
            </a:endParaRPr>
          </a:p>
        </p:txBody>
      </p:sp>
    </p:spTree>
    <p:extLst>
      <p:ext uri="{BB962C8B-B14F-4D97-AF65-F5344CB8AC3E}">
        <p14:creationId xmlns:p14="http://schemas.microsoft.com/office/powerpoint/2010/main" val="1983814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08CFF-4820-D82D-6630-A00CBA9A0D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29D859C-69AA-32AE-1BBB-F51A9671A423}"/>
              </a:ext>
            </a:extLst>
          </p:cNvPr>
          <p:cNvSpPr/>
          <p:nvPr/>
        </p:nvSpPr>
        <p:spPr>
          <a:xfrm>
            <a:off x="793790" y="651153"/>
            <a:ext cx="6349603"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Introduction to Methods</a:t>
            </a:r>
            <a:endParaRPr lang="en-US" sz="4450" dirty="0">
              <a:latin typeface="Nunito Sans" pitchFamily="2" charset="0"/>
            </a:endParaRPr>
          </a:p>
        </p:txBody>
      </p:sp>
      <p:sp>
        <p:nvSpPr>
          <p:cNvPr id="3" name="Text 1">
            <a:extLst>
              <a:ext uri="{FF2B5EF4-FFF2-40B4-BE49-F238E27FC236}">
                <a16:creationId xmlns:a16="http://schemas.microsoft.com/office/drawing/2014/main" id="{5A759BC4-5ACD-A471-2294-BA162C32F6E3}"/>
              </a:ext>
            </a:extLst>
          </p:cNvPr>
          <p:cNvSpPr/>
          <p:nvPr/>
        </p:nvSpPr>
        <p:spPr>
          <a:xfrm>
            <a:off x="793790" y="1487979"/>
            <a:ext cx="13042821" cy="725805"/>
          </a:xfrm>
          <a:prstGeom prst="rect">
            <a:avLst/>
          </a:prstGeom>
          <a:noFill/>
          <a:ln/>
        </p:spPr>
        <p:txBody>
          <a:bodyPr wrap="square" lIns="0" tIns="0" rIns="0" bIns="0" rtlCol="0" anchor="t"/>
          <a:lstStyle/>
          <a:p>
            <a:pPr>
              <a:lnSpc>
                <a:spcPts val="2850"/>
              </a:lnSpc>
            </a:pPr>
            <a:r>
              <a:rPr lang="en-US" sz="1750" dirty="0">
                <a:solidFill>
                  <a:srgbClr val="272525"/>
                </a:solidFill>
                <a:latin typeface="Nunito Sans" pitchFamily="2" charset="0"/>
                <a:ea typeface="Nunito" pitchFamily="34" charset="-122"/>
                <a:cs typeface="Nunito" pitchFamily="34" charset="-120"/>
              </a:rPr>
              <a:t>We adopt an experimental research design anchored in reproducible data processing and quantitative benchmarking which is why our </a:t>
            </a:r>
            <a:r>
              <a:rPr lang="en-US" dirty="0"/>
              <a:t>methodology is organized into three linked parts: </a:t>
            </a:r>
            <a:r>
              <a:rPr lang="en-US" b="1" dirty="0"/>
              <a:t>design</a:t>
            </a:r>
            <a:r>
              <a:rPr lang="en-US" dirty="0"/>
              <a:t>, </a:t>
            </a:r>
            <a:r>
              <a:rPr lang="en-US" b="1" dirty="0"/>
              <a:t>implementation</a:t>
            </a:r>
            <a:r>
              <a:rPr lang="en-US" dirty="0"/>
              <a:t>, and </a:t>
            </a:r>
            <a:r>
              <a:rPr lang="en-US" b="1" dirty="0"/>
              <a:t>analysis</a:t>
            </a:r>
            <a:r>
              <a:rPr lang="en-US" dirty="0"/>
              <a:t>. [11][12][15][16][26]</a:t>
            </a:r>
          </a:p>
        </p:txBody>
      </p:sp>
      <p:sp>
        <p:nvSpPr>
          <p:cNvPr id="4" name="Text 2">
            <a:extLst>
              <a:ext uri="{FF2B5EF4-FFF2-40B4-BE49-F238E27FC236}">
                <a16:creationId xmlns:a16="http://schemas.microsoft.com/office/drawing/2014/main" id="{3629EEAB-DF0F-BCFC-C143-E7FD6B3DB4EC}"/>
              </a:ext>
            </a:extLst>
          </p:cNvPr>
          <p:cNvSpPr/>
          <p:nvPr/>
        </p:nvSpPr>
        <p:spPr>
          <a:xfrm>
            <a:off x="793790" y="2794516"/>
            <a:ext cx="226814" cy="283488"/>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Nunito Sans" pitchFamily="2" charset="0"/>
                <a:ea typeface="Nunito Sans Light" pitchFamily="34" charset="-122"/>
                <a:cs typeface="Nunito Sans Light" pitchFamily="34" charset="-120"/>
              </a:rPr>
              <a:t>01</a:t>
            </a:r>
            <a:endParaRPr lang="en-US" sz="2400" b="1" dirty="0">
              <a:latin typeface="Nunito Sans" pitchFamily="2" charset="0"/>
            </a:endParaRPr>
          </a:p>
        </p:txBody>
      </p:sp>
      <p:sp>
        <p:nvSpPr>
          <p:cNvPr id="5" name="Shape 3">
            <a:extLst>
              <a:ext uri="{FF2B5EF4-FFF2-40B4-BE49-F238E27FC236}">
                <a16:creationId xmlns:a16="http://schemas.microsoft.com/office/drawing/2014/main" id="{0F15080F-1D93-88E4-2086-42B93EC2EBD3}"/>
              </a:ext>
            </a:extLst>
          </p:cNvPr>
          <p:cNvSpPr/>
          <p:nvPr/>
        </p:nvSpPr>
        <p:spPr>
          <a:xfrm flipV="1">
            <a:off x="793790" y="3339360"/>
            <a:ext cx="4452104" cy="45719"/>
          </a:xfrm>
          <a:prstGeom prst="rect">
            <a:avLst/>
          </a:prstGeom>
          <a:solidFill>
            <a:srgbClr val="F1E79A"/>
          </a:solidFill>
          <a:ln/>
        </p:spPr>
        <p:txBody>
          <a:bodyPr/>
          <a:lstStyle/>
          <a:p>
            <a:endParaRPr lang="en-US">
              <a:latin typeface="Nunito Sans" pitchFamily="2" charset="0"/>
            </a:endParaRPr>
          </a:p>
        </p:txBody>
      </p:sp>
      <p:sp>
        <p:nvSpPr>
          <p:cNvPr id="6" name="Text 4">
            <a:extLst>
              <a:ext uri="{FF2B5EF4-FFF2-40B4-BE49-F238E27FC236}">
                <a16:creationId xmlns:a16="http://schemas.microsoft.com/office/drawing/2014/main" id="{0A2E3A40-B23B-1C0B-91B1-0608EF764476}"/>
              </a:ext>
            </a:extLst>
          </p:cNvPr>
          <p:cNvSpPr/>
          <p:nvPr/>
        </p:nvSpPr>
        <p:spPr>
          <a:xfrm>
            <a:off x="1320256" y="279046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DESIGN</a:t>
            </a:r>
            <a:endParaRPr lang="en-US" sz="2200" dirty="0">
              <a:latin typeface="Nunito Sans" pitchFamily="2" charset="0"/>
            </a:endParaRPr>
          </a:p>
        </p:txBody>
      </p:sp>
      <p:sp>
        <p:nvSpPr>
          <p:cNvPr id="7" name="Text 5">
            <a:extLst>
              <a:ext uri="{FF2B5EF4-FFF2-40B4-BE49-F238E27FC236}">
                <a16:creationId xmlns:a16="http://schemas.microsoft.com/office/drawing/2014/main" id="{4DCDD4F9-089E-3304-30E4-9D2E70AF82E5}"/>
              </a:ext>
            </a:extLst>
          </p:cNvPr>
          <p:cNvSpPr/>
          <p:nvPr/>
        </p:nvSpPr>
        <p:spPr>
          <a:xfrm>
            <a:off x="793790" y="3614909"/>
            <a:ext cx="11700164" cy="479398"/>
          </a:xfrm>
          <a:prstGeom prst="rect">
            <a:avLst/>
          </a:prstGeom>
          <a:noFill/>
          <a:ln/>
        </p:spPr>
        <p:txBody>
          <a:bodyPr wrap="square" lIns="0" tIns="0" rIns="0" bIns="0" rtlCol="0" anchor="t"/>
          <a:lstStyle/>
          <a:p>
            <a:r>
              <a:rPr lang="en-US" dirty="0"/>
              <a:t>This stage defines the full architecture and experiment setup before training begins.</a:t>
            </a:r>
          </a:p>
        </p:txBody>
      </p:sp>
      <p:pic>
        <p:nvPicPr>
          <p:cNvPr id="20" name="Image 0" descr="preencoded.png">
            <a:extLst>
              <a:ext uri="{FF2B5EF4-FFF2-40B4-BE49-F238E27FC236}">
                <a16:creationId xmlns:a16="http://schemas.microsoft.com/office/drawing/2014/main" id="{A536F034-A606-9FAB-6B07-48980AAC31E9}"/>
              </a:ext>
            </a:extLst>
          </p:cNvPr>
          <p:cNvPicPr>
            <a:picLocks noChangeAspect="1"/>
          </p:cNvPicPr>
          <p:nvPr/>
        </p:nvPicPr>
        <p:blipFill>
          <a:blip r:embed="rId3"/>
          <a:stretch>
            <a:fillRect/>
          </a:stretch>
        </p:blipFill>
        <p:spPr>
          <a:xfrm>
            <a:off x="833566" y="4225636"/>
            <a:ext cx="532652" cy="611468"/>
          </a:xfrm>
          <a:prstGeom prst="rect">
            <a:avLst/>
          </a:prstGeom>
        </p:spPr>
      </p:pic>
      <p:pic>
        <p:nvPicPr>
          <p:cNvPr id="21" name="Image 1" descr="preencoded.png">
            <a:extLst>
              <a:ext uri="{FF2B5EF4-FFF2-40B4-BE49-F238E27FC236}">
                <a16:creationId xmlns:a16="http://schemas.microsoft.com/office/drawing/2014/main" id="{6AA77387-A680-3376-5251-92ED7CCBF6CC}"/>
              </a:ext>
            </a:extLst>
          </p:cNvPr>
          <p:cNvPicPr>
            <a:picLocks noChangeAspect="1"/>
          </p:cNvPicPr>
          <p:nvPr/>
        </p:nvPicPr>
        <p:blipFill>
          <a:blip r:embed="rId4"/>
          <a:stretch>
            <a:fillRect/>
          </a:stretch>
        </p:blipFill>
        <p:spPr>
          <a:xfrm>
            <a:off x="833566" y="4982183"/>
            <a:ext cx="532652" cy="611468"/>
          </a:xfrm>
          <a:prstGeom prst="rect">
            <a:avLst/>
          </a:prstGeom>
        </p:spPr>
      </p:pic>
      <p:pic>
        <p:nvPicPr>
          <p:cNvPr id="22" name="Image 2" descr="preencoded.png">
            <a:extLst>
              <a:ext uri="{FF2B5EF4-FFF2-40B4-BE49-F238E27FC236}">
                <a16:creationId xmlns:a16="http://schemas.microsoft.com/office/drawing/2014/main" id="{91646097-C90E-C6CE-6F6C-81CD85BA0A38}"/>
              </a:ext>
            </a:extLst>
          </p:cNvPr>
          <p:cNvPicPr>
            <a:picLocks noChangeAspect="1"/>
          </p:cNvPicPr>
          <p:nvPr/>
        </p:nvPicPr>
        <p:blipFill>
          <a:blip r:embed="rId5"/>
          <a:stretch>
            <a:fillRect/>
          </a:stretch>
        </p:blipFill>
        <p:spPr>
          <a:xfrm>
            <a:off x="833566" y="5828782"/>
            <a:ext cx="532652" cy="611468"/>
          </a:xfrm>
          <a:prstGeom prst="rect">
            <a:avLst/>
          </a:prstGeom>
        </p:spPr>
      </p:pic>
      <p:sp>
        <p:nvSpPr>
          <p:cNvPr id="23" name="Text 5">
            <a:extLst>
              <a:ext uri="{FF2B5EF4-FFF2-40B4-BE49-F238E27FC236}">
                <a16:creationId xmlns:a16="http://schemas.microsoft.com/office/drawing/2014/main" id="{EDE7B1B6-F4BE-56BA-FA27-5D55133DE183}"/>
              </a:ext>
            </a:extLst>
          </p:cNvPr>
          <p:cNvSpPr/>
          <p:nvPr/>
        </p:nvSpPr>
        <p:spPr>
          <a:xfrm>
            <a:off x="1572491" y="4180051"/>
            <a:ext cx="12559145" cy="2260199"/>
          </a:xfrm>
          <a:prstGeom prst="rect">
            <a:avLst/>
          </a:prstGeom>
          <a:noFill/>
          <a:ln/>
        </p:spPr>
        <p:txBody>
          <a:bodyPr wrap="square" lIns="0" tIns="0" rIns="0" bIns="0" rtlCol="0" anchor="t"/>
          <a:lstStyle/>
          <a:p>
            <a:pPr>
              <a:lnSpc>
                <a:spcPct val="150000"/>
              </a:lnSpc>
            </a:pPr>
            <a:r>
              <a:rPr lang="en-US" sz="1600" dirty="0"/>
              <a:t>- Select the datasets to be used, primarily RF Signal Data and </a:t>
            </a:r>
            <a:r>
              <a:rPr lang="en-US" sz="1600" dirty="0" err="1"/>
              <a:t>RadioML</a:t>
            </a:r>
            <a:r>
              <a:rPr lang="en-US" sz="1600" dirty="0"/>
              <a:t> 2018.01A. [11][12]</a:t>
            </a:r>
          </a:p>
          <a:p>
            <a:pPr>
              <a:lnSpc>
                <a:spcPct val="150000"/>
              </a:lnSpc>
            </a:pPr>
            <a:r>
              <a:rPr lang="en-US" sz="1600" dirty="0"/>
              <a:t>- Harmonize all signals into a unified tensor format with `1024`-sample windows and normalized amplitude.</a:t>
            </a:r>
          </a:p>
          <a:p>
            <a:pPr>
              <a:lnSpc>
                <a:spcPct val="150000"/>
              </a:lnSpc>
            </a:pPr>
            <a:r>
              <a:rPr lang="en-US" sz="1600" dirty="0"/>
              <a:t>- Perform exploratory data analysis (EDA) to inspect class balance, SNR coverage, waveform quality, and impairment patterns before training. [11][12]</a:t>
            </a:r>
          </a:p>
          <a:p>
            <a:pPr>
              <a:lnSpc>
                <a:spcPct val="150000"/>
              </a:lnSpc>
            </a:pPr>
            <a:r>
              <a:rPr lang="en-US" sz="1600" dirty="0"/>
              <a:t>- Define the GSM-focused modulation classes: GMSK, GFSK, and QPSK.</a:t>
            </a:r>
          </a:p>
          <a:p>
            <a:pPr>
              <a:lnSpc>
                <a:spcPct val="150000"/>
              </a:lnSpc>
            </a:pPr>
            <a:r>
              <a:rPr lang="en-US" sz="1600" dirty="0"/>
              <a:t>- Model Uganda-specific interference using booster oscillation, </a:t>
            </a:r>
            <a:r>
              <a:rPr lang="en-US" sz="1600" dirty="0" err="1"/>
              <a:t>Bizindaalo</a:t>
            </a:r>
            <a:r>
              <a:rPr lang="en-US" sz="1600" dirty="0"/>
              <a:t> harmonics, and rain-fade attenuation. [7][23][24][25]</a:t>
            </a:r>
          </a:p>
          <a:p>
            <a:pPr>
              <a:lnSpc>
                <a:spcPct val="150000"/>
              </a:lnSpc>
            </a:pPr>
            <a:r>
              <a:rPr lang="en-US" sz="1600" dirty="0"/>
              <a:t>- Specify the system architecture showing how the denoising block feeds the modulation classifier.</a:t>
            </a:r>
          </a:p>
        </p:txBody>
      </p:sp>
      <p:sp>
        <p:nvSpPr>
          <p:cNvPr id="24" name="Text 5">
            <a:extLst>
              <a:ext uri="{FF2B5EF4-FFF2-40B4-BE49-F238E27FC236}">
                <a16:creationId xmlns:a16="http://schemas.microsoft.com/office/drawing/2014/main" id="{DA897972-5613-B64C-128F-B8F4E970EEE8}"/>
              </a:ext>
            </a:extLst>
          </p:cNvPr>
          <p:cNvSpPr/>
          <p:nvPr/>
        </p:nvSpPr>
        <p:spPr>
          <a:xfrm>
            <a:off x="817075" y="6933080"/>
            <a:ext cx="11584321" cy="479398"/>
          </a:xfrm>
          <a:prstGeom prst="rect">
            <a:avLst/>
          </a:prstGeom>
          <a:noFill/>
          <a:ln/>
        </p:spPr>
        <p:txBody>
          <a:bodyPr wrap="square" lIns="0" tIns="0" rIns="0" bIns="0" rtlCol="0" anchor="t"/>
          <a:lstStyle/>
          <a:p>
            <a:pPr>
              <a:lnSpc>
                <a:spcPct val="150000"/>
              </a:lnSpc>
            </a:pPr>
            <a:r>
              <a:rPr lang="en-US" b="1" dirty="0"/>
              <a:t>Expected outcome:</a:t>
            </a:r>
            <a:r>
              <a:rPr lang="en-US" dirty="0"/>
              <a:t> A complete project design package comprising the architecture diagram, dataset specification, low-SNR scenario definitions, and the experimental setup for the DAE-AMC pipeline.</a:t>
            </a:r>
          </a:p>
        </p:txBody>
      </p:sp>
    </p:spTree>
    <p:extLst>
      <p:ext uri="{BB962C8B-B14F-4D97-AF65-F5344CB8AC3E}">
        <p14:creationId xmlns:p14="http://schemas.microsoft.com/office/powerpoint/2010/main" val="2820845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6C910-17A0-4F7B-0EBD-C41574E362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852C771-B987-59E3-11A7-7D37CF24276F}"/>
              </a:ext>
            </a:extLst>
          </p:cNvPr>
          <p:cNvSpPr/>
          <p:nvPr/>
        </p:nvSpPr>
        <p:spPr>
          <a:xfrm>
            <a:off x="793790" y="651153"/>
            <a:ext cx="6349603"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Methodology</a:t>
            </a:r>
            <a:endParaRPr lang="en-US" sz="4450" dirty="0">
              <a:latin typeface="Nunito Sans" pitchFamily="2" charset="0"/>
            </a:endParaRPr>
          </a:p>
        </p:txBody>
      </p:sp>
      <p:sp>
        <p:nvSpPr>
          <p:cNvPr id="4" name="Text 2">
            <a:extLst>
              <a:ext uri="{FF2B5EF4-FFF2-40B4-BE49-F238E27FC236}">
                <a16:creationId xmlns:a16="http://schemas.microsoft.com/office/drawing/2014/main" id="{46BD74E1-4FC1-D0EA-0C49-3EBE9F633D0F}"/>
              </a:ext>
            </a:extLst>
          </p:cNvPr>
          <p:cNvSpPr/>
          <p:nvPr/>
        </p:nvSpPr>
        <p:spPr>
          <a:xfrm>
            <a:off x="793790" y="2039443"/>
            <a:ext cx="226814" cy="283488"/>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Nunito Sans" pitchFamily="2" charset="0"/>
                <a:ea typeface="Nunito Sans Light" pitchFamily="34" charset="-122"/>
                <a:cs typeface="Nunito Sans Light" pitchFamily="34" charset="-120"/>
              </a:rPr>
              <a:t>02</a:t>
            </a:r>
            <a:endParaRPr lang="en-US" sz="2400" b="1" dirty="0">
              <a:latin typeface="Nunito Sans" pitchFamily="2" charset="0"/>
            </a:endParaRPr>
          </a:p>
        </p:txBody>
      </p:sp>
      <p:sp>
        <p:nvSpPr>
          <p:cNvPr id="5" name="Shape 3">
            <a:extLst>
              <a:ext uri="{FF2B5EF4-FFF2-40B4-BE49-F238E27FC236}">
                <a16:creationId xmlns:a16="http://schemas.microsoft.com/office/drawing/2014/main" id="{8AF7EFF5-17BB-25ED-7559-7F8DAC0FD884}"/>
              </a:ext>
            </a:extLst>
          </p:cNvPr>
          <p:cNvSpPr/>
          <p:nvPr/>
        </p:nvSpPr>
        <p:spPr>
          <a:xfrm flipV="1">
            <a:off x="793790" y="2584287"/>
            <a:ext cx="4452104" cy="45719"/>
          </a:xfrm>
          <a:prstGeom prst="rect">
            <a:avLst/>
          </a:prstGeom>
          <a:solidFill>
            <a:srgbClr val="F1E79A"/>
          </a:solidFill>
          <a:ln/>
        </p:spPr>
        <p:txBody>
          <a:bodyPr/>
          <a:lstStyle/>
          <a:p>
            <a:endParaRPr lang="en-US">
              <a:latin typeface="Nunito Sans" pitchFamily="2" charset="0"/>
            </a:endParaRPr>
          </a:p>
        </p:txBody>
      </p:sp>
      <p:sp>
        <p:nvSpPr>
          <p:cNvPr id="6" name="Text 4">
            <a:extLst>
              <a:ext uri="{FF2B5EF4-FFF2-40B4-BE49-F238E27FC236}">
                <a16:creationId xmlns:a16="http://schemas.microsoft.com/office/drawing/2014/main" id="{CC975B10-AFCA-4828-4F8E-621E6CCBE40C}"/>
              </a:ext>
            </a:extLst>
          </p:cNvPr>
          <p:cNvSpPr/>
          <p:nvPr/>
        </p:nvSpPr>
        <p:spPr>
          <a:xfrm>
            <a:off x="1320256" y="203539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IMPLEMENTATION</a:t>
            </a:r>
            <a:endParaRPr lang="en-US" sz="2200" dirty="0">
              <a:latin typeface="Nunito Sans" pitchFamily="2" charset="0"/>
            </a:endParaRPr>
          </a:p>
        </p:txBody>
      </p:sp>
      <p:sp>
        <p:nvSpPr>
          <p:cNvPr id="7" name="Text 5">
            <a:extLst>
              <a:ext uri="{FF2B5EF4-FFF2-40B4-BE49-F238E27FC236}">
                <a16:creationId xmlns:a16="http://schemas.microsoft.com/office/drawing/2014/main" id="{5E267B91-E215-BE09-CD30-3A9534FD5C50}"/>
              </a:ext>
            </a:extLst>
          </p:cNvPr>
          <p:cNvSpPr/>
          <p:nvPr/>
        </p:nvSpPr>
        <p:spPr>
          <a:xfrm>
            <a:off x="793790" y="2977600"/>
            <a:ext cx="11700164" cy="479398"/>
          </a:xfrm>
          <a:prstGeom prst="rect">
            <a:avLst/>
          </a:prstGeom>
          <a:noFill/>
          <a:ln/>
        </p:spPr>
        <p:txBody>
          <a:bodyPr wrap="square" lIns="0" tIns="0" rIns="0" bIns="0" rtlCol="0" anchor="t"/>
          <a:lstStyle/>
          <a:p>
            <a:r>
              <a:rPr lang="en-US" dirty="0"/>
              <a:t>This stage converts the design into working models and an integrated signal-processing pipeline.</a:t>
            </a:r>
          </a:p>
        </p:txBody>
      </p:sp>
      <p:sp>
        <p:nvSpPr>
          <p:cNvPr id="23" name="Text 5">
            <a:extLst>
              <a:ext uri="{FF2B5EF4-FFF2-40B4-BE49-F238E27FC236}">
                <a16:creationId xmlns:a16="http://schemas.microsoft.com/office/drawing/2014/main" id="{77C6F81B-3E19-4A94-CDCF-2B53D30A6D28}"/>
              </a:ext>
            </a:extLst>
          </p:cNvPr>
          <p:cNvSpPr/>
          <p:nvPr/>
        </p:nvSpPr>
        <p:spPr>
          <a:xfrm>
            <a:off x="1572491" y="3653576"/>
            <a:ext cx="12559145" cy="2260199"/>
          </a:xfrm>
          <a:prstGeom prst="rect">
            <a:avLst/>
          </a:prstGeom>
          <a:noFill/>
          <a:ln/>
        </p:spPr>
        <p:txBody>
          <a:bodyPr wrap="square" lIns="0" tIns="0" rIns="0" bIns="0" rtlCol="0" anchor="t"/>
          <a:lstStyle/>
          <a:p>
            <a:pPr>
              <a:lnSpc>
                <a:spcPct val="200000"/>
              </a:lnSpc>
            </a:pPr>
            <a:r>
              <a:rPr lang="en-US" dirty="0"/>
              <a:t>- Train a Conv1D encoder-decoder DAE on noisy and clean I/Q pairs using MSE-based reconstruction loss. [8][26][28]</a:t>
            </a:r>
          </a:p>
          <a:p>
            <a:pPr>
              <a:lnSpc>
                <a:spcPct val="200000"/>
              </a:lnSpc>
            </a:pPr>
            <a:r>
              <a:rPr lang="en-US" dirty="0"/>
              <a:t>- Train a supervised AMC classifier on GSM-family modulations using both raw and denoised inputs. [15][16]</a:t>
            </a:r>
          </a:p>
          <a:p>
            <a:pPr>
              <a:lnSpc>
                <a:spcPct val="200000"/>
              </a:lnSpc>
            </a:pPr>
            <a:r>
              <a:rPr lang="en-US" dirty="0"/>
              <a:t>- Integrate the DAE and AMC blocks into a hybrid pipeline and compare frozen and fine-tuned configurations. [8][26][28][29]</a:t>
            </a:r>
          </a:p>
          <a:p>
            <a:pPr>
              <a:lnSpc>
                <a:spcPct val="200000"/>
              </a:lnSpc>
            </a:pPr>
            <a:r>
              <a:rPr lang="en-US" dirty="0"/>
              <a:t>- Build a lightweight prototype interface for visualizing noisy signals, denoised outputs, and classification predictions.</a:t>
            </a:r>
          </a:p>
        </p:txBody>
      </p:sp>
      <p:sp>
        <p:nvSpPr>
          <p:cNvPr id="24" name="Text 5">
            <a:extLst>
              <a:ext uri="{FF2B5EF4-FFF2-40B4-BE49-F238E27FC236}">
                <a16:creationId xmlns:a16="http://schemas.microsoft.com/office/drawing/2014/main" id="{5F6B619F-A73F-59F3-6E59-E7B9E2E67CA0}"/>
              </a:ext>
            </a:extLst>
          </p:cNvPr>
          <p:cNvSpPr/>
          <p:nvPr/>
        </p:nvSpPr>
        <p:spPr>
          <a:xfrm>
            <a:off x="817075" y="6579788"/>
            <a:ext cx="11584321" cy="714629"/>
          </a:xfrm>
          <a:prstGeom prst="rect">
            <a:avLst/>
          </a:prstGeom>
          <a:noFill/>
          <a:ln/>
        </p:spPr>
        <p:txBody>
          <a:bodyPr wrap="square" lIns="0" tIns="0" rIns="0" bIns="0" rtlCol="0" anchor="t"/>
          <a:lstStyle/>
          <a:p>
            <a:pPr>
              <a:lnSpc>
                <a:spcPct val="150000"/>
              </a:lnSpc>
            </a:pPr>
            <a:r>
              <a:rPr lang="en-US" b="1" dirty="0"/>
              <a:t>Expected outcome:</a:t>
            </a:r>
            <a:r>
              <a:rPr lang="en-US" dirty="0"/>
              <a:t> A functional hybrid DAE-AMC prototype capable of denoising noisy I/Q samples and producing modulation predictions under controlled low-SNR conditions.</a:t>
            </a:r>
          </a:p>
        </p:txBody>
      </p:sp>
      <p:pic>
        <p:nvPicPr>
          <p:cNvPr id="8" name="Image 2" descr="preencoded.png">
            <a:extLst>
              <a:ext uri="{FF2B5EF4-FFF2-40B4-BE49-F238E27FC236}">
                <a16:creationId xmlns:a16="http://schemas.microsoft.com/office/drawing/2014/main" id="{737946DE-CC06-D4D0-1AB8-7C5BA5C064CB}"/>
              </a:ext>
            </a:extLst>
          </p:cNvPr>
          <p:cNvPicPr>
            <a:picLocks noChangeAspect="1"/>
          </p:cNvPicPr>
          <p:nvPr/>
        </p:nvPicPr>
        <p:blipFill>
          <a:blip r:embed="rId3"/>
          <a:stretch>
            <a:fillRect/>
          </a:stretch>
        </p:blipFill>
        <p:spPr>
          <a:xfrm>
            <a:off x="821257" y="3843993"/>
            <a:ext cx="520437" cy="624525"/>
          </a:xfrm>
          <a:prstGeom prst="rect">
            <a:avLst/>
          </a:prstGeom>
        </p:spPr>
      </p:pic>
      <p:pic>
        <p:nvPicPr>
          <p:cNvPr id="9" name="Image 3" descr="preencoded.png">
            <a:extLst>
              <a:ext uri="{FF2B5EF4-FFF2-40B4-BE49-F238E27FC236}">
                <a16:creationId xmlns:a16="http://schemas.microsoft.com/office/drawing/2014/main" id="{1E11BC79-2E0E-7C9E-0079-F4BA7D95E931}"/>
              </a:ext>
            </a:extLst>
          </p:cNvPr>
          <p:cNvPicPr>
            <a:picLocks noChangeAspect="1"/>
          </p:cNvPicPr>
          <p:nvPr/>
        </p:nvPicPr>
        <p:blipFill>
          <a:blip r:embed="rId4"/>
          <a:stretch>
            <a:fillRect/>
          </a:stretch>
        </p:blipFill>
        <p:spPr>
          <a:xfrm>
            <a:off x="814327" y="4538188"/>
            <a:ext cx="520437" cy="624525"/>
          </a:xfrm>
          <a:prstGeom prst="rect">
            <a:avLst/>
          </a:prstGeom>
        </p:spPr>
      </p:pic>
      <p:pic>
        <p:nvPicPr>
          <p:cNvPr id="10" name="Image 4" descr="preencoded.png">
            <a:extLst>
              <a:ext uri="{FF2B5EF4-FFF2-40B4-BE49-F238E27FC236}">
                <a16:creationId xmlns:a16="http://schemas.microsoft.com/office/drawing/2014/main" id="{6135E8AC-7883-0F09-7639-45A7C96BCEF9}"/>
              </a:ext>
            </a:extLst>
          </p:cNvPr>
          <p:cNvPicPr>
            <a:picLocks noChangeAspect="1"/>
          </p:cNvPicPr>
          <p:nvPr/>
        </p:nvPicPr>
        <p:blipFill>
          <a:blip r:embed="rId5"/>
          <a:stretch>
            <a:fillRect/>
          </a:stretch>
        </p:blipFill>
        <p:spPr>
          <a:xfrm>
            <a:off x="821256" y="5246245"/>
            <a:ext cx="520437" cy="624525"/>
          </a:xfrm>
          <a:prstGeom prst="rect">
            <a:avLst/>
          </a:prstGeom>
        </p:spPr>
      </p:pic>
    </p:spTree>
    <p:extLst>
      <p:ext uri="{BB962C8B-B14F-4D97-AF65-F5344CB8AC3E}">
        <p14:creationId xmlns:p14="http://schemas.microsoft.com/office/powerpoint/2010/main" val="3300841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BE421-7079-8183-4B0E-16B898836FF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E5A6CBF-B040-0046-FB81-4D0FE1081313}"/>
              </a:ext>
            </a:extLst>
          </p:cNvPr>
          <p:cNvSpPr/>
          <p:nvPr/>
        </p:nvSpPr>
        <p:spPr>
          <a:xfrm>
            <a:off x="793790" y="651153"/>
            <a:ext cx="6349603"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Methodology</a:t>
            </a:r>
            <a:endParaRPr lang="en-US" sz="4450" dirty="0">
              <a:latin typeface="Nunito Sans" pitchFamily="2" charset="0"/>
            </a:endParaRPr>
          </a:p>
        </p:txBody>
      </p:sp>
      <p:sp>
        <p:nvSpPr>
          <p:cNvPr id="4" name="Text 2">
            <a:extLst>
              <a:ext uri="{FF2B5EF4-FFF2-40B4-BE49-F238E27FC236}">
                <a16:creationId xmlns:a16="http://schemas.microsoft.com/office/drawing/2014/main" id="{CF392869-D37B-1053-427D-35FA63D5BDF9}"/>
              </a:ext>
            </a:extLst>
          </p:cNvPr>
          <p:cNvSpPr/>
          <p:nvPr/>
        </p:nvSpPr>
        <p:spPr>
          <a:xfrm>
            <a:off x="793790" y="2039443"/>
            <a:ext cx="226814" cy="283488"/>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Nunito Sans" pitchFamily="2" charset="0"/>
                <a:ea typeface="Nunito Sans Light" pitchFamily="34" charset="-122"/>
                <a:cs typeface="Nunito Sans Light" pitchFamily="34" charset="-120"/>
              </a:rPr>
              <a:t>03</a:t>
            </a:r>
            <a:endParaRPr lang="en-US" sz="2400" b="1" dirty="0">
              <a:latin typeface="Nunito Sans" pitchFamily="2" charset="0"/>
            </a:endParaRPr>
          </a:p>
        </p:txBody>
      </p:sp>
      <p:sp>
        <p:nvSpPr>
          <p:cNvPr id="5" name="Shape 3">
            <a:extLst>
              <a:ext uri="{FF2B5EF4-FFF2-40B4-BE49-F238E27FC236}">
                <a16:creationId xmlns:a16="http://schemas.microsoft.com/office/drawing/2014/main" id="{0069D5AA-52E2-140F-99BE-646CBFE44790}"/>
              </a:ext>
            </a:extLst>
          </p:cNvPr>
          <p:cNvSpPr/>
          <p:nvPr/>
        </p:nvSpPr>
        <p:spPr>
          <a:xfrm flipV="1">
            <a:off x="793790" y="2584286"/>
            <a:ext cx="5191374" cy="45719"/>
          </a:xfrm>
          <a:prstGeom prst="rect">
            <a:avLst/>
          </a:prstGeom>
          <a:solidFill>
            <a:srgbClr val="F1E79A"/>
          </a:solidFill>
          <a:ln/>
        </p:spPr>
        <p:txBody>
          <a:bodyPr/>
          <a:lstStyle/>
          <a:p>
            <a:endParaRPr lang="en-US">
              <a:latin typeface="Nunito Sans" pitchFamily="2" charset="0"/>
            </a:endParaRPr>
          </a:p>
        </p:txBody>
      </p:sp>
      <p:sp>
        <p:nvSpPr>
          <p:cNvPr id="6" name="Text 4">
            <a:extLst>
              <a:ext uri="{FF2B5EF4-FFF2-40B4-BE49-F238E27FC236}">
                <a16:creationId xmlns:a16="http://schemas.microsoft.com/office/drawing/2014/main" id="{70FB37D8-2713-1FF8-1E21-098321E3A598}"/>
              </a:ext>
            </a:extLst>
          </p:cNvPr>
          <p:cNvSpPr/>
          <p:nvPr/>
        </p:nvSpPr>
        <p:spPr>
          <a:xfrm>
            <a:off x="1320256" y="203539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ANALYSIS AND EVALUATION</a:t>
            </a:r>
            <a:endParaRPr lang="en-US" sz="2200" dirty="0">
              <a:latin typeface="Nunito Sans" pitchFamily="2" charset="0"/>
            </a:endParaRPr>
          </a:p>
        </p:txBody>
      </p:sp>
      <p:sp>
        <p:nvSpPr>
          <p:cNvPr id="7" name="Text 5">
            <a:extLst>
              <a:ext uri="{FF2B5EF4-FFF2-40B4-BE49-F238E27FC236}">
                <a16:creationId xmlns:a16="http://schemas.microsoft.com/office/drawing/2014/main" id="{8E169B23-BC49-E75F-9D4C-6369553F48BB}"/>
              </a:ext>
            </a:extLst>
          </p:cNvPr>
          <p:cNvSpPr/>
          <p:nvPr/>
        </p:nvSpPr>
        <p:spPr>
          <a:xfrm>
            <a:off x="793790" y="2873690"/>
            <a:ext cx="11700164" cy="479398"/>
          </a:xfrm>
          <a:prstGeom prst="rect">
            <a:avLst/>
          </a:prstGeom>
          <a:noFill/>
          <a:ln/>
        </p:spPr>
        <p:txBody>
          <a:bodyPr wrap="square" lIns="0" tIns="0" rIns="0" bIns="0" rtlCol="0" anchor="t"/>
          <a:lstStyle/>
          <a:p>
            <a:pPr>
              <a:lnSpc>
                <a:spcPct val="150000"/>
              </a:lnSpc>
            </a:pPr>
            <a:r>
              <a:rPr lang="en-US" dirty="0"/>
              <a:t>This stage measures whether the proposed pipeline improves modulation recognition under the targeted interference conditions.</a:t>
            </a:r>
          </a:p>
        </p:txBody>
      </p:sp>
      <p:sp>
        <p:nvSpPr>
          <p:cNvPr id="23" name="Text 5">
            <a:extLst>
              <a:ext uri="{FF2B5EF4-FFF2-40B4-BE49-F238E27FC236}">
                <a16:creationId xmlns:a16="http://schemas.microsoft.com/office/drawing/2014/main" id="{2918A4E2-F159-6201-1493-6F72E2D49BBA}"/>
              </a:ext>
            </a:extLst>
          </p:cNvPr>
          <p:cNvSpPr/>
          <p:nvPr/>
        </p:nvSpPr>
        <p:spPr>
          <a:xfrm>
            <a:off x="1572491" y="3958374"/>
            <a:ext cx="12559145" cy="2260199"/>
          </a:xfrm>
          <a:prstGeom prst="rect">
            <a:avLst/>
          </a:prstGeom>
          <a:noFill/>
          <a:ln/>
        </p:spPr>
        <p:txBody>
          <a:bodyPr wrap="square" lIns="0" tIns="0" rIns="0" bIns="0" rtlCol="0" anchor="t"/>
          <a:lstStyle/>
          <a:p>
            <a:pPr>
              <a:lnSpc>
                <a:spcPct val="150000"/>
              </a:lnSpc>
            </a:pPr>
            <a:r>
              <a:rPr lang="en-US" dirty="0"/>
              <a:t>- Benchmark the hybrid DAE-AMC system against a standalone AMC baseline. [15][16]</a:t>
            </a:r>
          </a:p>
          <a:p>
            <a:pPr>
              <a:lnSpc>
                <a:spcPct val="150000"/>
              </a:lnSpc>
            </a:pPr>
            <a:r>
              <a:rPr lang="en-US" dirty="0"/>
              <a:t>- Evaluate denoising quality and classification quality across held-out SNR ranges. [8][26][28][29]</a:t>
            </a:r>
          </a:p>
          <a:p>
            <a:pPr>
              <a:lnSpc>
                <a:spcPct val="150000"/>
              </a:lnSpc>
            </a:pPr>
            <a:r>
              <a:rPr lang="en-US" dirty="0"/>
              <a:t>- Use accuracy curves, macro F1-score, confusion matrices, and SNR-wise comparisons to quantify improvement. [15][16][26]</a:t>
            </a:r>
          </a:p>
          <a:p>
            <a:pPr>
              <a:lnSpc>
                <a:spcPct val="150000"/>
              </a:lnSpc>
            </a:pPr>
            <a:r>
              <a:rPr lang="en-US" dirty="0"/>
              <a:t>- Interpret the results in terms of rural Uganda use cases such as weak-signal monitoring, interference diagnosis, and regulator demonstrations.</a:t>
            </a:r>
          </a:p>
        </p:txBody>
      </p:sp>
      <p:sp>
        <p:nvSpPr>
          <p:cNvPr id="24" name="Text 5">
            <a:extLst>
              <a:ext uri="{FF2B5EF4-FFF2-40B4-BE49-F238E27FC236}">
                <a16:creationId xmlns:a16="http://schemas.microsoft.com/office/drawing/2014/main" id="{BFFEB60A-5A39-CD60-4FAE-50B53E0DDF84}"/>
              </a:ext>
            </a:extLst>
          </p:cNvPr>
          <p:cNvSpPr/>
          <p:nvPr/>
        </p:nvSpPr>
        <p:spPr>
          <a:xfrm>
            <a:off x="817075" y="6579788"/>
            <a:ext cx="11584321" cy="714629"/>
          </a:xfrm>
          <a:prstGeom prst="rect">
            <a:avLst/>
          </a:prstGeom>
          <a:noFill/>
          <a:ln/>
        </p:spPr>
        <p:txBody>
          <a:bodyPr wrap="square" lIns="0" tIns="0" rIns="0" bIns="0" rtlCol="0" anchor="t"/>
          <a:lstStyle/>
          <a:p>
            <a:pPr>
              <a:lnSpc>
                <a:spcPct val="150000"/>
              </a:lnSpc>
            </a:pPr>
            <a:r>
              <a:rPr lang="en-US" b="1" dirty="0"/>
              <a:t>Expected outcome:</a:t>
            </a:r>
            <a:r>
              <a:rPr lang="en-US" dirty="0"/>
              <a:t> A clear evidence set showing where the hybrid pipeline improves over baseline AMC, including result plots, comparative metrics, and conclusions about suitability for rural Uganda spectrum-monitoring scenarios.</a:t>
            </a:r>
          </a:p>
        </p:txBody>
      </p:sp>
      <p:pic>
        <p:nvPicPr>
          <p:cNvPr id="8" name="Image 2" descr="preencoded.png">
            <a:extLst>
              <a:ext uri="{FF2B5EF4-FFF2-40B4-BE49-F238E27FC236}">
                <a16:creationId xmlns:a16="http://schemas.microsoft.com/office/drawing/2014/main" id="{936404CC-87B1-6502-FF2D-86AF5304772D}"/>
              </a:ext>
            </a:extLst>
          </p:cNvPr>
          <p:cNvPicPr>
            <a:picLocks noChangeAspect="1"/>
          </p:cNvPicPr>
          <p:nvPr/>
        </p:nvPicPr>
        <p:blipFill>
          <a:blip r:embed="rId3"/>
          <a:stretch>
            <a:fillRect/>
          </a:stretch>
        </p:blipFill>
        <p:spPr>
          <a:xfrm>
            <a:off x="821257" y="4037956"/>
            <a:ext cx="520437" cy="624525"/>
          </a:xfrm>
          <a:prstGeom prst="rect">
            <a:avLst/>
          </a:prstGeom>
        </p:spPr>
      </p:pic>
      <p:pic>
        <p:nvPicPr>
          <p:cNvPr id="9" name="Image 3" descr="preencoded.png">
            <a:extLst>
              <a:ext uri="{FF2B5EF4-FFF2-40B4-BE49-F238E27FC236}">
                <a16:creationId xmlns:a16="http://schemas.microsoft.com/office/drawing/2014/main" id="{BB03B0F7-8F44-4D8A-7F4C-6AB250293A1D}"/>
              </a:ext>
            </a:extLst>
          </p:cNvPr>
          <p:cNvPicPr>
            <a:picLocks noChangeAspect="1"/>
          </p:cNvPicPr>
          <p:nvPr/>
        </p:nvPicPr>
        <p:blipFill>
          <a:blip r:embed="rId4"/>
          <a:stretch>
            <a:fillRect/>
          </a:stretch>
        </p:blipFill>
        <p:spPr>
          <a:xfrm>
            <a:off x="814327" y="4732151"/>
            <a:ext cx="520437" cy="624525"/>
          </a:xfrm>
          <a:prstGeom prst="rect">
            <a:avLst/>
          </a:prstGeom>
        </p:spPr>
      </p:pic>
      <p:pic>
        <p:nvPicPr>
          <p:cNvPr id="10" name="Image 4" descr="preencoded.png">
            <a:extLst>
              <a:ext uri="{FF2B5EF4-FFF2-40B4-BE49-F238E27FC236}">
                <a16:creationId xmlns:a16="http://schemas.microsoft.com/office/drawing/2014/main" id="{EE370231-1D4A-ED37-7E22-4E96C1744BFD}"/>
              </a:ext>
            </a:extLst>
          </p:cNvPr>
          <p:cNvPicPr>
            <a:picLocks noChangeAspect="1"/>
          </p:cNvPicPr>
          <p:nvPr/>
        </p:nvPicPr>
        <p:blipFill>
          <a:blip r:embed="rId5"/>
          <a:stretch>
            <a:fillRect/>
          </a:stretch>
        </p:blipFill>
        <p:spPr>
          <a:xfrm>
            <a:off x="821256" y="5440208"/>
            <a:ext cx="520437" cy="624525"/>
          </a:xfrm>
          <a:prstGeom prst="rect">
            <a:avLst/>
          </a:prstGeom>
        </p:spPr>
      </p:pic>
    </p:spTree>
    <p:extLst>
      <p:ext uri="{BB962C8B-B14F-4D97-AF65-F5344CB8AC3E}">
        <p14:creationId xmlns:p14="http://schemas.microsoft.com/office/powerpoint/2010/main" val="4018086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4009" y="506016"/>
            <a:ext cx="5349597" cy="575072"/>
          </a:xfrm>
          <a:prstGeom prst="rect">
            <a:avLst/>
          </a:prstGeom>
          <a:noFill/>
          <a:ln/>
        </p:spPr>
        <p:txBody>
          <a:bodyPr wrap="none" lIns="0" tIns="0" rIns="0" bIns="0" rtlCol="0" anchor="t"/>
          <a:lstStyle/>
          <a:p>
            <a:pPr marL="0" indent="0" algn="l">
              <a:lnSpc>
                <a:spcPts val="4500"/>
              </a:lnSpc>
              <a:buNone/>
            </a:pPr>
            <a:r>
              <a:rPr lang="en-US" sz="3600" b="1" dirty="0">
                <a:solidFill>
                  <a:srgbClr val="006A60"/>
                </a:solidFill>
                <a:latin typeface="Nunito Sans" pitchFamily="2" charset="0"/>
                <a:ea typeface="Nunito Sans Bold" pitchFamily="34" charset="-122"/>
                <a:cs typeface="Nunito Sans Bold" pitchFamily="34" charset="-120"/>
              </a:rPr>
              <a:t>Project Budget Overview</a:t>
            </a:r>
            <a:endParaRPr lang="en-US" sz="3600" dirty="0">
              <a:latin typeface="Nunito Sans" pitchFamily="2" charset="0"/>
            </a:endParaRPr>
          </a:p>
        </p:txBody>
      </p:sp>
      <p:sp>
        <p:nvSpPr>
          <p:cNvPr id="3" name="Text 1"/>
          <p:cNvSpPr/>
          <p:nvPr/>
        </p:nvSpPr>
        <p:spPr>
          <a:xfrm>
            <a:off x="644009" y="1357074"/>
            <a:ext cx="13342382" cy="58888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The successful execution of this project requires a structured allocation of resources. The total estimated budget is </a:t>
            </a:r>
            <a:r>
              <a:rPr lang="en-US" sz="1400" b="1" dirty="0">
                <a:solidFill>
                  <a:srgbClr val="272525"/>
                </a:solidFill>
                <a:latin typeface="Nunito Sans" pitchFamily="2" charset="0"/>
                <a:ea typeface="Nunito" pitchFamily="34" charset="-122"/>
                <a:cs typeface="Nunito" pitchFamily="34" charset="-120"/>
              </a:rPr>
              <a:t>1,750,000 UGX</a:t>
            </a:r>
            <a:r>
              <a:rPr lang="en-US" sz="1400" dirty="0">
                <a:solidFill>
                  <a:srgbClr val="272525"/>
                </a:solidFill>
                <a:latin typeface="Nunito Sans" pitchFamily="2" charset="0"/>
                <a:ea typeface="Nunito" pitchFamily="34" charset="-122"/>
                <a:cs typeface="Nunito" pitchFamily="34" charset="-120"/>
              </a:rPr>
              <a:t>, covering critical areas from software to research.</a:t>
            </a:r>
            <a:endParaRPr lang="en-US" sz="1400" dirty="0">
              <a:latin typeface="Nunito Sans" pitchFamily="2" charset="0"/>
            </a:endParaRPr>
          </a:p>
        </p:txBody>
      </p:sp>
      <p:sp>
        <p:nvSpPr>
          <p:cNvPr id="4" name="Shape 2"/>
          <p:cNvSpPr/>
          <p:nvPr/>
        </p:nvSpPr>
        <p:spPr>
          <a:xfrm>
            <a:off x="644009" y="2152888"/>
            <a:ext cx="13342382" cy="4789051"/>
          </a:xfrm>
          <a:prstGeom prst="roundRect">
            <a:avLst>
              <a:gd name="adj" fmla="val 3458"/>
            </a:avLst>
          </a:prstGeom>
          <a:noFill/>
          <a:ln w="7620">
            <a:solidFill>
              <a:srgbClr val="000000">
                <a:alpha val="8000"/>
              </a:srgbClr>
            </a:solidFill>
            <a:prstDash val="solid"/>
          </a:ln>
        </p:spPr>
        <p:txBody>
          <a:bodyPr/>
          <a:lstStyle/>
          <a:p>
            <a:endParaRPr lang="en-US">
              <a:latin typeface="Nunito Sans" pitchFamily="2" charset="0"/>
            </a:endParaRPr>
          </a:p>
        </p:txBody>
      </p:sp>
      <p:sp>
        <p:nvSpPr>
          <p:cNvPr id="5" name="Shape 3"/>
          <p:cNvSpPr/>
          <p:nvPr/>
        </p:nvSpPr>
        <p:spPr>
          <a:xfrm>
            <a:off x="651629" y="2160508"/>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6" name="Text 4"/>
          <p:cNvSpPr/>
          <p:nvPr/>
        </p:nvSpPr>
        <p:spPr>
          <a:xfrm>
            <a:off x="835700" y="2278499"/>
            <a:ext cx="7624524"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Item</a:t>
            </a:r>
            <a:endParaRPr lang="en-US" sz="1400" dirty="0">
              <a:latin typeface="Nunito Sans" pitchFamily="2" charset="0"/>
            </a:endParaRPr>
          </a:p>
        </p:txBody>
      </p:sp>
      <p:sp>
        <p:nvSpPr>
          <p:cNvPr id="7" name="Text 5"/>
          <p:cNvSpPr/>
          <p:nvPr/>
        </p:nvSpPr>
        <p:spPr>
          <a:xfrm>
            <a:off x="8835747" y="2278499"/>
            <a:ext cx="4959072"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Cost (UGX)</a:t>
            </a:r>
            <a:endParaRPr lang="en-US" sz="1400" dirty="0">
              <a:latin typeface="Nunito Sans" pitchFamily="2" charset="0"/>
            </a:endParaRPr>
          </a:p>
        </p:txBody>
      </p:sp>
      <p:sp>
        <p:nvSpPr>
          <p:cNvPr id="8" name="Shape 6"/>
          <p:cNvSpPr/>
          <p:nvPr/>
        </p:nvSpPr>
        <p:spPr>
          <a:xfrm>
            <a:off x="651629" y="2690932"/>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9" name="Text 7"/>
          <p:cNvSpPr/>
          <p:nvPr/>
        </p:nvSpPr>
        <p:spPr>
          <a:xfrm>
            <a:off x="835700" y="280892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Software Licenses</a:t>
            </a:r>
            <a:endParaRPr lang="en-US" sz="1400" dirty="0">
              <a:latin typeface="Nunito Sans" pitchFamily="2" charset="0"/>
            </a:endParaRPr>
          </a:p>
        </p:txBody>
      </p:sp>
      <p:sp>
        <p:nvSpPr>
          <p:cNvPr id="10" name="Text 8"/>
          <p:cNvSpPr/>
          <p:nvPr/>
        </p:nvSpPr>
        <p:spPr>
          <a:xfrm>
            <a:off x="8835747" y="280892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300,000</a:t>
            </a:r>
            <a:endParaRPr lang="en-US" sz="1400" dirty="0">
              <a:latin typeface="Nunito Sans" pitchFamily="2" charset="0"/>
            </a:endParaRPr>
          </a:p>
        </p:txBody>
      </p:sp>
      <p:sp>
        <p:nvSpPr>
          <p:cNvPr id="11" name="Shape 9"/>
          <p:cNvSpPr/>
          <p:nvPr/>
        </p:nvSpPr>
        <p:spPr>
          <a:xfrm>
            <a:off x="651629" y="3221355"/>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12" name="Text 10"/>
          <p:cNvSpPr/>
          <p:nvPr/>
        </p:nvSpPr>
        <p:spPr>
          <a:xfrm>
            <a:off x="835700" y="3339346"/>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Data Curation</a:t>
            </a:r>
            <a:endParaRPr lang="en-US" sz="1400" dirty="0">
              <a:latin typeface="Nunito Sans" pitchFamily="2" charset="0"/>
            </a:endParaRPr>
          </a:p>
        </p:txBody>
      </p:sp>
      <p:sp>
        <p:nvSpPr>
          <p:cNvPr id="13" name="Text 11"/>
          <p:cNvSpPr/>
          <p:nvPr/>
        </p:nvSpPr>
        <p:spPr>
          <a:xfrm>
            <a:off x="8835747" y="3339346"/>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100,000</a:t>
            </a:r>
            <a:endParaRPr lang="en-US" sz="1400" dirty="0">
              <a:latin typeface="Nunito Sans" pitchFamily="2" charset="0"/>
            </a:endParaRPr>
          </a:p>
        </p:txBody>
      </p:sp>
      <p:sp>
        <p:nvSpPr>
          <p:cNvPr id="14" name="Shape 12"/>
          <p:cNvSpPr/>
          <p:nvPr/>
        </p:nvSpPr>
        <p:spPr>
          <a:xfrm>
            <a:off x="651629" y="3751778"/>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15" name="Text 13"/>
          <p:cNvSpPr/>
          <p:nvPr/>
        </p:nvSpPr>
        <p:spPr>
          <a:xfrm>
            <a:off x="835700" y="3869769"/>
            <a:ext cx="7624524" cy="294442"/>
          </a:xfrm>
          <a:prstGeom prst="rect">
            <a:avLst/>
          </a:prstGeom>
          <a:noFill/>
          <a:ln/>
        </p:spPr>
        <p:txBody>
          <a:bodyPr wrap="none" lIns="0" tIns="0" rIns="0" bIns="0" rtlCol="0" anchor="t"/>
          <a:lstStyle/>
          <a:p>
            <a:pPr marL="0" indent="0" algn="l">
              <a:lnSpc>
                <a:spcPts val="2300"/>
              </a:lnSpc>
              <a:buNone/>
            </a:pPr>
            <a:r>
              <a:rPr lang="en-US" sz="1400" dirty="0">
                <a:latin typeface="Nunito Sans" pitchFamily="2" charset="0"/>
              </a:rPr>
              <a:t>Nvidia GPUs</a:t>
            </a:r>
          </a:p>
        </p:txBody>
      </p:sp>
      <p:sp>
        <p:nvSpPr>
          <p:cNvPr id="16" name="Text 14"/>
          <p:cNvSpPr/>
          <p:nvPr/>
        </p:nvSpPr>
        <p:spPr>
          <a:xfrm>
            <a:off x="8835747" y="3869769"/>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500,000</a:t>
            </a:r>
            <a:endParaRPr lang="en-US" sz="1400" dirty="0">
              <a:latin typeface="Nunito Sans" pitchFamily="2" charset="0"/>
            </a:endParaRPr>
          </a:p>
        </p:txBody>
      </p:sp>
      <p:sp>
        <p:nvSpPr>
          <p:cNvPr id="17" name="Shape 15"/>
          <p:cNvSpPr/>
          <p:nvPr/>
        </p:nvSpPr>
        <p:spPr>
          <a:xfrm>
            <a:off x="651629" y="4282202"/>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18" name="Text 16"/>
          <p:cNvSpPr/>
          <p:nvPr/>
        </p:nvSpPr>
        <p:spPr>
          <a:xfrm>
            <a:off x="835700" y="440019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Cloud Databases</a:t>
            </a:r>
            <a:endParaRPr lang="en-US" sz="1400" dirty="0">
              <a:latin typeface="Nunito Sans" pitchFamily="2" charset="0"/>
            </a:endParaRPr>
          </a:p>
        </p:txBody>
      </p:sp>
      <p:sp>
        <p:nvSpPr>
          <p:cNvPr id="19" name="Text 17"/>
          <p:cNvSpPr/>
          <p:nvPr/>
        </p:nvSpPr>
        <p:spPr>
          <a:xfrm>
            <a:off x="8835747" y="440019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100,000</a:t>
            </a:r>
            <a:endParaRPr lang="en-US" sz="1400" dirty="0">
              <a:latin typeface="Nunito Sans" pitchFamily="2" charset="0"/>
            </a:endParaRPr>
          </a:p>
        </p:txBody>
      </p:sp>
      <p:sp>
        <p:nvSpPr>
          <p:cNvPr id="20" name="Shape 18"/>
          <p:cNvSpPr/>
          <p:nvPr/>
        </p:nvSpPr>
        <p:spPr>
          <a:xfrm>
            <a:off x="651629" y="4812625"/>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21" name="Text 19"/>
          <p:cNvSpPr/>
          <p:nvPr/>
        </p:nvSpPr>
        <p:spPr>
          <a:xfrm>
            <a:off x="835700" y="4930616"/>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Internet and Research</a:t>
            </a:r>
            <a:endParaRPr lang="en-US" sz="1400" dirty="0">
              <a:latin typeface="Nunito Sans" pitchFamily="2" charset="0"/>
            </a:endParaRPr>
          </a:p>
        </p:txBody>
      </p:sp>
      <p:sp>
        <p:nvSpPr>
          <p:cNvPr id="22" name="Text 20"/>
          <p:cNvSpPr/>
          <p:nvPr/>
        </p:nvSpPr>
        <p:spPr>
          <a:xfrm>
            <a:off x="8835747" y="4930616"/>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200,000</a:t>
            </a:r>
            <a:endParaRPr lang="en-US" sz="1400" dirty="0">
              <a:latin typeface="Nunito Sans" pitchFamily="2" charset="0"/>
            </a:endParaRPr>
          </a:p>
        </p:txBody>
      </p:sp>
      <p:sp>
        <p:nvSpPr>
          <p:cNvPr id="23" name="Shape 21"/>
          <p:cNvSpPr/>
          <p:nvPr/>
        </p:nvSpPr>
        <p:spPr>
          <a:xfrm>
            <a:off x="651629" y="5343049"/>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24" name="Text 22"/>
          <p:cNvSpPr/>
          <p:nvPr/>
        </p:nvSpPr>
        <p:spPr>
          <a:xfrm>
            <a:off x="835700" y="5461040"/>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Printing and Documentation</a:t>
            </a:r>
            <a:endParaRPr lang="en-US" sz="1400" dirty="0">
              <a:latin typeface="Nunito Sans" pitchFamily="2" charset="0"/>
            </a:endParaRPr>
          </a:p>
        </p:txBody>
      </p:sp>
      <p:sp>
        <p:nvSpPr>
          <p:cNvPr id="25" name="Text 23"/>
          <p:cNvSpPr/>
          <p:nvPr/>
        </p:nvSpPr>
        <p:spPr>
          <a:xfrm>
            <a:off x="8835747" y="5461040"/>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50,000</a:t>
            </a:r>
            <a:endParaRPr lang="en-US" sz="1400" dirty="0">
              <a:latin typeface="Nunito Sans" pitchFamily="2" charset="0"/>
            </a:endParaRPr>
          </a:p>
        </p:txBody>
      </p:sp>
      <p:sp>
        <p:nvSpPr>
          <p:cNvPr id="26" name="Shape 24"/>
          <p:cNvSpPr/>
          <p:nvPr/>
        </p:nvSpPr>
        <p:spPr>
          <a:xfrm>
            <a:off x="651629" y="5873472"/>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27" name="Text 25"/>
          <p:cNvSpPr/>
          <p:nvPr/>
        </p:nvSpPr>
        <p:spPr>
          <a:xfrm>
            <a:off x="835700" y="599146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Miscellaneous</a:t>
            </a:r>
            <a:endParaRPr lang="en-US" sz="1400" dirty="0">
              <a:latin typeface="Nunito Sans" pitchFamily="2" charset="0"/>
            </a:endParaRPr>
          </a:p>
        </p:txBody>
      </p:sp>
      <p:sp>
        <p:nvSpPr>
          <p:cNvPr id="28" name="Text 26"/>
          <p:cNvSpPr/>
          <p:nvPr/>
        </p:nvSpPr>
        <p:spPr>
          <a:xfrm>
            <a:off x="8835747" y="599146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500,000</a:t>
            </a:r>
            <a:endParaRPr lang="en-US" sz="1400" dirty="0">
              <a:latin typeface="Nunito Sans" pitchFamily="2" charset="0"/>
            </a:endParaRPr>
          </a:p>
        </p:txBody>
      </p:sp>
      <p:sp>
        <p:nvSpPr>
          <p:cNvPr id="29" name="Shape 27"/>
          <p:cNvSpPr/>
          <p:nvPr/>
        </p:nvSpPr>
        <p:spPr>
          <a:xfrm>
            <a:off x="651629" y="6403896"/>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30" name="Text 28"/>
          <p:cNvSpPr/>
          <p:nvPr/>
        </p:nvSpPr>
        <p:spPr>
          <a:xfrm>
            <a:off x="835700" y="6521887"/>
            <a:ext cx="7624524"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Total Estimated Cost</a:t>
            </a:r>
            <a:endParaRPr lang="en-US" sz="1400" dirty="0">
              <a:latin typeface="Nunito Sans" pitchFamily="2" charset="0"/>
            </a:endParaRPr>
          </a:p>
        </p:txBody>
      </p:sp>
      <p:sp>
        <p:nvSpPr>
          <p:cNvPr id="31" name="Text 29"/>
          <p:cNvSpPr/>
          <p:nvPr/>
        </p:nvSpPr>
        <p:spPr>
          <a:xfrm>
            <a:off x="8835747" y="6521887"/>
            <a:ext cx="4959072"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1,750,000</a:t>
            </a:r>
            <a:endParaRPr lang="en-US" sz="1400" dirty="0">
              <a:latin typeface="Nunito Sans" pitchFamily="2" charset="0"/>
            </a:endParaRPr>
          </a:p>
        </p:txBody>
      </p:sp>
      <p:sp>
        <p:nvSpPr>
          <p:cNvPr id="32" name="Text 30"/>
          <p:cNvSpPr/>
          <p:nvPr/>
        </p:nvSpPr>
        <p:spPr>
          <a:xfrm>
            <a:off x="644009" y="7148870"/>
            <a:ext cx="13342382" cy="58888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This budget ensures that all necessary technical infrastructure, data processing capabilities, and operational requirements are adequately funded to support the project's objectives.</a:t>
            </a:r>
            <a:endParaRPr lang="en-US" sz="1400" dirty="0">
              <a:latin typeface="Nunito Sans" pitchFamily="2" charset="0"/>
            </a:endParaRPr>
          </a:p>
        </p:txBody>
      </p:sp>
    </p:spTree>
    <p:extLst>
      <p:ext uri="{BB962C8B-B14F-4D97-AF65-F5344CB8AC3E}">
        <p14:creationId xmlns:p14="http://schemas.microsoft.com/office/powerpoint/2010/main" val="898450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71155" y="717947"/>
            <a:ext cx="6847999" cy="599242"/>
          </a:xfrm>
          <a:prstGeom prst="rect">
            <a:avLst/>
          </a:prstGeom>
          <a:noFill/>
          <a:ln/>
        </p:spPr>
        <p:txBody>
          <a:bodyPr wrap="none" lIns="0" tIns="0" rIns="0" bIns="0" rtlCol="0" anchor="t"/>
          <a:lstStyle/>
          <a:p>
            <a:pPr marL="0" indent="0" algn="l">
              <a:lnSpc>
                <a:spcPts val="4700"/>
              </a:lnSpc>
              <a:buNone/>
            </a:pPr>
            <a:r>
              <a:rPr lang="en-US" sz="3750" b="1" dirty="0">
                <a:solidFill>
                  <a:srgbClr val="006A60"/>
                </a:solidFill>
                <a:latin typeface="Nunito Sans" pitchFamily="2" charset="0"/>
                <a:ea typeface="Nunito Sans Bold" pitchFamily="34" charset="-122"/>
                <a:cs typeface="Nunito Sans Bold" pitchFamily="34" charset="-120"/>
              </a:rPr>
              <a:t>Project Timeline</a:t>
            </a:r>
            <a:endParaRPr lang="en-US" sz="3750" dirty="0">
              <a:latin typeface="Nunito Sans" pitchFamily="2" charset="0"/>
            </a:endParaRPr>
          </a:p>
        </p:txBody>
      </p:sp>
      <p:sp>
        <p:nvSpPr>
          <p:cNvPr id="3" name="Text 1"/>
          <p:cNvSpPr/>
          <p:nvPr/>
        </p:nvSpPr>
        <p:spPr>
          <a:xfrm>
            <a:off x="671155" y="1604724"/>
            <a:ext cx="13288089"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Our project will be executed in five distinct phases, ensuring a structured and efficient progression towards our objectives over a 27-week period.</a:t>
            </a:r>
            <a:endParaRPr lang="en-US" sz="1500" dirty="0">
              <a:latin typeface="Nunito Sans" pitchFamily="2" charset="0"/>
            </a:endParaRPr>
          </a:p>
        </p:txBody>
      </p:sp>
      <p:sp>
        <p:nvSpPr>
          <p:cNvPr id="35" name="Text 33"/>
          <p:cNvSpPr/>
          <p:nvPr/>
        </p:nvSpPr>
        <p:spPr>
          <a:xfrm>
            <a:off x="522664" y="7118745"/>
            <a:ext cx="13496641"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This timeline ensures a methodical approach to each stage, culminating in a robust and well-documented solution for intelligent signal processing.</a:t>
            </a:r>
            <a:endParaRPr lang="en-US" sz="1500" dirty="0">
              <a:latin typeface="Nunito Sans" pitchFamily="2" charset="0"/>
            </a:endParaRPr>
          </a:p>
        </p:txBody>
      </p:sp>
      <p:graphicFrame>
        <p:nvGraphicFramePr>
          <p:cNvPr id="41" name="Table 40">
            <a:extLst>
              <a:ext uri="{FF2B5EF4-FFF2-40B4-BE49-F238E27FC236}">
                <a16:creationId xmlns:a16="http://schemas.microsoft.com/office/drawing/2014/main" id="{17642779-7FD6-6154-F381-7B231A1DFA85}"/>
              </a:ext>
            </a:extLst>
          </p:cNvPr>
          <p:cNvGraphicFramePr>
            <a:graphicFrameLocks noGrp="1"/>
          </p:cNvGraphicFramePr>
          <p:nvPr>
            <p:extLst>
              <p:ext uri="{D42A27DB-BD31-4B8C-83A1-F6EECF244321}">
                <p14:modId xmlns:p14="http://schemas.microsoft.com/office/powerpoint/2010/main" val="3791189406"/>
              </p:ext>
            </p:extLst>
          </p:nvPr>
        </p:nvGraphicFramePr>
        <p:xfrm>
          <a:off x="515812" y="2105736"/>
          <a:ext cx="13503493" cy="4621414"/>
        </p:xfrm>
        <a:graphic>
          <a:graphicData uri="http://schemas.openxmlformats.org/drawingml/2006/table">
            <a:tbl>
              <a:tblPr firstRow="1" bandRow="1">
                <a:tableStyleId>{5FD0F851-EC5A-4D38-B0AD-8093EC10F338}</a:tableStyleId>
              </a:tblPr>
              <a:tblGrid>
                <a:gridCol w="3091163">
                  <a:extLst>
                    <a:ext uri="{9D8B030D-6E8A-4147-A177-3AD203B41FA5}">
                      <a16:colId xmlns:a16="http://schemas.microsoft.com/office/drawing/2014/main" val="3324778835"/>
                    </a:ext>
                  </a:extLst>
                </a:gridCol>
                <a:gridCol w="401782">
                  <a:extLst>
                    <a:ext uri="{9D8B030D-6E8A-4147-A177-3AD203B41FA5}">
                      <a16:colId xmlns:a16="http://schemas.microsoft.com/office/drawing/2014/main" val="2918639674"/>
                    </a:ext>
                  </a:extLst>
                </a:gridCol>
                <a:gridCol w="401782">
                  <a:extLst>
                    <a:ext uri="{9D8B030D-6E8A-4147-A177-3AD203B41FA5}">
                      <a16:colId xmlns:a16="http://schemas.microsoft.com/office/drawing/2014/main" val="1508094216"/>
                    </a:ext>
                  </a:extLst>
                </a:gridCol>
                <a:gridCol w="401782">
                  <a:extLst>
                    <a:ext uri="{9D8B030D-6E8A-4147-A177-3AD203B41FA5}">
                      <a16:colId xmlns:a16="http://schemas.microsoft.com/office/drawing/2014/main" val="4026499917"/>
                    </a:ext>
                  </a:extLst>
                </a:gridCol>
                <a:gridCol w="401782">
                  <a:extLst>
                    <a:ext uri="{9D8B030D-6E8A-4147-A177-3AD203B41FA5}">
                      <a16:colId xmlns:a16="http://schemas.microsoft.com/office/drawing/2014/main" val="3092534099"/>
                    </a:ext>
                  </a:extLst>
                </a:gridCol>
                <a:gridCol w="436418">
                  <a:extLst>
                    <a:ext uri="{9D8B030D-6E8A-4147-A177-3AD203B41FA5}">
                      <a16:colId xmlns:a16="http://schemas.microsoft.com/office/drawing/2014/main" val="3402269360"/>
                    </a:ext>
                  </a:extLst>
                </a:gridCol>
                <a:gridCol w="436419">
                  <a:extLst>
                    <a:ext uri="{9D8B030D-6E8A-4147-A177-3AD203B41FA5}">
                      <a16:colId xmlns:a16="http://schemas.microsoft.com/office/drawing/2014/main" val="3334557006"/>
                    </a:ext>
                  </a:extLst>
                </a:gridCol>
                <a:gridCol w="436419">
                  <a:extLst>
                    <a:ext uri="{9D8B030D-6E8A-4147-A177-3AD203B41FA5}">
                      <a16:colId xmlns:a16="http://schemas.microsoft.com/office/drawing/2014/main" val="408521156"/>
                    </a:ext>
                  </a:extLst>
                </a:gridCol>
                <a:gridCol w="436418">
                  <a:extLst>
                    <a:ext uri="{9D8B030D-6E8A-4147-A177-3AD203B41FA5}">
                      <a16:colId xmlns:a16="http://schemas.microsoft.com/office/drawing/2014/main" val="3565631987"/>
                    </a:ext>
                  </a:extLst>
                </a:gridCol>
                <a:gridCol w="474518">
                  <a:extLst>
                    <a:ext uri="{9D8B030D-6E8A-4147-A177-3AD203B41FA5}">
                      <a16:colId xmlns:a16="http://schemas.microsoft.com/office/drawing/2014/main" val="1220962183"/>
                    </a:ext>
                  </a:extLst>
                </a:gridCol>
                <a:gridCol w="474518">
                  <a:extLst>
                    <a:ext uri="{9D8B030D-6E8A-4147-A177-3AD203B41FA5}">
                      <a16:colId xmlns:a16="http://schemas.microsoft.com/office/drawing/2014/main" val="1095669393"/>
                    </a:ext>
                  </a:extLst>
                </a:gridCol>
                <a:gridCol w="474518">
                  <a:extLst>
                    <a:ext uri="{9D8B030D-6E8A-4147-A177-3AD203B41FA5}">
                      <a16:colId xmlns:a16="http://schemas.microsoft.com/office/drawing/2014/main" val="1720429902"/>
                    </a:ext>
                  </a:extLst>
                </a:gridCol>
                <a:gridCol w="474518">
                  <a:extLst>
                    <a:ext uri="{9D8B030D-6E8A-4147-A177-3AD203B41FA5}">
                      <a16:colId xmlns:a16="http://schemas.microsoft.com/office/drawing/2014/main" val="3830785551"/>
                    </a:ext>
                  </a:extLst>
                </a:gridCol>
                <a:gridCol w="452005">
                  <a:extLst>
                    <a:ext uri="{9D8B030D-6E8A-4147-A177-3AD203B41FA5}">
                      <a16:colId xmlns:a16="http://schemas.microsoft.com/office/drawing/2014/main" val="494360785"/>
                    </a:ext>
                  </a:extLst>
                </a:gridCol>
                <a:gridCol w="452005">
                  <a:extLst>
                    <a:ext uri="{9D8B030D-6E8A-4147-A177-3AD203B41FA5}">
                      <a16:colId xmlns:a16="http://schemas.microsoft.com/office/drawing/2014/main" val="95317442"/>
                    </a:ext>
                  </a:extLst>
                </a:gridCol>
                <a:gridCol w="452005">
                  <a:extLst>
                    <a:ext uri="{9D8B030D-6E8A-4147-A177-3AD203B41FA5}">
                      <a16:colId xmlns:a16="http://schemas.microsoft.com/office/drawing/2014/main" val="233655993"/>
                    </a:ext>
                  </a:extLst>
                </a:gridCol>
                <a:gridCol w="452005">
                  <a:extLst>
                    <a:ext uri="{9D8B030D-6E8A-4147-A177-3AD203B41FA5}">
                      <a16:colId xmlns:a16="http://schemas.microsoft.com/office/drawing/2014/main" val="350999105"/>
                    </a:ext>
                  </a:extLst>
                </a:gridCol>
                <a:gridCol w="412173">
                  <a:extLst>
                    <a:ext uri="{9D8B030D-6E8A-4147-A177-3AD203B41FA5}">
                      <a16:colId xmlns:a16="http://schemas.microsoft.com/office/drawing/2014/main" val="3172035952"/>
                    </a:ext>
                  </a:extLst>
                </a:gridCol>
                <a:gridCol w="412173">
                  <a:extLst>
                    <a:ext uri="{9D8B030D-6E8A-4147-A177-3AD203B41FA5}">
                      <a16:colId xmlns:a16="http://schemas.microsoft.com/office/drawing/2014/main" val="1794687354"/>
                    </a:ext>
                  </a:extLst>
                </a:gridCol>
                <a:gridCol w="412173">
                  <a:extLst>
                    <a:ext uri="{9D8B030D-6E8A-4147-A177-3AD203B41FA5}">
                      <a16:colId xmlns:a16="http://schemas.microsoft.com/office/drawing/2014/main" val="3547540843"/>
                    </a:ext>
                  </a:extLst>
                </a:gridCol>
                <a:gridCol w="412173">
                  <a:extLst>
                    <a:ext uri="{9D8B030D-6E8A-4147-A177-3AD203B41FA5}">
                      <a16:colId xmlns:a16="http://schemas.microsoft.com/office/drawing/2014/main" val="1105050752"/>
                    </a:ext>
                  </a:extLst>
                </a:gridCol>
                <a:gridCol w="426186">
                  <a:extLst>
                    <a:ext uri="{9D8B030D-6E8A-4147-A177-3AD203B41FA5}">
                      <a16:colId xmlns:a16="http://schemas.microsoft.com/office/drawing/2014/main" val="3649242136"/>
                    </a:ext>
                  </a:extLst>
                </a:gridCol>
                <a:gridCol w="426186">
                  <a:extLst>
                    <a:ext uri="{9D8B030D-6E8A-4147-A177-3AD203B41FA5}">
                      <a16:colId xmlns:a16="http://schemas.microsoft.com/office/drawing/2014/main" val="583991403"/>
                    </a:ext>
                  </a:extLst>
                </a:gridCol>
                <a:gridCol w="426186">
                  <a:extLst>
                    <a:ext uri="{9D8B030D-6E8A-4147-A177-3AD203B41FA5}">
                      <a16:colId xmlns:a16="http://schemas.microsoft.com/office/drawing/2014/main" val="2012615796"/>
                    </a:ext>
                  </a:extLst>
                </a:gridCol>
                <a:gridCol w="426186">
                  <a:extLst>
                    <a:ext uri="{9D8B030D-6E8A-4147-A177-3AD203B41FA5}">
                      <a16:colId xmlns:a16="http://schemas.microsoft.com/office/drawing/2014/main" val="3148357315"/>
                    </a:ext>
                  </a:extLst>
                </a:gridCol>
              </a:tblGrid>
              <a:tr h="367842">
                <a:tc rowSpan="2">
                  <a:txBody>
                    <a:bodyPr/>
                    <a:lstStyle/>
                    <a:p>
                      <a:r>
                        <a:rPr lang="en-US" sz="1400" dirty="0"/>
                        <a:t>Phase</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gridSpan="4">
                  <a:txBody>
                    <a:bodyPr/>
                    <a:lstStyle/>
                    <a:p>
                      <a:pPr algn="ctr"/>
                      <a:r>
                        <a:rPr lang="en-US" sz="1400" dirty="0"/>
                        <a:t>MONTH 1</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400" dirty="0"/>
                        <a:t>MONTH 2</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400" dirty="0"/>
                        <a:t>MONTH 3</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400" dirty="0"/>
                        <a:t>MONTH 4</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400" dirty="0"/>
                        <a:t>MONTH 5</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400" dirty="0"/>
                        <a:t>MONTH 6</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87736079"/>
                  </a:ext>
                </a:extLst>
              </a:tr>
              <a:tr h="367842">
                <a:tc vMerge="1">
                  <a:txBody>
                    <a:bodyPr/>
                    <a:lstStyle/>
                    <a:p>
                      <a:endParaRPr lang="en-US"/>
                    </a:p>
                  </a:txBody>
                  <a:tcPr/>
                </a:tc>
                <a:tc>
                  <a:txBody>
                    <a:bodyPr/>
                    <a:lstStyle/>
                    <a:p>
                      <a:pPr algn="ctr"/>
                      <a:r>
                        <a:rPr lang="en-US" sz="1400" dirty="0"/>
                        <a:t>1</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2</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3</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4</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5</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6</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7</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8</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9</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10</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11</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12</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13</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14</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15</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16</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17</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18</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19</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20</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21</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22</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23</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tc>
                  <a:txBody>
                    <a:bodyPr/>
                    <a:lstStyle/>
                    <a:p>
                      <a:pPr algn="ctr"/>
                      <a:r>
                        <a:rPr lang="en-US" sz="1400" dirty="0"/>
                        <a:t>24</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tcPr>
                </a:tc>
                <a:extLst>
                  <a:ext uri="{0D108BD9-81ED-4DB2-BD59-A6C34878D82A}">
                    <a16:rowId xmlns:a16="http://schemas.microsoft.com/office/drawing/2014/main" val="2435323860"/>
                  </a:ext>
                </a:extLst>
              </a:tr>
              <a:tr h="639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tx1"/>
                          </a:solidFill>
                          <a:effectLst/>
                        </a:rPr>
                        <a:t>Problem Framing and Literature Review</a:t>
                      </a:r>
                    </a:p>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5786825"/>
                  </a:ext>
                </a:extLst>
              </a:tr>
              <a:tr h="621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tx1"/>
                          </a:solidFill>
                          <a:effectLst/>
                        </a:rPr>
                        <a:t>Data Acquisition, EDA, and Preprocessing</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223708"/>
                  </a:ext>
                </a:extLst>
              </a:tr>
              <a:tr h="5703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tx1"/>
                          </a:solidFill>
                          <a:effectLst/>
                        </a:rPr>
                        <a:t>Model Design and Architecture</a:t>
                      </a:r>
                    </a:p>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2447697"/>
                  </a:ext>
                </a:extLst>
              </a:tr>
              <a:tr h="600833">
                <a:tc>
                  <a:txBody>
                    <a:bodyPr/>
                    <a:lstStyle/>
                    <a:p>
                      <a:r>
                        <a:rPr lang="en-US" sz="1400" dirty="0"/>
                        <a:t>Implementation and testing</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37503"/>
                  </a:ext>
                </a:extLst>
              </a:tr>
              <a:tr h="616527">
                <a:tc>
                  <a:txBody>
                    <a:bodyPr/>
                    <a:lstStyle/>
                    <a:p>
                      <a:r>
                        <a:rPr lang="en-US" sz="1400" dirty="0"/>
                        <a:t>Evaluation and Analysis</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29600641"/>
                  </a:ext>
                </a:extLst>
              </a:tr>
              <a:tr h="837276">
                <a:tc>
                  <a:txBody>
                    <a:bodyPr/>
                    <a:lstStyle/>
                    <a:p>
                      <a:r>
                        <a:rPr lang="en-US" sz="1400" dirty="0"/>
                        <a:t>Documentation and Submission</a:t>
                      </a:r>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tc>
                  <a:txBody>
                    <a:bodyPr/>
                    <a:lstStyle/>
                    <a:p>
                      <a:endParaRPr lang="en-US" sz="1400" dirty="0"/>
                    </a:p>
                  </a:txBody>
                  <a:tcPr>
                    <a:lnL w="3175" cap="flat" cmpd="sng" algn="ctr">
                      <a:solidFill>
                        <a:schemeClr val="accent5">
                          <a:lumMod val="40000"/>
                          <a:lumOff val="60000"/>
                        </a:schemeClr>
                      </a:solidFill>
                      <a:prstDash val="solid"/>
                      <a:round/>
                      <a:headEnd type="none" w="med" len="med"/>
                      <a:tailEnd type="none" w="med" len="med"/>
                    </a:lnL>
                    <a:lnR w="3175" cap="flat" cmpd="sng" algn="ctr">
                      <a:solidFill>
                        <a:schemeClr val="accent5">
                          <a:lumMod val="40000"/>
                          <a:lumOff val="60000"/>
                        </a:schemeClr>
                      </a:solidFill>
                      <a:prstDash val="solid"/>
                      <a:round/>
                      <a:headEnd type="none" w="med" len="med"/>
                      <a:tailEnd type="none" w="med" len="med"/>
                    </a:lnR>
                    <a:lnT w="3175" cap="flat" cmpd="sng" algn="ctr">
                      <a:solidFill>
                        <a:schemeClr val="accent5">
                          <a:lumMod val="40000"/>
                          <a:lumOff val="60000"/>
                        </a:schemeClr>
                      </a:solidFill>
                      <a:prstDash val="solid"/>
                      <a:round/>
                      <a:headEnd type="none" w="med" len="med"/>
                      <a:tailEnd type="none" w="med" len="med"/>
                    </a:lnT>
                    <a:lnB w="3175" cap="flat" cmpd="sng" algn="ctr">
                      <a:solidFill>
                        <a:schemeClr val="accent5">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6A60"/>
                    </a:solidFill>
                  </a:tcPr>
                </a:tc>
                <a:extLst>
                  <a:ext uri="{0D108BD9-81ED-4DB2-BD59-A6C34878D82A}">
                    <a16:rowId xmlns:a16="http://schemas.microsoft.com/office/drawing/2014/main" val="4226964836"/>
                  </a:ext>
                </a:extLst>
              </a:tr>
            </a:tbl>
          </a:graphicData>
        </a:graphic>
      </p:graphicFrame>
    </p:spTree>
    <p:extLst>
      <p:ext uri="{BB962C8B-B14F-4D97-AF65-F5344CB8AC3E}">
        <p14:creationId xmlns:p14="http://schemas.microsoft.com/office/powerpoint/2010/main" val="1272053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07012-36F2-0920-29C1-EC98E9980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558C9-B397-674E-900D-40F64178D56D}"/>
              </a:ext>
            </a:extLst>
          </p:cNvPr>
          <p:cNvSpPr txBox="1">
            <a:spLocks/>
          </p:cNvSpPr>
          <p:nvPr/>
        </p:nvSpPr>
        <p:spPr>
          <a:xfrm>
            <a:off x="838200" y="365126"/>
            <a:ext cx="10515600" cy="850358"/>
          </a:xfrm>
          <a:prstGeom prst="rect">
            <a:avLst/>
          </a:prstGeom>
        </p:spPr>
        <p:txBody>
          <a:bodyP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dirty="0">
                <a:solidFill>
                  <a:srgbClr val="006A60"/>
                </a:solidFill>
                <a:latin typeface="Nunito Sans" pitchFamily="2" charset="0"/>
                <a:ea typeface="Tahoma" panose="020B0604030504040204" pitchFamily="34" charset="0"/>
                <a:cs typeface="Times New Roman" panose="02020603050405020304" pitchFamily="18" charset="0"/>
              </a:rPr>
              <a:t>References</a:t>
            </a:r>
            <a:endParaRPr lang="en-US" sz="5400" dirty="0">
              <a:solidFill>
                <a:srgbClr val="006A60"/>
              </a:solidFill>
              <a:latin typeface="Nunito Sans" pitchFamily="2"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5EDD829C-3DB4-0D6F-21EF-E5F19E97F98E}"/>
              </a:ext>
            </a:extLst>
          </p:cNvPr>
          <p:cNvSpPr txBox="1"/>
          <p:nvPr/>
        </p:nvSpPr>
        <p:spPr>
          <a:xfrm>
            <a:off x="758092" y="1215484"/>
            <a:ext cx="13137662" cy="7232749"/>
          </a:xfrm>
          <a:prstGeom prst="rect">
            <a:avLst/>
          </a:prstGeom>
          <a:noFill/>
        </p:spPr>
        <p:txBody>
          <a:bodyPr wrap="square">
            <a:spAutoFit/>
          </a:bodyPr>
          <a:lstStyle/>
          <a:p>
            <a:r>
              <a:rPr lang="en-US" dirty="0"/>
              <a:t>[1] Uganda Communications Commission, "Telephone Subscriptions Rise to 33.2 Million," </a:t>
            </a:r>
            <a:r>
              <a:rPr lang="en-US" i="1" dirty="0"/>
              <a:t>*UCC Communications Blog*</a:t>
            </a:r>
            <a:r>
              <a:rPr lang="en-US" dirty="0"/>
              <a:t>, 9 June 2023.  </a:t>
            </a:r>
          </a:p>
          <a:p>
            <a:r>
              <a:rPr lang="en-US" u="sng" dirty="0">
                <a:hlinkClick r:id="rId2"/>
              </a:rPr>
              <a:t>https://uccinfoblog.com/2023/06/09/telephone-subscriptions-rise-to-33-2-million/</a:t>
            </a:r>
            <a:endParaRPr lang="en-US" dirty="0"/>
          </a:p>
          <a:p>
            <a:endParaRPr lang="en-US" dirty="0"/>
          </a:p>
          <a:p>
            <a:r>
              <a:rPr lang="en-US" dirty="0"/>
              <a:t>[2] Atomic Energy Council, "Radiofrequency Radiation in Uganda," 2022.  </a:t>
            </a:r>
          </a:p>
          <a:p>
            <a:r>
              <a:rPr lang="en-US" u="sng" dirty="0">
                <a:hlinkClick r:id="rId3"/>
              </a:rPr>
              <a:t>https://www.atomiccouncil.go.ug/non-ionizing-radiation-radiofrequency/</a:t>
            </a:r>
            <a:endParaRPr lang="en-US" dirty="0"/>
          </a:p>
          <a:p>
            <a:endParaRPr lang="en-US" dirty="0"/>
          </a:p>
          <a:p>
            <a:r>
              <a:rPr lang="en-US" dirty="0"/>
              <a:t>[3] </a:t>
            </a:r>
            <a:r>
              <a:rPr lang="en-US" dirty="0" err="1"/>
              <a:t>ChimpReports</a:t>
            </a:r>
            <a:r>
              <a:rPr lang="en-US" dirty="0"/>
              <a:t>, "Uganda's Internet users hit 13 million," </a:t>
            </a:r>
            <a:r>
              <a:rPr lang="en-US" i="1" dirty="0"/>
              <a:t>*</a:t>
            </a:r>
            <a:r>
              <a:rPr lang="en-US" i="1" dirty="0" err="1"/>
              <a:t>ChimpReports</a:t>
            </a:r>
            <a:r>
              <a:rPr lang="en-US" i="1" dirty="0"/>
              <a:t> News*</a:t>
            </a:r>
            <a:r>
              <a:rPr lang="en-US" dirty="0"/>
              <a:t>, 25 March 2024.  </a:t>
            </a:r>
          </a:p>
          <a:p>
            <a:r>
              <a:rPr lang="en-US" u="sng" dirty="0">
                <a:hlinkClick r:id="rId4"/>
              </a:rPr>
              <a:t>https://chimpreports.com/ugandas-internet-users-hit-13-million/</a:t>
            </a:r>
            <a:endParaRPr lang="en-US" dirty="0"/>
          </a:p>
          <a:p>
            <a:endParaRPr lang="en-US" dirty="0"/>
          </a:p>
          <a:p>
            <a:r>
              <a:rPr lang="en-US" dirty="0"/>
              <a:t>[4] Uganda Communications Commission, "Access Infrastructure Program: Bridging the Digital Divide," </a:t>
            </a:r>
            <a:r>
              <a:rPr lang="en-US" i="1" dirty="0"/>
              <a:t>*UCC Blog*</a:t>
            </a:r>
            <a:r>
              <a:rPr lang="en-US" dirty="0"/>
              <a:t>, February 2024.</a:t>
            </a:r>
          </a:p>
          <a:p>
            <a:endParaRPr lang="en-US" dirty="0"/>
          </a:p>
          <a:p>
            <a:r>
              <a:rPr lang="en-US" dirty="0"/>
              <a:t>[5] </a:t>
            </a:r>
            <a:r>
              <a:rPr lang="en-US" dirty="0" err="1"/>
              <a:t>TechJaja</a:t>
            </a:r>
            <a:r>
              <a:rPr lang="en-US" dirty="0"/>
              <a:t>, "UCUSAF: Why is UCC rolling out own telecom network?" 6 February 2024. </a:t>
            </a:r>
            <a:r>
              <a:rPr lang="en-US" dirty="0">
                <a:hlinkClick r:id="rId5"/>
              </a:rPr>
              <a:t>https://techjaja.com/ucusaf-why-is-ucc-still-rolling-out-own-telecom-network/</a:t>
            </a:r>
            <a:endParaRPr lang="en-US" dirty="0"/>
          </a:p>
          <a:p>
            <a:endParaRPr lang="en-US" dirty="0"/>
          </a:p>
          <a:p>
            <a:r>
              <a:rPr lang="en-US" dirty="0"/>
              <a:t>[6] Ghana Chamber of Telecommunications, "Mobile Internet Access Still Limited in Africa, Millions Remain Offline," citing GSMA data, 2024.  </a:t>
            </a:r>
          </a:p>
          <a:p>
            <a:r>
              <a:rPr lang="en-US" u="sng" dirty="0">
                <a:hlinkClick r:id="rId6"/>
              </a:rPr>
              <a:t>https://www.telecomschamber.org/industry-news/mobile-internet-access-still-limited-in-africa-millions-remain-offline/</a:t>
            </a:r>
            <a:endParaRPr lang="en-US" dirty="0"/>
          </a:p>
          <a:p>
            <a:endParaRPr lang="en-US" dirty="0"/>
          </a:p>
          <a:p>
            <a:r>
              <a:rPr lang="en-US" dirty="0"/>
              <a:t>[7] Uganda Communications Commission, "UCC cracks down on illegal and non-compliant broadcasters," 21 October 2024.  </a:t>
            </a:r>
          </a:p>
          <a:p>
            <a:r>
              <a:rPr lang="en-US" u="sng" dirty="0">
                <a:hlinkClick r:id="rId7"/>
              </a:rPr>
              <a:t>https://www.ucc.co.ug/ucc-cracks-down-on-illegal-and-non-compliant-broadcasters/</a:t>
            </a:r>
            <a:endParaRPr lang="en-US" dirty="0"/>
          </a:p>
          <a:p>
            <a:endParaRPr lang="en-US" dirty="0"/>
          </a:p>
          <a:p>
            <a:r>
              <a:rPr lang="en-US" dirty="0"/>
              <a:t>[8] Xiaolin Zhang et al., "Dual Residual Denoising Autoencoder with Channel Attention Mechanism for Modulation of Signals," </a:t>
            </a:r>
            <a:r>
              <a:rPr lang="en-US" i="1" dirty="0"/>
              <a:t>*Sensors*</a:t>
            </a:r>
            <a:r>
              <a:rPr lang="en-US" dirty="0"/>
              <a:t>, vol. 23, 2023.  </a:t>
            </a:r>
          </a:p>
          <a:p>
            <a:r>
              <a:rPr lang="en-US" u="sng" dirty="0">
                <a:hlinkClick r:id="rId8"/>
              </a:rPr>
              <a:t>https://pmc.ncbi.nlm.nih.gov/articles/PMC9861137/</a:t>
            </a:r>
            <a:endParaRPr lang="en-US" dirty="0"/>
          </a:p>
          <a:p>
            <a:endParaRPr lang="en-US" dirty="0"/>
          </a:p>
          <a:p>
            <a:pPr>
              <a:buNone/>
            </a:pPr>
            <a:endParaRPr lang="en-US" sz="1400" dirty="0">
              <a:effectLst/>
              <a:latin typeface="Nunito Sans" pitchFamily="2" charset="0"/>
            </a:endParaRPr>
          </a:p>
        </p:txBody>
      </p:sp>
    </p:spTree>
    <p:extLst>
      <p:ext uri="{BB962C8B-B14F-4D97-AF65-F5344CB8AC3E}">
        <p14:creationId xmlns:p14="http://schemas.microsoft.com/office/powerpoint/2010/main" val="3380383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1595B-F7E8-2595-EE1A-5E3BA85E7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974728-DFE3-94E8-47E7-42090A1F3706}"/>
              </a:ext>
            </a:extLst>
          </p:cNvPr>
          <p:cNvSpPr txBox="1">
            <a:spLocks/>
          </p:cNvSpPr>
          <p:nvPr/>
        </p:nvSpPr>
        <p:spPr>
          <a:xfrm>
            <a:off x="838200" y="365126"/>
            <a:ext cx="10515600" cy="850358"/>
          </a:xfrm>
          <a:prstGeom prst="rect">
            <a:avLst/>
          </a:prstGeom>
        </p:spPr>
        <p:txBody>
          <a:bodyP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dirty="0">
                <a:solidFill>
                  <a:srgbClr val="006A60"/>
                </a:solidFill>
                <a:latin typeface="Nunito Sans" pitchFamily="2" charset="0"/>
                <a:ea typeface="Tahoma" panose="020B0604030504040204" pitchFamily="34" charset="0"/>
                <a:cs typeface="Times New Roman" panose="02020603050405020304" pitchFamily="18" charset="0"/>
              </a:rPr>
              <a:t>References</a:t>
            </a:r>
            <a:endParaRPr lang="en-US" sz="5400" dirty="0">
              <a:solidFill>
                <a:srgbClr val="006A60"/>
              </a:solidFill>
              <a:latin typeface="Nunito Sans" pitchFamily="2"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B23A201-ABA3-FD5B-5487-F13D2DA1CE6E}"/>
              </a:ext>
            </a:extLst>
          </p:cNvPr>
          <p:cNvSpPr txBox="1"/>
          <p:nvPr/>
        </p:nvSpPr>
        <p:spPr>
          <a:xfrm>
            <a:off x="758092" y="1215484"/>
            <a:ext cx="13137662" cy="6740307"/>
          </a:xfrm>
          <a:prstGeom prst="rect">
            <a:avLst/>
          </a:prstGeom>
          <a:noFill/>
        </p:spPr>
        <p:txBody>
          <a:bodyPr wrap="square">
            <a:spAutoFit/>
          </a:bodyPr>
          <a:lstStyle/>
          <a:p>
            <a:r>
              <a:rPr lang="en-US" dirty="0"/>
              <a:t>[11] RF Signal Data, Kaggle, accessed 2025.  </a:t>
            </a:r>
            <a:r>
              <a:rPr lang="en-US" u="sng" dirty="0">
                <a:hlinkClick r:id="rId2"/>
              </a:rPr>
              <a:t>https://www.kaggle.com/datasets/suraj520/rf-signal-data</a:t>
            </a:r>
            <a:endParaRPr lang="en-US" dirty="0"/>
          </a:p>
          <a:p>
            <a:endParaRPr lang="en-US" dirty="0"/>
          </a:p>
          <a:p>
            <a:r>
              <a:rPr lang="en-US" dirty="0"/>
              <a:t>[12] </a:t>
            </a:r>
            <a:r>
              <a:rPr lang="en-US" dirty="0" err="1"/>
              <a:t>DeepSig</a:t>
            </a:r>
            <a:r>
              <a:rPr lang="en-US" dirty="0"/>
              <a:t> Dataset: </a:t>
            </a:r>
            <a:r>
              <a:rPr lang="en-US" dirty="0" err="1"/>
              <a:t>RadioML</a:t>
            </a:r>
            <a:r>
              <a:rPr lang="en-US" dirty="0"/>
              <a:t> 2018.01A, Kaggle, accessed 2025.  </a:t>
            </a:r>
            <a:r>
              <a:rPr lang="en-US" u="sng" dirty="0">
                <a:hlinkClick r:id="rId3"/>
              </a:rPr>
              <a:t>https://www.kaggle.com/datasets/pinxau1000/radioml2018</a:t>
            </a:r>
            <a:endParaRPr lang="en-US" dirty="0"/>
          </a:p>
          <a:p>
            <a:endParaRPr lang="en-US" dirty="0"/>
          </a:p>
          <a:p>
            <a:r>
              <a:rPr lang="en-US" dirty="0"/>
              <a:t>[13] Ramiro Utrilla, "MIGOU-MOD: A dataset of modulated radio signals acquired with MIGOU, a low-power IoT experimental platform," </a:t>
            </a:r>
            <a:r>
              <a:rPr lang="en-US" i="1" dirty="0"/>
              <a:t>*Mendeley Data*</a:t>
            </a:r>
            <a:r>
              <a:rPr lang="en-US" dirty="0"/>
              <a:t>, V1, 2020.  </a:t>
            </a:r>
            <a:r>
              <a:rPr lang="en-US" u="sng" dirty="0">
                <a:hlinkClick r:id="rId4"/>
              </a:rPr>
              <a:t>https://data.mendeley.com/datasets/fkwr8mzndr/1</a:t>
            </a:r>
            <a:endParaRPr lang="en-US" dirty="0"/>
          </a:p>
          <a:p>
            <a:endParaRPr lang="en-US" dirty="0"/>
          </a:p>
          <a:p>
            <a:r>
              <a:rPr lang="en-US" dirty="0"/>
              <a:t>[14] </a:t>
            </a:r>
            <a:r>
              <a:rPr lang="en-US" dirty="0" err="1"/>
              <a:t>DeepSig</a:t>
            </a:r>
            <a:r>
              <a:rPr lang="en-US" dirty="0"/>
              <a:t>, "</a:t>
            </a:r>
            <a:r>
              <a:rPr lang="en-US" dirty="0" err="1"/>
              <a:t>RadioML</a:t>
            </a:r>
            <a:r>
              <a:rPr lang="en-US" dirty="0"/>
              <a:t> 2016.10A Dataset," accessed 2025.  </a:t>
            </a:r>
            <a:r>
              <a:rPr lang="en-US" u="sng" dirty="0">
                <a:hlinkClick r:id="rId5"/>
              </a:rPr>
              <a:t>https://www.deepsig.ai/datasets/</a:t>
            </a:r>
            <a:endParaRPr lang="en-US" dirty="0"/>
          </a:p>
          <a:p>
            <a:endParaRPr lang="en-US" dirty="0"/>
          </a:p>
          <a:p>
            <a:r>
              <a:rPr lang="en-US" dirty="0"/>
              <a:t>[15] O. F. Abd-Elaziz, A. M. El-Ghandour, and F. H. Ismail, "Deep Learning-Based Automatic Modulation Classification Using Robust CNN Architecture for Cognitive Radio Networks," </a:t>
            </a:r>
            <a:r>
              <a:rPr lang="en-US" i="1" dirty="0"/>
              <a:t>*Sensors*</a:t>
            </a:r>
            <a:r>
              <a:rPr lang="en-US" dirty="0"/>
              <a:t>, vol. 23, no. 23, 2023, Art. 9467.  doi:10.3390/s23239467</a:t>
            </a:r>
          </a:p>
          <a:p>
            <a:endParaRPr lang="en-US" dirty="0"/>
          </a:p>
          <a:p>
            <a:r>
              <a:rPr lang="en-US" dirty="0"/>
              <a:t>[16] J. Gao, Z. Zhang, and Y. Zhang, "</a:t>
            </a:r>
            <a:r>
              <a:rPr lang="en-US" dirty="0" err="1"/>
              <a:t>MoE</a:t>
            </a:r>
            <a:r>
              <a:rPr lang="en-US" dirty="0"/>
              <a:t>-AMC: Enhancing Automatic Modulation Classification Performance Using Mixture-of-Experts," </a:t>
            </a:r>
            <a:r>
              <a:rPr lang="en-US" i="1" dirty="0"/>
              <a:t>*</a:t>
            </a:r>
            <a:r>
              <a:rPr lang="en-US" i="1" dirty="0" err="1"/>
              <a:t>arXiv</a:t>
            </a:r>
            <a:r>
              <a:rPr lang="en-US" i="1" dirty="0"/>
              <a:t> preprint*</a:t>
            </a:r>
            <a:r>
              <a:rPr lang="en-US" dirty="0"/>
              <a:t>, 2023.  </a:t>
            </a:r>
            <a:r>
              <a:rPr lang="en-US" u="sng" dirty="0">
                <a:hlinkClick r:id="rId6"/>
              </a:rPr>
              <a:t>https://arxiv.org/abs/2312.02298</a:t>
            </a:r>
            <a:endParaRPr lang="en-US" dirty="0"/>
          </a:p>
          <a:p>
            <a:endParaRPr lang="en-US" dirty="0"/>
          </a:p>
          <a:p>
            <a:r>
              <a:rPr lang="en-US" dirty="0"/>
              <a:t>[23] Uganda Communications Commission, "Public Notice: Signal Interference Arising Out of Usage of Network Repeaters - 'Boosters'," 26 July 2021.  </a:t>
            </a:r>
            <a:r>
              <a:rPr lang="en-US" u="sng" dirty="0">
                <a:hlinkClick r:id="rId7"/>
              </a:rPr>
              <a:t>https://uccinfoblog.com/2021/07/26/public-notice-signal-interference-arising-out-of-usage-of-network-repeaters-boosters/</a:t>
            </a:r>
            <a:endParaRPr lang="en-US" dirty="0"/>
          </a:p>
          <a:p>
            <a:endParaRPr lang="en-US" dirty="0"/>
          </a:p>
          <a:p>
            <a:r>
              <a:rPr lang="en-US" dirty="0"/>
              <a:t>[24] ITU-R, </a:t>
            </a:r>
            <a:r>
              <a:rPr lang="en-US" i="1" dirty="0"/>
              <a:t>*Recommendation ITU-R P.530-18: Propagation data and prediction methods required for the design of terrestrial line-of-sight systems*</a:t>
            </a:r>
            <a:r>
              <a:rPr lang="en-US" dirty="0"/>
              <a:t>, September 2021.  </a:t>
            </a:r>
            <a:r>
              <a:rPr lang="en-US" u="sng" dirty="0">
                <a:hlinkClick r:id="rId8"/>
              </a:rPr>
              <a:t>https://www.itu.int/dms_pubrec/itu-r/rec/p/R-REC-P.530-18-202109-I!!PDF-E.pdf</a:t>
            </a:r>
            <a:endParaRPr lang="en-US" dirty="0"/>
          </a:p>
          <a:p>
            <a:endParaRPr lang="en-US" dirty="0"/>
          </a:p>
          <a:p>
            <a:r>
              <a:rPr lang="en-US" dirty="0"/>
              <a:t>[25] ITU-R, </a:t>
            </a:r>
            <a:r>
              <a:rPr lang="en-US" i="1" dirty="0"/>
              <a:t>*Recommendation ITU-R P.838-3: Specific attenuation model for rain for use in prediction methods*</a:t>
            </a:r>
            <a:r>
              <a:rPr lang="en-US" dirty="0"/>
              <a:t>, 2005.  </a:t>
            </a:r>
            <a:r>
              <a:rPr lang="en-US" u="sng" dirty="0">
                <a:hlinkClick r:id="rId9"/>
              </a:rPr>
              <a:t>https://www.itu.int/rec/R-REC-P.838-3-200503-P/en</a:t>
            </a:r>
            <a:br>
              <a:rPr lang="en-US" dirty="0"/>
            </a:br>
            <a:endParaRPr lang="en-US" dirty="0"/>
          </a:p>
        </p:txBody>
      </p:sp>
    </p:spTree>
    <p:extLst>
      <p:ext uri="{BB962C8B-B14F-4D97-AF65-F5344CB8AC3E}">
        <p14:creationId xmlns:p14="http://schemas.microsoft.com/office/powerpoint/2010/main" val="3519292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CF240-E872-3185-B874-82B78F8F90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9D641-6C58-EF0D-4CA6-6EF45C5B4A36}"/>
              </a:ext>
            </a:extLst>
          </p:cNvPr>
          <p:cNvSpPr txBox="1">
            <a:spLocks/>
          </p:cNvSpPr>
          <p:nvPr/>
        </p:nvSpPr>
        <p:spPr>
          <a:xfrm>
            <a:off x="838200" y="365126"/>
            <a:ext cx="10515600" cy="850358"/>
          </a:xfrm>
          <a:prstGeom prst="rect">
            <a:avLst/>
          </a:prstGeom>
        </p:spPr>
        <p:txBody>
          <a:bodyP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dirty="0">
                <a:solidFill>
                  <a:srgbClr val="006A60"/>
                </a:solidFill>
                <a:latin typeface="Nunito Sans" pitchFamily="2" charset="0"/>
                <a:ea typeface="Tahoma" panose="020B0604030504040204" pitchFamily="34" charset="0"/>
                <a:cs typeface="Times New Roman" panose="02020603050405020304" pitchFamily="18" charset="0"/>
              </a:rPr>
              <a:t>References</a:t>
            </a:r>
            <a:endParaRPr lang="en-US" sz="5400" dirty="0">
              <a:solidFill>
                <a:srgbClr val="006A60"/>
              </a:solidFill>
              <a:latin typeface="Nunito Sans" pitchFamily="2"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FC749BD0-28BA-EBF3-D986-ACC2FDB809A3}"/>
              </a:ext>
            </a:extLst>
          </p:cNvPr>
          <p:cNvSpPr txBox="1"/>
          <p:nvPr/>
        </p:nvSpPr>
        <p:spPr>
          <a:xfrm>
            <a:off x="758092" y="1215484"/>
            <a:ext cx="13137662" cy="4524315"/>
          </a:xfrm>
          <a:prstGeom prst="rect">
            <a:avLst/>
          </a:prstGeom>
          <a:noFill/>
        </p:spPr>
        <p:txBody>
          <a:bodyPr wrap="square">
            <a:spAutoFit/>
          </a:bodyPr>
          <a:lstStyle/>
          <a:p>
            <a:endParaRPr lang="en-US" dirty="0"/>
          </a:p>
          <a:p>
            <a:r>
              <a:rPr lang="en-US" dirty="0"/>
              <a:t>[26] X. Gao, X. Xu, D. Li, X. Liu, J. Yang, and D. Zhai, "Enhancing Noise Robustness in Few-Shot Automatic Modulation Classification via Complex-Valued Autoencoders," </a:t>
            </a:r>
            <a:r>
              <a:rPr lang="en-US" i="1" dirty="0"/>
              <a:t>*Electronics*</a:t>
            </a:r>
            <a:r>
              <a:rPr lang="en-US" dirty="0"/>
              <a:t>, vol. 15, no. 3, Art. 674, 2026.  </a:t>
            </a:r>
            <a:r>
              <a:rPr lang="en-US" u="sng" dirty="0">
                <a:hlinkClick r:id="rId2"/>
              </a:rPr>
              <a:t>https://www.mdpi.com/2079-9292/15/3/674</a:t>
            </a:r>
            <a:endParaRPr lang="en-US" dirty="0"/>
          </a:p>
          <a:p>
            <a:endParaRPr lang="en-US" dirty="0"/>
          </a:p>
          <a:p>
            <a:r>
              <a:rPr lang="en-US" dirty="0"/>
              <a:t>[27] "Quality of Service Findings for Indoor Mobile Voice Telephony and Data Services in Uganda," </a:t>
            </a:r>
            <a:r>
              <a:rPr lang="en-US" i="1" dirty="0"/>
              <a:t>*UCC/AWS*</a:t>
            </a:r>
            <a:r>
              <a:rPr lang="en-US" dirty="0"/>
              <a:t>, Jan. 2026.  </a:t>
            </a:r>
          </a:p>
          <a:p>
            <a:r>
              <a:rPr lang="en-US" u="sng" dirty="0">
                <a:hlinkClick r:id="rId3"/>
              </a:rPr>
              <a:t>https://newvision-media.s3.amazonaws.com/cms/b295e426-f529-44b6-928d-330d8b911.pdf</a:t>
            </a:r>
            <a:endParaRPr lang="en-US" dirty="0"/>
          </a:p>
          <a:p>
            <a:endParaRPr lang="en-US" dirty="0"/>
          </a:p>
          <a:p>
            <a:r>
              <a:rPr lang="en-US" dirty="0"/>
              <a:t>[28] M. Faysal, J. Chen, and P. </a:t>
            </a:r>
            <a:r>
              <a:rPr lang="en-US" dirty="0" err="1"/>
              <a:t>Balaprakash</a:t>
            </a:r>
            <a:r>
              <a:rPr lang="en-US" dirty="0"/>
              <a:t>, "</a:t>
            </a:r>
            <a:r>
              <a:rPr lang="en-US" dirty="0" err="1"/>
              <a:t>DenoMAE</a:t>
            </a:r>
            <a:r>
              <a:rPr lang="en-US" dirty="0"/>
              <a:t>: A Multimodal Autoencoder for Denoising Modulation Signals," </a:t>
            </a:r>
            <a:r>
              <a:rPr lang="en-US" i="1" dirty="0"/>
              <a:t>*</a:t>
            </a:r>
            <a:r>
              <a:rPr lang="en-US" i="1" dirty="0" err="1"/>
              <a:t>arXiv</a:t>
            </a:r>
            <a:r>
              <a:rPr lang="en-US" i="1" dirty="0"/>
              <a:t> preprint*</a:t>
            </a:r>
            <a:r>
              <a:rPr lang="en-US" dirty="0"/>
              <a:t>, arXiv:2501.11538, 2025.  </a:t>
            </a:r>
            <a:r>
              <a:rPr lang="en-US" u="sng" dirty="0">
                <a:hlinkClick r:id="rId4"/>
              </a:rPr>
              <a:t>https://arxiv.org/abs/2501.11538</a:t>
            </a:r>
            <a:endParaRPr lang="en-US" dirty="0"/>
          </a:p>
          <a:p>
            <a:endParaRPr lang="en-US" dirty="0"/>
          </a:p>
          <a:p>
            <a:r>
              <a:rPr lang="en-US" dirty="0"/>
              <a:t>[29] H. An and B.-M. Lee, "Robust Automatic Modulation Classification in Low Signal-to-Noise Ratio," </a:t>
            </a:r>
            <a:r>
              <a:rPr lang="en-US" i="1" dirty="0"/>
              <a:t>*IEEE Access*</a:t>
            </a:r>
            <a:r>
              <a:rPr lang="en-US" dirty="0"/>
              <a:t>, vol. 11, pp. 125678-125690, 2023.  doi:10.1109/ACCESS.2023.3321108</a:t>
            </a:r>
          </a:p>
          <a:p>
            <a:endParaRPr lang="en-US" dirty="0"/>
          </a:p>
          <a:p>
            <a:r>
              <a:rPr lang="en-US" dirty="0"/>
              <a:t>[30] J. Jang, J. Pyo, Y.-</a:t>
            </a:r>
            <a:r>
              <a:rPr lang="en-US" dirty="0" err="1"/>
              <a:t>i</a:t>
            </a:r>
            <a:r>
              <a:rPr lang="en-US" dirty="0"/>
              <a:t>. Yoon, and J. Choi, "Meta-Transformer: A Meta-Learning Framework for Scalable Automatic Modulation Classification," </a:t>
            </a:r>
            <a:r>
              <a:rPr lang="en-US" i="1" dirty="0"/>
              <a:t>*IEEE Access*</a:t>
            </a:r>
            <a:r>
              <a:rPr lang="en-US" dirty="0"/>
              <a:t>, vol. 12, pp. 9267-9276, 2024.  </a:t>
            </a:r>
          </a:p>
          <a:p>
            <a:r>
              <a:rPr lang="en-US" dirty="0"/>
              <a:t>doi:10.1109/ACCESS.2024.3352634</a:t>
            </a:r>
          </a:p>
        </p:txBody>
      </p:sp>
    </p:spTree>
    <p:extLst>
      <p:ext uri="{BB962C8B-B14F-4D97-AF65-F5344CB8AC3E}">
        <p14:creationId xmlns:p14="http://schemas.microsoft.com/office/powerpoint/2010/main" val="2711569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A292E-11E8-E59F-DADE-1B940CBAFC5E}"/>
              </a:ext>
            </a:extLst>
          </p:cNvPr>
          <p:cNvSpPr txBox="1">
            <a:spLocks/>
          </p:cNvSpPr>
          <p:nvPr/>
        </p:nvSpPr>
        <p:spPr>
          <a:xfrm>
            <a:off x="1584960" y="3108326"/>
            <a:ext cx="12603480" cy="4496434"/>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9600" b="1" dirty="0">
                <a:solidFill>
                  <a:srgbClr val="006A60"/>
                </a:solidFill>
                <a:latin typeface="Nunito Sans" pitchFamily="2" charset="0"/>
                <a:ea typeface="Tahoma" panose="020B0604030504040204" pitchFamily="34" charset="0"/>
                <a:cs typeface="Times New Roman" panose="02020603050405020304" pitchFamily="18" charset="0"/>
              </a:rPr>
              <a:t>Thanx for Listening</a:t>
            </a:r>
            <a:endParaRPr lang="en-US" sz="9600" dirty="0">
              <a:solidFill>
                <a:srgbClr val="006A60"/>
              </a:solidFill>
              <a:latin typeface="Nunito Sans" pitchFamily="2"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62537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946</TotalTime>
  <Words>3377</Words>
  <Application>Microsoft Office PowerPoint</Application>
  <PresentationFormat>Custom</PresentationFormat>
  <Paragraphs>311</Paragraphs>
  <Slides>24</Slides>
  <Notes>20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Nunito Sans</vt:lpstr>
      <vt:lpstr>Nunito Sans Bold</vt:lpstr>
      <vt:lpstr>Nunito</vt:lpstr>
      <vt:lpstr>Arial</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Sharif Ssemujju</dc:creator>
  <cp:lastModifiedBy>Sharif Semujju</cp:lastModifiedBy>
  <cp:revision>13</cp:revision>
  <dcterms:created xsi:type="dcterms:W3CDTF">2025-11-24T04:15:22Z</dcterms:created>
  <dcterms:modified xsi:type="dcterms:W3CDTF">2026-03-18T11:32:27Z</dcterms:modified>
</cp:coreProperties>
</file>